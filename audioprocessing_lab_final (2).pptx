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14_0.xml" ContentType="application/vnd.ms-powerpoint.comments+xml"/>
  <Override PartName="/ppt/comments/modernComment_125_435D19E8.xml" ContentType="application/vnd.ms-powerpoint.comments+xml"/>
  <Override PartName="/ppt/notesSlides/notesSlide3.xml" ContentType="application/vnd.openxmlformats-officedocument.presentationml.notesSlide+xml"/>
  <Override PartName="/ppt/comments/modernComment_127_994212A7.xml" ContentType="application/vnd.ms-powerpoint.comments+xml"/>
  <Override PartName="/ppt/comments/modernComment_124_FD7E9ADA.xml" ContentType="application/vnd.ms-powerpoint.comments+xml"/>
  <Override PartName="/ppt/ink/ink1.xml" ContentType="application/inkml+xml"/>
  <Override PartName="/ppt/ink/ink2.xml" ContentType="application/inkml+xml"/>
  <Override PartName="/ppt/comments/modernComment_117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1"/>
    <p:sldMasterId id="2147483648" r:id="rId2"/>
  </p:sldMasterIdLst>
  <p:notesMasterIdLst>
    <p:notesMasterId r:id="rId23"/>
  </p:notesMasterIdLst>
  <p:handoutMasterIdLst>
    <p:handoutMasterId r:id="rId24"/>
  </p:handoutMasterIdLst>
  <p:sldIdLst>
    <p:sldId id="271" r:id="rId3"/>
    <p:sldId id="283" r:id="rId4"/>
    <p:sldId id="299" r:id="rId5"/>
    <p:sldId id="276" r:id="rId6"/>
    <p:sldId id="293" r:id="rId7"/>
    <p:sldId id="278" r:id="rId8"/>
    <p:sldId id="295" r:id="rId9"/>
    <p:sldId id="300" r:id="rId10"/>
    <p:sldId id="301" r:id="rId11"/>
    <p:sldId id="289" r:id="rId12"/>
    <p:sldId id="292" r:id="rId13"/>
    <p:sldId id="287" r:id="rId14"/>
    <p:sldId id="298" r:id="rId15"/>
    <p:sldId id="290" r:id="rId16"/>
    <p:sldId id="288" r:id="rId17"/>
    <p:sldId id="297" r:id="rId18"/>
    <p:sldId id="286" r:id="rId19"/>
    <p:sldId id="279" r:id="rId20"/>
    <p:sldId id="294" r:id="rId21"/>
    <p:sldId id="302" r:id="rId22"/>
  </p:sldIdLst>
  <p:sldSz cx="12192000" cy="6858000"/>
  <p:notesSz cx="6731000" cy="9855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107" userDrawn="1">
          <p15:clr>
            <a:srgbClr val="A4A3A4"/>
          </p15:clr>
        </p15:guide>
        <p15:guide id="2" orient="horz" pos="398" userDrawn="1">
          <p15:clr>
            <a:srgbClr val="A4A3A4"/>
          </p15:clr>
        </p15:guide>
        <p15:guide id="3" orient="horz" pos="4100" userDrawn="1">
          <p15:clr>
            <a:srgbClr val="A4A3A4"/>
          </p15:clr>
        </p15:guide>
        <p15:guide id="4" orient="horz" pos="3796" userDrawn="1">
          <p15:clr>
            <a:srgbClr val="A4A3A4"/>
          </p15:clr>
        </p15:guide>
        <p15:guide id="5" orient="horz" pos="4236" userDrawn="1">
          <p15:clr>
            <a:srgbClr val="A4A3A4"/>
          </p15:clr>
        </p15:guide>
        <p15:guide id="6" pos="7408" userDrawn="1">
          <p15:clr>
            <a:srgbClr val="A4A3A4"/>
          </p15:clr>
        </p15:guide>
        <p15:guide id="7" pos="308" userDrawn="1">
          <p15:clr>
            <a:srgbClr val="A4A3A4"/>
          </p15:clr>
        </p15:guide>
      </p15:sldGuideLst>
    </p:ext>
    <p:ext uri="{2D200454-40CA-4A62-9FC3-DE9A4176ACB9}">
      <p15:notesGuideLst xmlns:p15="http://schemas.microsoft.com/office/powerpoint/2012/main">
        <p15:guide id="1" orient="horz" pos="3104">
          <p15:clr>
            <a:srgbClr val="A4A3A4"/>
          </p15:clr>
        </p15:guide>
        <p15:guide id="2" pos="212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8AF7E9-F6AF-92EB-9AE0-8BE746E99D1C}" name="OLIVIA GIJO" initials="OG" userId="c1a77dba62785f68" providerId="Windows Live"/>
  <p188:author id="{F6213EF9-8CC6-9BDE-59F0-63D5D748DDC4}" name="Zeyu Xu" initials="ZX" userId="4b7251035b6b50d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D8C01"/>
    <a:srgbClr val="EC9301"/>
    <a:srgbClr val="707070"/>
    <a:srgbClr val="6FD900"/>
    <a:srgbClr val="949494"/>
    <a:srgbClr val="8E8E8E"/>
    <a:srgbClr val="848484"/>
    <a:srgbClr val="999999"/>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27E49-67BD-1342-1057-F8C256343369}" v="9" dt="2026-07-07T15:50:26.466"/>
    <p1510:client id="{0BB16C6B-2506-428E-BE7C-0D88BE754885}" v="142" dt="2026-07-07T04:49:39.903"/>
    <p1510:client id="{12995532-54D5-B37D-A4A0-DD3C89273D38}" v="52" dt="2026-07-07T09:42:02.719"/>
    <p1510:client id="{237D488A-7C48-488F-8CE3-7953510EED77}" v="83" dt="2026-07-07T08:18:17.935"/>
    <p1510:client id="{262A22EE-4B7D-AEFE-ED35-D54F611C70FE}" v="93" dt="2026-07-07T11:16:19.837"/>
    <p1510:client id="{3C15EBF5-90FE-7E8D-C38F-8AFD18A216D1}" v="38" dt="2026-07-07T09:25:57.874"/>
    <p1510:client id="{4581EC1E-A701-4AF3-B6D2-0A42D3FCEB64}" v="233" dt="2026-07-08T08:47:19.316"/>
    <p1510:client id="{51834235-D3D9-472B-AAF8-85385E7B849B}" v="389" dt="2026-07-08T10:18:31.949"/>
    <p1510:client id="{6CDA3CE5-DF06-7B42-D0E3-9CE668D9F1C6}" v="120" dt="2026-07-07T18:26:26.840"/>
    <p1510:client id="{792BF3CB-E7DD-0C92-3860-AF4E7A96C074}" v="13" dt="2026-07-07T11:32:11.833"/>
    <p1510:client id="{83B3C4E4-CA92-93DF-B457-BD481DC3CD97}" v="285" dt="2026-07-07T15:16:56.447"/>
    <p1510:client id="{9AA2515D-28B1-4E7D-BAE6-0D76D6F36398}" v="624" dt="2026-07-07T06:04:35.185"/>
    <p1510:client id="{BD7FE4BF-95DE-4172-9819-021455AAB39D}" v="2" dt="2026-07-08T05:01:24.178"/>
    <p1510:client id="{C464A885-F0A6-8889-ED22-6025BC75ABBE}" v="87" dt="2026-07-07T15:43:10.806"/>
    <p1510:client id="{F5CB111A-6E5C-4F9B-B220-AEFDB90ECA5C}" v="182" dt="2026-07-07T06:52:52.1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107"/>
        <p:guide orient="horz" pos="398"/>
        <p:guide orient="horz" pos="4100"/>
        <p:guide orient="horz" pos="3796"/>
        <p:guide orient="horz" pos="4236"/>
        <p:guide pos="7408"/>
        <p:guide pos="308"/>
      </p:guideLst>
    </p:cSldViewPr>
  </p:slideViewPr>
  <p:notesViewPr>
    <p:cSldViewPr snapToGrid="0">
      <p:cViewPr>
        <p:scale>
          <a:sx n="1" d="2"/>
          <a:sy n="1" d="2"/>
        </p:scale>
        <p:origin x="0" y="0"/>
      </p:cViewPr>
      <p:guideLst>
        <p:guide orient="horz" pos="3104"/>
        <p:guide pos="212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8/10/relationships/authors" Target="authors.xml"/></Relationships>
</file>

<file path=ppt/comments/modernComment_114_0.xml><?xml version="1.0" encoding="utf-8"?>
<p188:cmLst xmlns:a="http://schemas.openxmlformats.org/drawingml/2006/main" xmlns:r="http://schemas.openxmlformats.org/officeDocument/2006/relationships" xmlns:p188="http://schemas.microsoft.com/office/powerpoint/2018/8/main">
  <p188:cm id="{135A21A2-25E4-4EA6-A27B-44D9F0B082FC}" authorId="{F6213EF9-8CC6-9BDE-59F0-63D5D748DDC4}" created="2026-07-03T08:39:28.003">
    <pc:sldMkLst xmlns:pc="http://schemas.microsoft.com/office/powerpoint/2013/main/command">
      <pc:docMk/>
      <pc:sldMk cId="0" sldId="276"/>
    </pc:sldMkLst>
    <p188:txBody>
      <a:bodyPr/>
      <a:lstStyle/>
      <a:p>
        <a:r>
          <a:rPr lang="zh-CN" altLang="en-US"/>
          <a:t>I would suggestion separate the first section into two slides, one introducing what is an RIR, with clear definition, and some useful figure. The second slide introduces the problem statement, introduce what is task that FLAC tries to solve and what is the difficulty in this task. </a:t>
        </a:r>
      </a:p>
    </p188:txBody>
  </p188:cm>
</p188:cmLst>
</file>

<file path=ppt/comments/modernComment_117_0.xml><?xml version="1.0" encoding="utf-8"?>
<p188:cmLst xmlns:a="http://schemas.openxmlformats.org/drawingml/2006/main" xmlns:r="http://schemas.openxmlformats.org/officeDocument/2006/relationships" xmlns:p188="http://schemas.microsoft.com/office/powerpoint/2018/8/main">
  <p188:cm id="{587D50F5-60B3-4A77-BC18-0A5296AE9712}" authorId="{F6213EF9-8CC6-9BDE-59F0-63D5D748DDC4}" created="2026-07-03T09:00:50.886">
    <ac:txMkLst xmlns:ac="http://schemas.microsoft.com/office/drawing/2013/main/command">
      <pc:docMk xmlns:pc="http://schemas.microsoft.com/office/powerpoint/2013/main/command"/>
      <pc:sldMk xmlns:pc="http://schemas.microsoft.com/office/powerpoint/2013/main/command" cId="0" sldId="279"/>
      <ac:spMk id="31746" creationId="{00000000-0000-0000-0000-000000000000}"/>
      <ac:txMk cp="0" len="10">
        <ac:context len="12" hash="1203600250"/>
      </ac:txMk>
    </ac:txMkLst>
    <p188:pos x="2557220" y="200186"/>
    <p188:replyLst>
      <p188:reply id="{C5FE0CC7-2034-4930-9B2B-C73922513443}" authorId="{588AF7E9-F6AF-92EB-9AE0-8BE746E99D1C}" created="2026-07-07T10:37:10.525">
        <p188:txBody>
          <a:bodyPr/>
          <a:lstStyle/>
          <a:p>
            <a:r>
              <a:rPr lang="en-US"/>
              <a:t>if i have to add how should I add it?</a:t>
            </a:r>
          </a:p>
        </p188:txBody>
      </p188:reply>
    </p188:replyLst>
    <p188:txBody>
      <a:bodyPr/>
      <a:lstStyle/>
      <a:p>
        <a:r>
          <a:rPr lang="zh-CN" altLang="en-US"/>
          <a:t>Have you used any reference in the previous slides? </a:t>
        </a:r>
      </a:p>
    </p188:txBody>
  </p188:cm>
</p188:cmLst>
</file>

<file path=ppt/comments/modernComment_124_FD7E9ADA.xml><?xml version="1.0" encoding="utf-8"?>
<p188:cmLst xmlns:a="http://schemas.openxmlformats.org/drawingml/2006/main" xmlns:r="http://schemas.openxmlformats.org/officeDocument/2006/relationships" xmlns:p188="http://schemas.microsoft.com/office/powerpoint/2018/8/main">
  <p188:cm id="{2B1C9878-2387-4B7E-AD08-858E3502F288}" authorId="{F6213EF9-8CC6-9BDE-59F0-63D5D748DDC4}" created="2026-07-03T08:58:08.782">
    <ac:deMkLst xmlns:ac="http://schemas.microsoft.com/office/drawing/2013/main/command">
      <pc:docMk xmlns:pc="http://schemas.microsoft.com/office/powerpoint/2013/main/command"/>
      <pc:sldMk xmlns:pc="http://schemas.microsoft.com/office/powerpoint/2013/main/command" cId="4252932826" sldId="292"/>
      <ac:spMk id="10" creationId="{1927A4BB-4858-8506-7E0C-F8B306F7593F}"/>
    </ac:deMkLst>
    <p188:txBody>
      <a:bodyPr/>
      <a:lstStyle/>
      <a:p>
        <a:r>
          <a:rPr lang="zh-CN" altLang="en-US"/>
          <a:t>Does the conditioning depend on random noise? </a:t>
        </a:r>
      </a:p>
    </p188:txBody>
  </p188:cm>
  <p188:cm id="{3EEB28BB-6D90-41A9-9847-9CDF132A7A45}" authorId="{F6213EF9-8CC6-9BDE-59F0-63D5D748DDC4}" created="2026-07-03T08:58:46.175">
    <ac:deMkLst xmlns:ac="http://schemas.microsoft.com/office/drawing/2013/main/command">
      <pc:docMk xmlns:pc="http://schemas.microsoft.com/office/powerpoint/2013/main/command"/>
      <pc:sldMk xmlns:pc="http://schemas.microsoft.com/office/powerpoint/2013/main/command" cId="4252932826" sldId="292"/>
      <ac:spMk id="7" creationId="{A7130A33-B5F1-42CB-2176-559BC992D40D}"/>
    </ac:deMkLst>
    <p188:txBody>
      <a:bodyPr/>
      <a:lstStyle/>
      <a:p>
        <a:r>
          <a:rPr lang="zh-CN" altLang="en-US"/>
          <a:t>This should just be the decoder. Check Figure 2. </a:t>
        </a:r>
      </a:p>
    </p188:txBody>
  </p188:cm>
  <p188:cm id="{0AFE13B2-5D52-414E-9047-9610095B654F}" authorId="{F6213EF9-8CC6-9BDE-59F0-63D5D748DDC4}" created="2026-07-03T08:59:43.663">
    <ac:txMkLst xmlns:ac="http://schemas.microsoft.com/office/drawing/2013/main/command">
      <pc:docMk xmlns:pc="http://schemas.microsoft.com/office/powerpoint/2013/main/command"/>
      <pc:sldMk xmlns:pc="http://schemas.microsoft.com/office/powerpoint/2013/main/command" cId="4252932826" sldId="292"/>
      <ac:spMk id="2" creationId="{12C2CD3D-E648-5513-9AAD-5C07DFCFDBA8}"/>
      <ac:txMk cp="0" len="18">
        <ac:context len="19" hash="2624269298"/>
      </ac:txMk>
    </ac:txMkLst>
    <p188:pos x="3881033" y="180813"/>
    <p188:txBody>
      <a:bodyPr/>
      <a:lstStyle/>
      <a:p>
        <a:r>
          <a:rPr lang="zh-CN" altLang="en-US"/>
          <a:t>Keep capitalization consistent in the slides</a:t>
        </a:r>
      </a:p>
    </p188:txBody>
  </p188:cm>
</p188:cmLst>
</file>

<file path=ppt/comments/modernComment_125_435D19E8.xml><?xml version="1.0" encoding="utf-8"?>
<p188:cmLst xmlns:a="http://schemas.openxmlformats.org/drawingml/2006/main" xmlns:r="http://schemas.openxmlformats.org/officeDocument/2006/relationships" xmlns:p188="http://schemas.microsoft.com/office/powerpoint/2018/8/main">
  <p188:cm id="{11412480-6930-436A-9C6F-C8A58D94DC1B}" authorId="{F6213EF9-8CC6-9BDE-59F0-63D5D748DDC4}" created="2026-07-03T08:41:28.777">
    <ac:txMkLst xmlns:ac="http://schemas.microsoft.com/office/drawing/2013/main/command">
      <pc:docMk xmlns:pc="http://schemas.microsoft.com/office/powerpoint/2013/main/command"/>
      <pc:sldMk xmlns:pc="http://schemas.microsoft.com/office/powerpoint/2013/main/command" cId="1130174952" sldId="293"/>
      <ac:spMk id="5" creationId="{8BF971A0-2134-F9C4-DD64-4E5C78843B7E}"/>
      <ac:txMk cp="0" len="11">
        <ac:context len="47" hash="3868563647"/>
      </ac:txMk>
    </ac:txMkLst>
    <p188:pos x="1691898" y="432661"/>
    <p188:txBody>
      <a:bodyPr/>
      <a:lstStyle/>
      <a:p>
        <a:r>
          <a:rPr lang="zh-CN" altLang="en-US"/>
          <a:t>You already wrote that the VAE encoder compress target RIR into latent. Yet you still wrote source/receiver positions and room geometry cues as input. This is definitely misleading. </a:t>
        </a:r>
      </a:p>
    </p188:txBody>
  </p188:cm>
  <p188:cm id="{E15CF5B9-98F4-4A9D-93B0-19D364B9F708}" authorId="{F6213EF9-8CC6-9BDE-59F0-63D5D748DDC4}" created="2026-07-03T08:52:23.665">
    <ac:txMkLst xmlns:ac="http://schemas.microsoft.com/office/drawing/2013/main/command">
      <pc:docMk xmlns:pc="http://schemas.microsoft.com/office/powerpoint/2013/main/command"/>
      <pc:sldMk xmlns:pc="http://schemas.microsoft.com/office/powerpoint/2013/main/command" cId="1130174952" sldId="293"/>
      <ac:spMk id="2" creationId="{5353B479-41CA-2F8B-B885-54B186BCDE35}"/>
      <ac:txMk cp="0" len="13">
        <ac:context len="14" hash="343897337"/>
      </ac:txMk>
    </ac:txMkLst>
    <p188:pos x="2738033" y="180813"/>
    <p188:txBody>
      <a:bodyPr/>
      <a:lstStyle/>
      <a:p>
        <a:r>
          <a:rPr lang="zh-CN" altLang="en-US"/>
          <a:t>This slides introduces the overall structure of the FLAC pipeline. And the next slides introduce parts of the pipeline. Without explicit mentioning the relation between the next slides and the overall big picture, the audience may get lost since every slides shows something different. This could be better handled if you put more effort in explaining what is the role of each system in the whole FLAC in the next slides. </a:t>
        </a:r>
      </a:p>
    </p188:txBody>
  </p188:cm>
</p188:cmLst>
</file>

<file path=ppt/comments/modernComment_127_994212A7.xml><?xml version="1.0" encoding="utf-8"?>
<p188:cmLst xmlns:a="http://schemas.openxmlformats.org/drawingml/2006/main" xmlns:r="http://schemas.openxmlformats.org/officeDocument/2006/relationships" xmlns:p188="http://schemas.microsoft.com/office/powerpoint/2018/8/main">
  <p188:cm id="{EB62D4B4-893F-4A86-9514-F9FC6953E25F}" authorId="{F6213EF9-8CC6-9BDE-59F0-63D5D748DDC4}" created="2026-07-03T08:34:40.531">
    <ac:txMkLst xmlns:ac="http://schemas.microsoft.com/office/drawing/2013/main/command">
      <pc:docMk xmlns:pc="http://schemas.microsoft.com/office/powerpoint/2013/main/command"/>
      <pc:sldMk xmlns:pc="http://schemas.microsoft.com/office/powerpoint/2013/main/command" cId="2571244199" sldId="295"/>
      <ac:spMk id="2" creationId="{2D8237B7-4704-10F8-2B24-53A4E50949E8}"/>
      <ac:txMk cp="22" len="6">
        <ac:context len="29" hash="1954030693"/>
      </ac:txMk>
    </ac:txMkLst>
    <p188:pos x="4597830" y="180813"/>
    <p188:replyLst>
      <p188:reply id="{293C631F-B2DD-4F65-BFB9-3C93DD809B2F}" authorId="{588AF7E9-F6AF-92EB-9AE0-8BE746E99D1C}" created="2026-07-07T05:39:57.291">
        <p188:txBody>
          <a:bodyPr/>
          <a:lstStyle/>
          <a:p>
            <a:r>
              <a:rPr lang="en-US"/>
              <a:t>a vae encoder.is it okay now?</a:t>
            </a:r>
          </a:p>
        </p188:txBody>
      </p188:reply>
    </p188:replyLst>
    <p188:txBody>
      <a:bodyPr/>
      <a:lstStyle/>
      <a:p>
        <a:r>
          <a:rPr lang="zh-CN" altLang="en-US"/>
          <a:t>What does this page need to show? It is not just a VAE, right? </a:t>
        </a:r>
      </a:p>
    </p188:txBody>
  </p188:cm>
  <p188:cm id="{11B11DD3-DE86-472D-9860-1C2AB81AB058}" authorId="{F6213EF9-8CC6-9BDE-59F0-63D5D748DDC4}" created="2026-07-03T08:54:39.799">
    <ac:txMkLst xmlns:ac="http://schemas.microsoft.com/office/drawing/2013/main/command">
      <pc:docMk xmlns:pc="http://schemas.microsoft.com/office/powerpoint/2013/main/command"/>
      <pc:sldMk xmlns:pc="http://schemas.microsoft.com/office/powerpoint/2013/main/command" cId="2571244199" sldId="295"/>
      <ac:spMk id="2" creationId="{2D8237B7-4704-10F8-2B24-53A4E50949E8}"/>
      <ac:txMk cp="0" len="21">
        <ac:context len="29" hash="1954030693"/>
      </ac:txMk>
    </ac:txMkLst>
    <p188:pos x="3448372" y="180813"/>
    <p188:txBody>
      <a:bodyPr/>
      <a:lstStyle/>
      <a:p>
        <a:r>
          <a:rPr lang="zh-CN" altLang="en-US"/>
          <a:t>This page not only shows the encoder but also shows part of the latent flow matching, right? Since the next slide also introduces the latent flow matching, maybe this slide can be simplified?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2916967" cy="492225"/>
          </a:xfrm>
          <a:prstGeom prst="rect">
            <a:avLst/>
          </a:prstGeom>
          <a:noFill/>
          <a:ln w="9525">
            <a:noFill/>
            <a:miter lim="800000"/>
            <a:headEnd/>
            <a:tailEnd/>
          </a:ln>
          <a:effectLst/>
        </p:spPr>
        <p:txBody>
          <a:bodyPr vert="horz" wrap="square" lIns="87490" tIns="43745" rIns="87490" bIns="43745" numCol="1" anchor="t" anchorCtr="0" compatLnSpc="1">
            <a:prstTxWarp prst="textNoShape">
              <a:avLst/>
            </a:prstTxWarp>
          </a:bodyPr>
          <a:lstStyle>
            <a:lvl1pPr>
              <a:defRPr sz="1100"/>
            </a:lvl1pPr>
          </a:lstStyle>
          <a:p>
            <a:pPr>
              <a:defRPr/>
            </a:pPr>
            <a:endParaRPr lang="en-US"/>
          </a:p>
        </p:txBody>
      </p:sp>
      <p:sp>
        <p:nvSpPr>
          <p:cNvPr id="25603" name="Rectangle 3"/>
          <p:cNvSpPr>
            <a:spLocks noGrp="1" noChangeArrowheads="1"/>
          </p:cNvSpPr>
          <p:nvPr>
            <p:ph type="dt" sz="quarter" idx="1"/>
          </p:nvPr>
        </p:nvSpPr>
        <p:spPr bwMode="auto">
          <a:xfrm>
            <a:off x="3812529" y="0"/>
            <a:ext cx="2916967" cy="492225"/>
          </a:xfrm>
          <a:prstGeom prst="rect">
            <a:avLst/>
          </a:prstGeom>
          <a:noFill/>
          <a:ln w="9525">
            <a:noFill/>
            <a:miter lim="800000"/>
            <a:headEnd/>
            <a:tailEnd/>
          </a:ln>
          <a:effectLst/>
        </p:spPr>
        <p:txBody>
          <a:bodyPr vert="horz" wrap="square" lIns="87490" tIns="43745" rIns="87490" bIns="43745" numCol="1" anchor="t" anchorCtr="0" compatLnSpc="1">
            <a:prstTxWarp prst="textNoShape">
              <a:avLst/>
            </a:prstTxWarp>
          </a:bodyPr>
          <a:lstStyle>
            <a:lvl1pPr algn="r">
              <a:defRPr sz="1100"/>
            </a:lvl1pPr>
          </a:lstStyle>
          <a:p>
            <a:pPr>
              <a:defRPr/>
            </a:pPr>
            <a:fld id="{486C2372-4FB4-43E3-98EB-1B6B0B563107}" type="datetimeFigureOut">
              <a:rPr lang="en-US"/>
              <a:pPr>
                <a:defRPr/>
              </a:pPr>
              <a:t>7/8/2026</a:t>
            </a:fld>
            <a:endParaRPr lang="en-US"/>
          </a:p>
        </p:txBody>
      </p:sp>
      <p:sp>
        <p:nvSpPr>
          <p:cNvPr id="25604" name="Rectangle 4"/>
          <p:cNvSpPr>
            <a:spLocks noGrp="1" noChangeArrowheads="1"/>
          </p:cNvSpPr>
          <p:nvPr>
            <p:ph type="ftr" sz="quarter" idx="2"/>
          </p:nvPr>
        </p:nvSpPr>
        <p:spPr bwMode="auto">
          <a:xfrm>
            <a:off x="1" y="9361446"/>
            <a:ext cx="2916967" cy="492225"/>
          </a:xfrm>
          <a:prstGeom prst="rect">
            <a:avLst/>
          </a:prstGeom>
          <a:noFill/>
          <a:ln w="9525">
            <a:noFill/>
            <a:miter lim="800000"/>
            <a:headEnd/>
            <a:tailEnd/>
          </a:ln>
          <a:effectLst/>
        </p:spPr>
        <p:txBody>
          <a:bodyPr vert="horz" wrap="square" lIns="87490" tIns="43745" rIns="87490" bIns="43745" numCol="1" anchor="b" anchorCtr="0" compatLnSpc="1">
            <a:prstTxWarp prst="textNoShape">
              <a:avLst/>
            </a:prstTxWarp>
          </a:bodyPr>
          <a:lstStyle>
            <a:lvl1pPr>
              <a:defRPr sz="1100"/>
            </a:lvl1pPr>
          </a:lstStyle>
          <a:p>
            <a:pPr>
              <a:defRPr/>
            </a:pPr>
            <a:r>
              <a:rPr lang="en-IN"/>
              <a:t>Few-Shot Acoustic Synthesis with Multimodal Flow Matching </a:t>
            </a:r>
            <a:endParaRPr lang="en-US"/>
          </a:p>
        </p:txBody>
      </p:sp>
      <p:sp>
        <p:nvSpPr>
          <p:cNvPr id="25605" name="Rectangle 5"/>
          <p:cNvSpPr>
            <a:spLocks noGrp="1" noChangeArrowheads="1"/>
          </p:cNvSpPr>
          <p:nvPr>
            <p:ph type="sldNum" sz="quarter" idx="3"/>
          </p:nvPr>
        </p:nvSpPr>
        <p:spPr bwMode="auto">
          <a:xfrm>
            <a:off x="3812529" y="9361446"/>
            <a:ext cx="2916967" cy="492225"/>
          </a:xfrm>
          <a:prstGeom prst="rect">
            <a:avLst/>
          </a:prstGeom>
          <a:noFill/>
          <a:ln w="9525">
            <a:noFill/>
            <a:miter lim="800000"/>
            <a:headEnd/>
            <a:tailEnd/>
          </a:ln>
          <a:effectLst/>
        </p:spPr>
        <p:txBody>
          <a:bodyPr vert="horz" wrap="square" lIns="87490" tIns="43745" rIns="87490" bIns="43745" numCol="1" anchor="b" anchorCtr="0" compatLnSpc="1">
            <a:prstTxWarp prst="textNoShape">
              <a:avLst/>
            </a:prstTxWarp>
          </a:bodyPr>
          <a:lstStyle>
            <a:lvl1pPr algn="r">
              <a:defRPr sz="1100"/>
            </a:lvl1pPr>
          </a:lstStyle>
          <a:p>
            <a:pPr>
              <a:defRPr/>
            </a:pPr>
            <a:fld id="{5D5613AA-5C72-4418-AC3A-2C84DB5ECEDE}" type="slidenum">
              <a:rPr lang="en-US"/>
              <a:pPr>
                <a:defRPr/>
              </a:pPr>
              <a:t>‹#›</a:t>
            </a:fld>
            <a:endParaRPr lang="en-US"/>
          </a:p>
        </p:txBody>
      </p:sp>
    </p:spTree>
    <p:extLst>
      <p:ext uri="{BB962C8B-B14F-4D97-AF65-F5344CB8AC3E}">
        <p14:creationId xmlns:p14="http://schemas.microsoft.com/office/powerpoint/2010/main" val="1524198572"/>
      </p:ext>
    </p:extLst>
  </p:cSld>
  <p:clrMap bg1="lt1" tx1="dk1" bg2="lt2" tx2="dk2" accent1="accent1" accent2="accent2" accent3="accent3" accent4="accent4" accent5="accent5" accent6="accent6" hlink="hlink" folHlink="folHlink"/>
  <p:hf hdr="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7T11:16:08.494"/>
    </inkml:context>
    <inkml:brush xml:id="br0">
      <inkml:brushProperty name="width" value="0.1" units="cm"/>
      <inkml:brushProperty name="height" value="0.1" units="cm"/>
      <inkml:brushProperty name="color" value="#33CCFF"/>
    </inkml:brush>
  </inkml:definitions>
  <inkml:trace contextRef="#ctx0" brushRef="#br0">14954 11295 16383 0 0,'0'0'0'0'0,"1"0"0"0"0,-1 0 0 0 0,1 0 0 0 0,0 0 0 0 0,0 0 0 0 0,0 0 0 0 0,0 0 0 0 0,0 0 0 0 0,0 0 0 0 0,0 0 0 0 0,1 0 0 0 0,-1 0 0 0 0,0 0 0 0 0,0 0 0 0 0,0 0 0 0 0,0 0 0 0 0,1 0 0 0 0,-1 0 0 0 0,1 0 0 0 0,-1 0 0 0 0,1 0 0 0 0,-1 0 0 0 0,0 0 0 0 0,1 0 0 0 0,-1 0 0 0 0,0 0 0 0 0,0 0 0 0 0,0 0 0 0 0,1 0 0 0 0,-1 0 0 0 0,1 0 0 0 0,-1 0 0 0 0,1 0 0 0 0,-1 0 0 0 0,0 0 0 0 0,1 0 0 0 0,-1 0 0 0 0,1 0 0 0 0,-1 0 0 0 0,1 0 0 0 0,-1 0 0 0 0,1 0 0 0 0,-1 0 0 0 0,1 0 0 0 0,0 0 0 0 0,-1 0 0 0 0,1 0 0 0 0,-1 0 0 0 0,0 0 0 0 0,0 0 0 0 0,0 0 0 0 0,1 0 0 0 0,-1 0 0 0 0,0 0 0 0 0,0 0 0 0 0,0 0 0 0 0,0 0 0 0 0,0 0 0 0 0,0 0 0 0 0,0 0 0 0 0,0 0 0 0 0,0 0 0 0 0,0 0 0 0 0,0 0 0 0 0,0 0 0 0 0,0 0 0 0 0,0 0 0 0 0,0 0 0 0 0,-1 0 0 0 0,1 0 0 0 0,0 0 0 0 0,0 0 0 0 0,0 0 0 0 0,0 0 0 0 0,0 0 0 0 0,0 0 0 0 0,0 0 0 0 0,0 0 0 0 0,0 0 0 0 0,0 0 0 0 0,0 0 0 0 0,0 0 0 0 0,0 0 0 0 0,0 0 0 0 0,0 0 0 0 0,0 0 0 0 0,1 0 0 0 0,-1 0 0 0 0,0 0 0 0 0,0 0 0 0 0,1 0 0 0 0,-1 0 0 0 0,1 0 0 0 0,0 0 0 0 0,-1 0 0 0 0,1 0 0 0 0,0 0 0 0 0,0 0 0 0 0,0 0 0 0 0,1 0 0 0 0,-1 0 0 0 0,0 0 0 0 0,0 0 0 0 0,0 0 0 0 0,0 0 0 0 0,0 0 0 0 0,1 0 0 0 0,-1 0 0 0 0,0 0 0 0 0,1 0 0 0 0,0 0 0 0 0,0 0 0 0 0,0 0 0 0 0,0 0 0 0 0,0 0 0 0 0,-1 0 0 0 0,1 0 0 0 0,0 0 0 0 0,0 0 0 0 0,0 0 0 0 0,0 0 0 0 0,0 0 0 0 0,0 0 0 0 0,0 0 0 0 0,0 0 0 0 0,0 0 0 0 0,0 0 0 0 0,0 0 0 0 0,1 0 0 0 0,-1 0 0 0 0,2 0 0 0 0,-1 0 0 0 0,0 0 0 0 0,1 0 0 0 0,-1 0 0 0 0,0 0 0 0 0,-1 0 0 0 0,1 0 0 0 0,-1 0 0 0 0,0 0 0 0 0,0 0 0 0 0,1 0 0 0 0,-1 0 0 0 0,0 0 0 0 0,0 0 0 0 0,1 0 0 0 0,-1 0 0 0 0,1 0 0 0 0,1 0 0 0 0,0 0 0 0 0,0 0 0 0 0,-1 0 0 0 0,-1 0 0 0 0,0 0 0 0 0,-1 0 0 0 0,-1 0 0 0 0,1 0 0 0 0,-1 0 0 0 0,1 0 0 0 0,-1 0 0 0 0,1 0 0 0 0,1 0 0 0 0,-1 0 0 0 0,1 0 0 0 0,-1 0 0 0 0,1 0 0 0 0,0 0 0 0 0,-1 0 0 0 0,1 0 0 0 0,-1 0 0 0 0,0 0 0 0 0,1 0 0 0 0,-1 0 0 0 0,0 0 0 0 0,1 0 0 0 0,-1 0 0 0 0,1 0 0 0 0,0 0 0 0 0,0 0 0 0 0,0 0 0 0 0,-1 0 0 0 0,1 0 0 0 0,0 0 0 0 0,-1 0 0 0 0,0 0 0 0 0,0 0 0 0 0,0 0 0 0 0,0 0 0 0 0,-1 0 0 0 0,1 0 0 0 0,-1 0 0 0 0,1 0 0 0 0,-1 0 0 0 0,0 0 0 0 0,1 0 0 0 0,-1 0 0 0 0,1 0 0 0 0,-1 0 0 0 0,1 0 0 0 0,0 0 0 0 0,0 0 0 0 0,0 0 0 0 0,1 0 0 0 0,0 0 0 0 0,1 0 0 0 0,0 0 0 0 0,0 0 0 0 0,0 0 0 0 0,-1 0 0 0 0,-1 0 0 0 0,0 0 0 0 0,-1 0 0 0 0,1 0 0 0 0,-1 0 0 0 0,0 0 0 0 0,0 0 0 0 0,0 0 0 0 0,1 0 0 0 0,0 0 0 0 0,0 0 0 0 0,0 0 0 0 0,-1 0 0 0 0,1 0 0 0 0,0 0 0 0 0,-1 0 0 0 0,1 0 0 0 0,-1 0 0 0 0,1 0 0 0 0,0 0 0 0 0,-1 0 0 0 0,0 0 0 0 0,1 0 0 0 0,-1 0 0 0 0,1 0 0 0 0,-1 0 0 0 0,1 0 0 0 0,-1 0 0 0 0,1 0 0 0 0,-1 0 0 0 0,1 0 0 0 0,0 0 0 0 0,-1 0 0 0 0,1 0 0 0 0,0 0 0 0 0,0 0 0 0 0,1 0 0 0 0,-1 0 0 0 0,1 0 0 0 0,-1 0 0 0 0,1 0 0 0 0,0 0 0 0 0,0 0 0 0 0,-1 0 0 0 0,0 0 0 0 0,-1 0 0 0 0,0 0 0 0 0,0 0 0 0 0,0 0 0 0 0,0 0 0 0 0,0 0 0 0 0,0 0 0 0 0,0 0 0 0 0,0 0 0 0 0,0 0 0 0 0,0 0 0 0 0,0 0 0 0 0,0 0 0 0 0,0 0 0 0 0,0 0 0 0 0,0 0 0 0 0,0 0 0 0 0,1 0 0 0 0,-1 0 0 0 0,0 0 0 0 0,0 0 0 0 0,0 0 0 0 0,0 0 0 0 0,1 0 0 0 0,-1 0 0 0 0,2 0 0 0 0,-1 0 0 0 0,0 0 0 0 0,1 0 0 0 0,0 0 0 0 0,0 0 0 0 0,0 0 0 0 0,1 0 0 0 0,-1 0 0 0 0,0 0 0 0 0,-1 0 0 0 0,1 0 0 0 0,-1 0 0 0 0,-1 0 0 0 0,1 0 0 0 0,-1 0 0 0 0,0 0 0 0 0,0 0 0 0 0,0 0 0 0 0,0 0 0 0 0,0 0 0 0 0,0 0 0 0 0,0 0 0 0 0,0 0 0 0 0,0 0 0 0 0,0 0 0 0 0,0 0 0 0 0,-1 0 0 0 0,2 0 0 0 0,-2 0 0 0 0,1 0 0 0 0,0 0 0 0 0,0 0 0 0 0,0 0 0 0 0,0 0 0 0 0,0 0 0 0 0,0 0 0 0 0,0 0 0 0 0,0 0 0 0 0,1 0 0 0 0,-1 0 0 0 0,1 0 0 0 0,-1 0 0 0 0,1 0 0 0 0,-1 0 0 0 0,1 0 0 0 0,-1 0 0 0 0,0 0 0 0 0,0 0 0 0 0,0 0 0 0 0,0 0 0 0 0,0 0 0 0 0,0 0 0 0 0,0 0 0 0 0,0 0 0 0 0,0 0 0 0 0,0 0 0 0 0,0 0 0 0 0,0 0 0 0 0,-1 0 0 0 0,0 0 0 0 0,0 0 0 0 0,0 0 0 0 0,-1 0 0 0 0,1 0 0 0 0,-1 0 0 0 0,1 0 0 0 0,-1 0 0 0 0,0 0 0 0 0,1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7T11:16:08.495"/>
    </inkml:context>
    <inkml:brush xml:id="br0">
      <inkml:brushProperty name="width" value="0.1" units="cm"/>
      <inkml:brushProperty name="height" value="0.1" units="cm"/>
      <inkml:brushProperty name="color" value="#33CCFF"/>
    </inkml:brush>
  </inkml:definitions>
  <inkml:trace contextRef="#ctx0" brushRef="#br0">17074 15008 16383 0 0,'0'0'0'0'0,"0"0"0"0"0,-1 0 0 0 0,-1 0 0 0 0,0 0 0 0 0,0 0 0 0 0,0 0 0 0 0,0 0 0 0 0,0 0 0 0 0,0 0 0 0 0,0 0 0 0 0,1 0 0 0 0,-1 0 0 0 0,1 0 0 0 0,-1 0 0 0 0,0 0 0 0 0,1 0 0 0 0,-1 0 0 0 0,1 0 0 0 0,-1 0 0 0 0,1 0 0 0 0,-1 0 0 0 0,1 0 0 0 0,0 0 0 0 0,0 0 0 0 0,-1 0 0 0 0,1 0 0 0 0,0 0 0 0 0,-1 0 0 0 0,1 0 0 0 0,-1 0 0 0 0,0 0 0 0 0,1 0 0 0 0,0 0 0 0 0,0 0 0 0 0,0 0 0 0 0,0 0 0 0 0,0 0 0 0 0,0 0 0 0 0,0 0 0 0 0,0 0 0 0 0,0 0 0 0 0,1 0 0 0 0,-1 0 0 0 0,0 0 0 0 0,0 0 0 0 0,0 0 0 0 0,0 0 0 0 0,0 0 0 0 0,0 0 0 0 0,-1 0 0 0 0,1 0 0 0 0,-1 0 0 0 0,0 0 0 0 0,0 0 0 0 0,0 0 0 0 0,1 0 0 0 0,-1 0 0 0 0,1 0 0 0 0,0 0 0 0 0,-1 0 0 0 0,1 0 0 0 0,0 0 0 0 0,0 0 0 0 0,0 0 0 0 0,0 0 0 0 0,-1 0 0 0 0,1 0 0 0 0,0 0 0 0 0,0 0 0 0 0,0 0 0 0 0,0 0 0 0 0,-1 0 0 0 0,1 0 0 0 0,0 0 0 0 0,0 0 0 0 0,0 0 0 0 0,-1 0 0 0 0,0 0 0 0 0,0 0 0 0 0,0 0 0 0 0,0 0 0 0 0,0 0 0 0 0,-1 0 0 0 0,1 0 0 0 0,-1 0 0 0 0,1 0 0 0 0,-1 0 0 0 0,0 0 0 0 0,0 0 0 0 0,1 0 0 0 0,-1 0 0 0 0,0 0 0 0 0,1 0 0 0 0,0 0 0 0 0,-1 0 0 0 0,1 0 0 0 0,0 0 0 0 0,1 0 0 0 0,-1 0 0 0 0,1 0 0 0 0,-1 0 0 0 0,1 0 0 0 0,-1 0 0 0 0,0 0 0 0 0,0 0 0 0 0,0 0 0 0 0,0 0 0 0 0,0 0 0 0 0,-1 0 0 0 0,1 0 0 0 0,-2 0 0 0 0,1 0 0 0 0,0 0 0 0 0,0 0 0 0 0,1 0 0 0 0,1 0 0 0 0,-1 0 0 0 0,1 0 0 0 0,-1 0 0 0 0,0 0 0 0 0,-2 0 0 0 0,-2 0 0 0 0,-2 0 0 0 0,-2 0 0 0 0,-3 0 0 0 0,-3 0 0 0 0,-3 0 0 0 0,-2 0 0 0 0,0 0 0 0 0,0 0 0 0 0,2 0 0 0 0,2 0 0 0 0,3 0 0 0 0,2 0 0 0 0,3 0 0 0 0,2 0 0 0 0,2 0 0 0 0,2 0 0 0 0,1 0 0 0 0,1 0 0 0 0,0 0 0 0 0,0 0 0 0 0,1 0 0 0 0,-1 0 0 0 0,1 0 0 0 0,-1 0 0 0 0,0 0 0 0 0,0 0 0 0 0,-1 0 0 0 0,1 0 0 0 0,-1 0 0 0 0,0 0 0 0 0,0 0 0 0 0,0 0 0 0 0,-1 0 0 0 0,1 0 0 0 0,-1 0 0 0 0,1 0 0 0 0,-2 0 0 0 0,1 0 0 0 0,-1 0 0 0 0,-1 0 0 0 0,-1 0 0 0 0,2 0 0 0 0,0 0 0 0 0,1 0 0 0 0,1 0 0 0 0,1 0 0 0 0,-1 0 0 0 0,1 0 0 0 0,0 0 0 0 0,0 0 0 0 0,0 0 0 0 0,-1 0 0 0 0,0 0 0 0 0,1 0 0 0 0,-1 0 0 0 0,1 0 0 0 0,-1 0 0 0 0,1 0 0 0 0,0 0 0 0 0,0 0 0 0 0,0 0 0 0 0,0 0 0 0 0,0 0 0 0 0,0 0 0 0 0,0 0 0 0 0,0 0 0 0 0,0 0 0 0 0,-1 0 0 0 0,1 0 0 0 0,-1 0 0 0 0,1 0 0 0 0,-1 0 0 0 0,1 0 0 0 0,-1 0 0 0 0,0 0 0 0 0,0 0 0 0 0,1 0 0 0 0,-1 0 0 0 0,0 0 0 0 0,1 0 0 0 0,-1 0 0 0 0,1 0 0 0 0,-1 0 0 0 0,0 0 0 0 0,0 0 0 0 0,1 0 0 0 0,0 0 0 0 0,-2 0 0 0 0,1 0 0 0 0,-1 0 0 0 0,1 0 0 0 0,0 0 0 0 0,0 0 0 0 0,0 0 0 0 0,0 0 0 0 0,1 0 0 0 0,-1 0 0 0 0,1 0 0 0 0,0 0 0 0 0,-1 0 0 0 0,1 0 0 0 0,0 0 0 0 0,-1 0 0 0 0,1 0 0 0 0,-1 0 0 0 0,1 0 0 0 0,-1 0 0 0 0,1 0 0 0 0,-1 0 0 0 0,1 0 0 0 0,0 0 0 0 0,-1 0 0 0 0,1 0 0 0 0,-1 0 0 0 0,1 0 0 0 0,0 0 0 0 0,0 0 0 0 0,0 0 0 0 0,0 0 0 0 0,0 0 0 0 0,0 0 0 0 0,0 0 0 0 0,0 0 0 0 0,0 0 0 0 0,0 0 0 0 0,0 0 0 0 0,0 0 0 0 0,0 0 0 0 0,0 0 0 0 0,0 0 0 0 0,0 0 0 0 0,0 0 0 0 0,1 0 0 0 0,-1 0 0 0 0,0 0 0 0 0,0 0 0 0 0,0 0 0 0 0,1 0 0 0 0,-1 0 0 0 0,0 0 0 0 0,0 0 0 0 0,0 0 0 0 0,0 0 0 0 0,0 0 0 0 0,0 0 0 0 0,0 0 0 0 0,0 0 0 0 0,0 0 0 0 0,0 0 0 0 0,0 0 0 0 0,0 0 0 0 0,0 0 0 0 0,0 0 0 0 0,0 0 0 0 0,0 0 0 0 0,0 0 0 0 0,0 0 0 0 0,0 0 0 0 0,0 0 0 0 0,0 0 0 0 0,0 0 0 0 0,0 0 0 0 0,1 0 0 0 0,0 0 0 0 0,0 0 0 0 0,0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2916967" cy="492225"/>
          </a:xfrm>
          <a:prstGeom prst="rect">
            <a:avLst/>
          </a:prstGeom>
          <a:noFill/>
          <a:ln w="9525">
            <a:noFill/>
            <a:miter lim="800000"/>
            <a:headEnd/>
            <a:tailEnd/>
          </a:ln>
          <a:effectLst/>
        </p:spPr>
        <p:txBody>
          <a:bodyPr vert="horz" wrap="square" lIns="87490" tIns="43745" rIns="87490" bIns="43745" numCol="1" anchor="t" anchorCtr="0" compatLnSpc="1">
            <a:prstTxWarp prst="textNoShape">
              <a:avLst/>
            </a:prstTxWarp>
          </a:bodyPr>
          <a:lstStyle>
            <a:lvl1pPr>
              <a:defRPr sz="1100"/>
            </a:lvl1pPr>
          </a:lstStyle>
          <a:p>
            <a:pPr>
              <a:defRPr/>
            </a:pPr>
            <a:endParaRPr lang="en-US"/>
          </a:p>
        </p:txBody>
      </p:sp>
      <p:sp>
        <p:nvSpPr>
          <p:cNvPr id="25603" name="Rectangle 3"/>
          <p:cNvSpPr>
            <a:spLocks noGrp="1" noChangeArrowheads="1"/>
          </p:cNvSpPr>
          <p:nvPr>
            <p:ph type="dt" idx="1"/>
          </p:nvPr>
        </p:nvSpPr>
        <p:spPr bwMode="auto">
          <a:xfrm>
            <a:off x="3812529" y="0"/>
            <a:ext cx="2916967" cy="492225"/>
          </a:xfrm>
          <a:prstGeom prst="rect">
            <a:avLst/>
          </a:prstGeom>
          <a:noFill/>
          <a:ln w="9525">
            <a:noFill/>
            <a:miter lim="800000"/>
            <a:headEnd/>
            <a:tailEnd/>
          </a:ln>
          <a:effectLst/>
        </p:spPr>
        <p:txBody>
          <a:bodyPr vert="horz" wrap="square" lIns="87490" tIns="43745" rIns="87490" bIns="43745" numCol="1" anchor="t" anchorCtr="0" compatLnSpc="1">
            <a:prstTxWarp prst="textNoShape">
              <a:avLst/>
            </a:prstTxWarp>
          </a:bodyPr>
          <a:lstStyle>
            <a:lvl1pPr algn="r">
              <a:defRPr sz="1100"/>
            </a:lvl1pPr>
          </a:lstStyle>
          <a:p>
            <a:pPr>
              <a:defRPr/>
            </a:pPr>
            <a:endParaRPr lang="en-US"/>
          </a:p>
        </p:txBody>
      </p:sp>
      <p:sp>
        <p:nvSpPr>
          <p:cNvPr id="13316" name="Rectangle 4"/>
          <p:cNvSpPr>
            <a:spLocks noGrp="1" noRot="1" noChangeAspect="1" noChangeArrowheads="1" noTextEdit="1"/>
          </p:cNvSpPr>
          <p:nvPr>
            <p:ph type="sldImg" idx="2"/>
          </p:nvPr>
        </p:nvSpPr>
        <p:spPr bwMode="auto">
          <a:xfrm>
            <a:off x="82550" y="739775"/>
            <a:ext cx="6565900" cy="3694113"/>
          </a:xfrm>
          <a:prstGeom prst="rect">
            <a:avLst/>
          </a:prstGeom>
          <a:noFill/>
          <a:ln w="9525">
            <a:solidFill>
              <a:srgbClr val="000000"/>
            </a:solidFill>
            <a:miter lim="800000"/>
            <a:headEnd/>
            <a:tailEnd/>
          </a:ln>
        </p:spPr>
      </p:sp>
      <p:sp>
        <p:nvSpPr>
          <p:cNvPr id="25605" name="Rectangle 5"/>
          <p:cNvSpPr>
            <a:spLocks noGrp="1" noChangeArrowheads="1"/>
          </p:cNvSpPr>
          <p:nvPr>
            <p:ph type="body" sz="quarter" idx="3"/>
          </p:nvPr>
        </p:nvSpPr>
        <p:spPr bwMode="auto">
          <a:xfrm>
            <a:off x="672800" y="4680723"/>
            <a:ext cx="5385402" cy="4434611"/>
          </a:xfrm>
          <a:prstGeom prst="rect">
            <a:avLst/>
          </a:prstGeom>
          <a:noFill/>
          <a:ln w="9525">
            <a:noFill/>
            <a:miter lim="800000"/>
            <a:headEnd/>
            <a:tailEnd/>
          </a:ln>
          <a:effectLst/>
        </p:spPr>
        <p:txBody>
          <a:bodyPr vert="horz" wrap="square" lIns="87490" tIns="43745" rIns="87490" bIns="43745" numCol="1" anchor="t" anchorCtr="0" compatLnSpc="1">
            <a:prstTxWarp prst="textNoShape">
              <a:avLst/>
            </a:prstTxWarp>
          </a:bodyPr>
          <a:lstStyle/>
          <a:p>
            <a:pPr lvl="0"/>
            <a:r>
              <a:rPr lang="en-US" noProof="0"/>
              <a:t>Textmasterformate durch Klicken bearbeiten</a:t>
            </a:r>
          </a:p>
          <a:p>
            <a:pPr lvl="1"/>
            <a:r>
              <a:rPr lang="en-US" noProof="0"/>
              <a:t>Zweite Ebene</a:t>
            </a:r>
          </a:p>
          <a:p>
            <a:pPr lvl="2"/>
            <a:r>
              <a:rPr lang="en-US" noProof="0"/>
              <a:t>Dritte Ebene</a:t>
            </a:r>
          </a:p>
          <a:p>
            <a:pPr lvl="3"/>
            <a:r>
              <a:rPr lang="en-US" noProof="0"/>
              <a:t>Vierte Ebene</a:t>
            </a:r>
          </a:p>
          <a:p>
            <a:pPr lvl="4"/>
            <a:r>
              <a:rPr lang="en-US" noProof="0"/>
              <a:t>Fünfte Ebene</a:t>
            </a:r>
          </a:p>
        </p:txBody>
      </p:sp>
      <p:sp>
        <p:nvSpPr>
          <p:cNvPr id="25606" name="Rectangle 6"/>
          <p:cNvSpPr>
            <a:spLocks noGrp="1" noChangeArrowheads="1"/>
          </p:cNvSpPr>
          <p:nvPr>
            <p:ph type="ftr" sz="quarter" idx="4"/>
          </p:nvPr>
        </p:nvSpPr>
        <p:spPr bwMode="auto">
          <a:xfrm>
            <a:off x="1" y="9361446"/>
            <a:ext cx="2916967" cy="492225"/>
          </a:xfrm>
          <a:prstGeom prst="rect">
            <a:avLst/>
          </a:prstGeom>
          <a:noFill/>
          <a:ln w="9525">
            <a:noFill/>
            <a:miter lim="800000"/>
            <a:headEnd/>
            <a:tailEnd/>
          </a:ln>
          <a:effectLst/>
        </p:spPr>
        <p:txBody>
          <a:bodyPr vert="horz" wrap="square" lIns="87490" tIns="43745" rIns="87490" bIns="43745" numCol="1" anchor="b" anchorCtr="0" compatLnSpc="1">
            <a:prstTxWarp prst="textNoShape">
              <a:avLst/>
            </a:prstTxWarp>
          </a:bodyPr>
          <a:lstStyle>
            <a:lvl1pPr>
              <a:defRPr sz="1100"/>
            </a:lvl1pPr>
          </a:lstStyle>
          <a:p>
            <a:pPr>
              <a:defRPr/>
            </a:pPr>
            <a:r>
              <a:rPr lang="en-IN"/>
              <a:t>Few-Shot Acoustic Synthesis with Multimodal Flow Matching </a:t>
            </a:r>
            <a:endParaRPr lang="en-US"/>
          </a:p>
        </p:txBody>
      </p:sp>
      <p:sp>
        <p:nvSpPr>
          <p:cNvPr id="25607" name="Rectangle 7"/>
          <p:cNvSpPr>
            <a:spLocks noGrp="1" noChangeArrowheads="1"/>
          </p:cNvSpPr>
          <p:nvPr>
            <p:ph type="sldNum" sz="quarter" idx="5"/>
          </p:nvPr>
        </p:nvSpPr>
        <p:spPr bwMode="auto">
          <a:xfrm>
            <a:off x="3812529" y="9361446"/>
            <a:ext cx="2916967" cy="492225"/>
          </a:xfrm>
          <a:prstGeom prst="rect">
            <a:avLst/>
          </a:prstGeom>
          <a:noFill/>
          <a:ln w="9525">
            <a:noFill/>
            <a:miter lim="800000"/>
            <a:headEnd/>
            <a:tailEnd/>
          </a:ln>
          <a:effectLst/>
        </p:spPr>
        <p:txBody>
          <a:bodyPr vert="horz" wrap="square" lIns="87490" tIns="43745" rIns="87490" bIns="43745" numCol="1" anchor="b" anchorCtr="0" compatLnSpc="1">
            <a:prstTxWarp prst="textNoShape">
              <a:avLst/>
            </a:prstTxWarp>
          </a:bodyPr>
          <a:lstStyle>
            <a:lvl1pPr algn="r">
              <a:defRPr sz="1100"/>
            </a:lvl1pPr>
          </a:lstStyle>
          <a:p>
            <a:pPr>
              <a:defRPr/>
            </a:pPr>
            <a:fld id="{FDBF02BE-90BD-464A-A19D-3B269663630A}" type="slidenum">
              <a:rPr lang="en-US"/>
              <a:pPr>
                <a:defRPr/>
              </a:pPr>
              <a:t>‹#›</a:t>
            </a:fld>
            <a:endParaRPr lang="en-US"/>
          </a:p>
        </p:txBody>
      </p:sp>
    </p:spTree>
    <p:extLst>
      <p:ext uri="{BB962C8B-B14F-4D97-AF65-F5344CB8AC3E}">
        <p14:creationId xmlns:p14="http://schemas.microsoft.com/office/powerpoint/2010/main" val="139851701"/>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82550" y="739775"/>
            <a:ext cx="6565900" cy="3694113"/>
          </a:xfrm>
          <a:ln/>
        </p:spPr>
      </p:sp>
      <p:sp>
        <p:nvSpPr>
          <p:cNvPr id="24579" name="Rectangle 3"/>
          <p:cNvSpPr>
            <a:spLocks noGrp="1" noChangeArrowheads="1"/>
          </p:cNvSpPr>
          <p:nvPr>
            <p:ph type="body" idx="1"/>
          </p:nvPr>
        </p:nvSpPr>
        <p:spPr>
          <a:noFill/>
          <a:ln/>
        </p:spPr>
        <p:txBody>
          <a:bodyPr/>
          <a:lstStyle/>
          <a:p>
            <a:r>
              <a:rPr lang="en-US"/>
              <a:t>Title can be 30 or 32 </a:t>
            </a:r>
            <a:r>
              <a:rPr lang="en-US" err="1"/>
              <a:t>pt</a:t>
            </a:r>
            <a:endParaRPr lang="en-US"/>
          </a:p>
          <a:p>
            <a:r>
              <a:rPr lang="en-US"/>
              <a:t>Subtitle is 28 </a:t>
            </a:r>
            <a:r>
              <a:rPr lang="en-US" err="1"/>
              <a:t>pt</a:t>
            </a:r>
            <a:endParaRPr lang="en-US"/>
          </a:p>
          <a:p>
            <a:r>
              <a:rPr lang="en-US"/>
              <a:t>Presenter’s name can be in 20 up to 24 </a:t>
            </a:r>
            <a:r>
              <a:rPr lang="en-US" err="1"/>
              <a:t>pt</a:t>
            </a:r>
            <a:endParaRPr lang="en-US"/>
          </a:p>
        </p:txBody>
      </p:sp>
      <p:sp>
        <p:nvSpPr>
          <p:cNvPr id="2" name="Date Placeholder 1">
            <a:extLst>
              <a:ext uri="{FF2B5EF4-FFF2-40B4-BE49-F238E27FC236}">
                <a16:creationId xmlns:a16="http://schemas.microsoft.com/office/drawing/2014/main" id="{CBC1268A-7BDD-AD97-0C02-C06454476A65}"/>
              </a:ext>
            </a:extLst>
          </p:cNvPr>
          <p:cNvSpPr>
            <a:spLocks noGrp="1"/>
          </p:cNvSpPr>
          <p:nvPr>
            <p:ph type="dt" idx="1"/>
          </p:nvPr>
        </p:nvSpPr>
        <p:spPr/>
        <p:txBody>
          <a:bodyPr/>
          <a:lstStyle/>
          <a:p>
            <a:pPr>
              <a:defRPr/>
            </a:pPr>
            <a:endParaRPr lang="en-US"/>
          </a:p>
        </p:txBody>
      </p:sp>
      <p:sp>
        <p:nvSpPr>
          <p:cNvPr id="3" name="Footer Placeholder 2">
            <a:extLst>
              <a:ext uri="{FF2B5EF4-FFF2-40B4-BE49-F238E27FC236}">
                <a16:creationId xmlns:a16="http://schemas.microsoft.com/office/drawing/2014/main" id="{3D3E0025-DE5A-40AC-1013-7BB695C58DED}"/>
              </a:ext>
            </a:extLst>
          </p:cNvPr>
          <p:cNvSpPr>
            <a:spLocks noGrp="1"/>
          </p:cNvSpPr>
          <p:nvPr>
            <p:ph type="ftr" sz="quarter" idx="4"/>
          </p:nvPr>
        </p:nvSpPr>
        <p:spPr/>
        <p:txBody>
          <a:bodyPr/>
          <a:lstStyle/>
          <a:p>
            <a:pPr>
              <a:defRPr/>
            </a:pPr>
            <a:r>
              <a:rPr lang="en-IN"/>
              <a:t>Few-Shot Acoustic Synthesis with Multimodal Flow Matching </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82550" y="739775"/>
            <a:ext cx="6565900" cy="3694113"/>
          </a:xfrm>
          <a:ln/>
        </p:spPr>
      </p:sp>
      <p:sp>
        <p:nvSpPr>
          <p:cNvPr id="35843" name="Rectangle 3"/>
          <p:cNvSpPr>
            <a:spLocks noGrp="1" noChangeArrowheads="1"/>
          </p:cNvSpPr>
          <p:nvPr>
            <p:ph type="body" idx="1"/>
          </p:nvPr>
        </p:nvSpPr>
        <p:spPr>
          <a:noFill/>
          <a:ln/>
        </p:spPr>
        <p:txBody>
          <a:bodyPr/>
          <a:lstStyle/>
          <a:p>
            <a:r>
              <a:rPr lang="en-US"/>
              <a:t>Font size is 24 pt, you can use 20 pt as well, but than please stick to it through the entire presentation</a:t>
            </a:r>
          </a:p>
          <a:p>
            <a:r>
              <a:rPr lang="en-US"/>
              <a:t>The second level font size is 20 or 18 pt (depending on the sice of first level font) </a:t>
            </a:r>
          </a:p>
        </p:txBody>
      </p:sp>
      <p:sp>
        <p:nvSpPr>
          <p:cNvPr id="2" name="Date Placeholder 1">
            <a:extLst>
              <a:ext uri="{FF2B5EF4-FFF2-40B4-BE49-F238E27FC236}">
                <a16:creationId xmlns:a16="http://schemas.microsoft.com/office/drawing/2014/main" id="{62975985-2740-87BC-B99D-5479CBADB6E5}"/>
              </a:ext>
            </a:extLst>
          </p:cNvPr>
          <p:cNvSpPr>
            <a:spLocks noGrp="1"/>
          </p:cNvSpPr>
          <p:nvPr>
            <p:ph type="dt" idx="1"/>
          </p:nvPr>
        </p:nvSpPr>
        <p:spPr/>
        <p:txBody>
          <a:bodyPr/>
          <a:lstStyle/>
          <a:p>
            <a:pPr>
              <a:defRPr/>
            </a:pPr>
            <a:endParaRPr lang="en-US"/>
          </a:p>
        </p:txBody>
      </p:sp>
      <p:sp>
        <p:nvSpPr>
          <p:cNvPr id="3" name="Footer Placeholder 2">
            <a:extLst>
              <a:ext uri="{FF2B5EF4-FFF2-40B4-BE49-F238E27FC236}">
                <a16:creationId xmlns:a16="http://schemas.microsoft.com/office/drawing/2014/main" id="{48211E07-F75F-E19D-0A28-970F68A2B1C7}"/>
              </a:ext>
            </a:extLst>
          </p:cNvPr>
          <p:cNvSpPr>
            <a:spLocks noGrp="1"/>
          </p:cNvSpPr>
          <p:nvPr>
            <p:ph type="ftr" sz="quarter" idx="4"/>
          </p:nvPr>
        </p:nvSpPr>
        <p:spPr/>
        <p:txBody>
          <a:bodyPr/>
          <a:lstStyle/>
          <a:p>
            <a:pPr>
              <a:defRPr/>
            </a:pPr>
            <a:r>
              <a:rPr lang="en-IN"/>
              <a:t>Few-Shot Acoustic Synthesis with Multimodal Flow Matching </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82550" y="739775"/>
            <a:ext cx="6565900" cy="36941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pPr>
              <a:defRPr/>
            </a:pPr>
            <a:fld id="{FDBF02BE-90BD-464A-A19D-3B269663630A}" type="slidenum">
              <a:rPr lang="en-US" smtClean="0"/>
              <a:pPr>
                <a:defRPr/>
              </a:pPr>
              <a:t>6</a:t>
            </a:fld>
            <a:endParaRPr lang="en-US"/>
          </a:p>
        </p:txBody>
      </p:sp>
      <p:sp>
        <p:nvSpPr>
          <p:cNvPr id="5" name="Date Placeholder 4">
            <a:extLst>
              <a:ext uri="{FF2B5EF4-FFF2-40B4-BE49-F238E27FC236}">
                <a16:creationId xmlns:a16="http://schemas.microsoft.com/office/drawing/2014/main" id="{74CAD8B3-C4EA-3BA4-0DC8-49EFB7EC7AC8}"/>
              </a:ext>
            </a:extLst>
          </p:cNvPr>
          <p:cNvSpPr>
            <a:spLocks noGrp="1"/>
          </p:cNvSpPr>
          <p:nvPr>
            <p:ph type="dt" idx="1"/>
          </p:nvPr>
        </p:nvSpPr>
        <p:spPr/>
        <p:txBody>
          <a:bodyPr/>
          <a:lstStyle/>
          <a:p>
            <a:pPr>
              <a:defRPr/>
            </a:pPr>
            <a:endParaRPr lang="en-US"/>
          </a:p>
        </p:txBody>
      </p:sp>
      <p:sp>
        <p:nvSpPr>
          <p:cNvPr id="6" name="Footer Placeholder 5">
            <a:extLst>
              <a:ext uri="{FF2B5EF4-FFF2-40B4-BE49-F238E27FC236}">
                <a16:creationId xmlns:a16="http://schemas.microsoft.com/office/drawing/2014/main" id="{36F739A1-348F-A21E-8F5E-17F126112014}"/>
              </a:ext>
            </a:extLst>
          </p:cNvPr>
          <p:cNvSpPr>
            <a:spLocks noGrp="1"/>
          </p:cNvSpPr>
          <p:nvPr>
            <p:ph type="ftr" sz="quarter" idx="4"/>
          </p:nvPr>
        </p:nvSpPr>
        <p:spPr/>
        <p:txBody>
          <a:bodyPr/>
          <a:lstStyle/>
          <a:p>
            <a:pPr>
              <a:defRPr/>
            </a:pPr>
            <a:r>
              <a:rPr lang="en-IN"/>
              <a:t>Few-Shot Acoustic Synthesis with Multimodal Flow Matching </a:t>
            </a:r>
            <a:endParaRPr lang="en-US"/>
          </a:p>
        </p:txBody>
      </p:sp>
    </p:spTree>
    <p:extLst>
      <p:ext uri="{BB962C8B-B14F-4D97-AF65-F5344CB8AC3E}">
        <p14:creationId xmlns:p14="http://schemas.microsoft.com/office/powerpoint/2010/main" val="3970699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ub_Name">
    <p:spTree>
      <p:nvGrpSpPr>
        <p:cNvPr id="1" name=""/>
        <p:cNvGrpSpPr/>
        <p:nvPr/>
      </p:nvGrpSpPr>
      <p:grpSpPr>
        <a:xfrm>
          <a:off x="0" y="0"/>
          <a:ext cx="0" cy="0"/>
          <a:chOff x="0" y="0"/>
          <a:chExt cx="0" cy="0"/>
        </a:xfrm>
      </p:grpSpPr>
      <p:sp>
        <p:nvSpPr>
          <p:cNvPr id="17" name="Content Placeholder 14"/>
          <p:cNvSpPr>
            <a:spLocks noGrp="1"/>
          </p:cNvSpPr>
          <p:nvPr>
            <p:ph sz="quarter" idx="11" hasCustomPrompt="1"/>
          </p:nvPr>
        </p:nvSpPr>
        <p:spPr>
          <a:xfrm>
            <a:off x="488949" y="4689476"/>
            <a:ext cx="11271251" cy="457200"/>
          </a:xfrm>
          <a:prstGeom prst="rect">
            <a:avLst/>
          </a:prstGeom>
        </p:spPr>
        <p:txBody>
          <a:bodyPr/>
          <a:lstStyle>
            <a:lvl1pPr marL="0" indent="0" algn="ctr">
              <a:buNone/>
              <a:defRPr sz="2400"/>
            </a:lvl1pPr>
          </a:lstStyle>
          <a:p>
            <a:pPr algn="ctr"/>
            <a:r>
              <a:rPr lang="de-DE" sz="2400" err="1">
                <a:latin typeface="Arial" panose="020B0604020202020204" pitchFamily="34" charset="0"/>
              </a:rPr>
              <a:t>Presenter‘s</a:t>
            </a:r>
            <a:r>
              <a:rPr lang="de-DE" sz="2400">
                <a:latin typeface="Arial" panose="020B0604020202020204" pitchFamily="34" charset="0"/>
              </a:rPr>
              <a:t> Name</a:t>
            </a:r>
            <a:endParaRPr lang="en-US" sz="2400">
              <a:latin typeface="Arial" panose="020B0604020202020204" pitchFamily="34" charset="0"/>
            </a:endParaRPr>
          </a:p>
        </p:txBody>
      </p:sp>
      <p:sp>
        <p:nvSpPr>
          <p:cNvPr id="15" name="Content Placeholder 14"/>
          <p:cNvSpPr>
            <a:spLocks noGrp="1"/>
          </p:cNvSpPr>
          <p:nvPr>
            <p:ph sz="quarter" idx="10" hasCustomPrompt="1"/>
          </p:nvPr>
        </p:nvSpPr>
        <p:spPr>
          <a:xfrm>
            <a:off x="1828800" y="3686176"/>
            <a:ext cx="8534400" cy="460035"/>
          </a:xfrm>
          <a:prstGeom prst="rect">
            <a:avLst/>
          </a:prstGeom>
        </p:spPr>
        <p:txBody>
          <a:bodyPr/>
          <a:lstStyle>
            <a:lvl1pPr marL="0" indent="0" algn="ctr">
              <a:buNone/>
              <a:defRPr sz="2800"/>
            </a:lvl1pPr>
          </a:lstStyle>
          <a:p>
            <a:pPr lvl="0"/>
            <a:r>
              <a:rPr lang="en-US"/>
              <a:t>Amandine Brunetto</a:t>
            </a:r>
          </a:p>
        </p:txBody>
      </p:sp>
      <p:sp>
        <p:nvSpPr>
          <p:cNvPr id="9" name="Title 8"/>
          <p:cNvSpPr>
            <a:spLocks noGrp="1"/>
          </p:cNvSpPr>
          <p:nvPr>
            <p:ph type="title" hasCustomPrompt="1"/>
          </p:nvPr>
        </p:nvSpPr>
        <p:spPr>
          <a:xfrm>
            <a:off x="230910" y="2130426"/>
            <a:ext cx="11529290" cy="1470025"/>
          </a:xfrm>
          <a:prstGeom prst="rect">
            <a:avLst/>
          </a:prstGeom>
        </p:spPr>
        <p:txBody>
          <a:bodyPr/>
          <a:lstStyle>
            <a:lvl1pPr algn="ctr">
              <a:defRPr sz="2800"/>
            </a:lvl1pPr>
          </a:lstStyle>
          <a:p>
            <a:pPr eaLnBrk="1" hangingPunct="1"/>
            <a:r>
              <a:rPr lang="en-US" sz="3200" kern="0">
                <a:solidFill>
                  <a:srgbClr val="ED8C01"/>
                </a:solidFill>
              </a:rPr>
              <a:t>Few-Shot Acoustic Synthesis with Multimodal Flow Matching </a:t>
            </a:r>
          </a:p>
        </p:txBody>
      </p:sp>
    </p:spTree>
    <p:extLst>
      <p:ext uri="{BB962C8B-B14F-4D97-AF65-F5344CB8AC3E}">
        <p14:creationId xmlns:p14="http://schemas.microsoft.com/office/powerpoint/2010/main" val="1100323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1"/>
            <a:ext cx="10363200" cy="1362075"/>
          </a:xfrm>
        </p:spPr>
        <p:txBody>
          <a:bodyPr/>
          <a:lstStyle>
            <a:lvl1pPr algn="l">
              <a:defRPr sz="4000" b="1" cap="all">
                <a:solidFill>
                  <a:srgbClr val="ED8C01"/>
                </a:solidFill>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de-DE"/>
          </a:p>
        </p:txBody>
      </p:sp>
      <p:sp>
        <p:nvSpPr>
          <p:cNvPr id="3" name="Textplatzhalt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err="1"/>
              <a:t>Textmasterformate</a:t>
            </a:r>
            <a:r>
              <a:rPr lang="en-US"/>
              <a:t> </a:t>
            </a:r>
            <a:r>
              <a:rPr lang="en-US" err="1"/>
              <a:t>durch</a:t>
            </a:r>
            <a:r>
              <a:rPr lang="en-US"/>
              <a:t> </a:t>
            </a:r>
            <a:r>
              <a:rPr lang="en-US" err="1"/>
              <a:t>Klicken</a:t>
            </a:r>
            <a:r>
              <a:rPr lang="en-US"/>
              <a:t> </a:t>
            </a:r>
            <a:r>
              <a:rPr lang="en-US" err="1"/>
              <a:t>bearbeiten</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C9301"/>
                </a:solidFill>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de-DE"/>
          </a:p>
        </p:txBody>
      </p:sp>
      <p:sp>
        <p:nvSpPr>
          <p:cNvPr id="3" name="Inhaltsplatzhalter 2"/>
          <p:cNvSpPr>
            <a:spLocks noGrp="1"/>
          </p:cNvSpPr>
          <p:nvPr>
            <p:ph idx="1"/>
          </p:nvPr>
        </p:nvSpPr>
        <p:spPr/>
        <p:txBody>
          <a:bodyPr/>
          <a:lstStyle>
            <a:lvl2pPr>
              <a:buClr>
                <a:srgbClr val="707070"/>
              </a:buClr>
              <a:defRPr/>
            </a:lvl2pPr>
          </a:lstStyle>
          <a:p>
            <a:pPr lvl="0"/>
            <a:r>
              <a:rPr lang="en-US" err="1"/>
              <a:t>Textmasterformate</a:t>
            </a:r>
            <a:r>
              <a:rPr lang="en-US"/>
              <a:t> </a:t>
            </a:r>
            <a:r>
              <a:rPr lang="en-US" err="1"/>
              <a:t>durch</a:t>
            </a:r>
            <a:r>
              <a:rPr lang="en-US"/>
              <a:t> </a:t>
            </a:r>
            <a:r>
              <a:rPr lang="en-US" err="1"/>
              <a:t>Klicken</a:t>
            </a:r>
            <a:r>
              <a:rPr lang="en-US"/>
              <a:t> </a:t>
            </a:r>
            <a:r>
              <a:rPr lang="en-US" err="1"/>
              <a:t>bearbeiten</a:t>
            </a:r>
            <a:endParaRPr lang="en-US"/>
          </a:p>
          <a:p>
            <a:pPr lvl="1"/>
            <a:r>
              <a:rPr lang="en-US" err="1"/>
              <a:t>Zweite</a:t>
            </a:r>
            <a:r>
              <a:rPr lang="en-US"/>
              <a:t> </a:t>
            </a:r>
            <a:r>
              <a:rPr lang="en-US" err="1"/>
              <a:t>Ebene</a:t>
            </a:r>
            <a:endParaRPr lang="en-US"/>
          </a:p>
          <a:p>
            <a:pPr lvl="2"/>
            <a:r>
              <a:rPr lang="en-US" err="1"/>
              <a:t>Dritte</a:t>
            </a:r>
            <a:r>
              <a:rPr lang="en-US"/>
              <a:t> </a:t>
            </a:r>
            <a:r>
              <a:rPr lang="en-US" err="1"/>
              <a:t>Ebene</a:t>
            </a:r>
            <a:endParaRPr lang="en-US"/>
          </a:p>
          <a:p>
            <a:pPr lvl="3"/>
            <a:r>
              <a:rPr lang="en-US" err="1"/>
              <a:t>Vierte</a:t>
            </a:r>
            <a:r>
              <a:rPr lang="en-US"/>
              <a:t> </a:t>
            </a:r>
            <a:r>
              <a:rPr lang="en-US" err="1"/>
              <a:t>Ebene</a:t>
            </a:r>
            <a:endParaRPr lang="en-US"/>
          </a:p>
          <a:p>
            <a:pPr lvl="4"/>
            <a:r>
              <a:rPr lang="en-US" err="1"/>
              <a:t>Fünfte</a:t>
            </a:r>
            <a:r>
              <a:rPr lang="en-US"/>
              <a:t> </a:t>
            </a:r>
            <a:r>
              <a:rPr lang="en-US" err="1"/>
              <a:t>Ebene</a:t>
            </a: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Titelmasterformat durch Klicken bearbeiten</a:t>
            </a:r>
            <a:endParaRPr lang="de-DE"/>
          </a:p>
        </p:txBody>
      </p:sp>
      <p:sp>
        <p:nvSpPr>
          <p:cNvPr id="3" name="Inhaltsplatzhalter 2"/>
          <p:cNvSpPr>
            <a:spLocks noGrp="1"/>
          </p:cNvSpPr>
          <p:nvPr>
            <p:ph sz="half" idx="1"/>
          </p:nvPr>
        </p:nvSpPr>
        <p:spPr>
          <a:xfrm>
            <a:off x="334434" y="1654175"/>
            <a:ext cx="5611284" cy="4308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
        <p:nvSpPr>
          <p:cNvPr id="4" name="Inhaltsplatzhalter 3"/>
          <p:cNvSpPr>
            <a:spLocks noGrp="1"/>
          </p:cNvSpPr>
          <p:nvPr>
            <p:ph sz="half" idx="2"/>
          </p:nvPr>
        </p:nvSpPr>
        <p:spPr>
          <a:xfrm>
            <a:off x="6148917" y="1654175"/>
            <a:ext cx="5611283" cy="4308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09600" y="274638"/>
            <a:ext cx="10972800" cy="1143000"/>
          </a:xfrm>
        </p:spPr>
        <p:txBody>
          <a:bodyPr/>
          <a:lstStyle>
            <a:lvl1pPr>
              <a:defRPr/>
            </a:lvl1pPr>
          </a:lstStyle>
          <a:p>
            <a:r>
              <a:rPr lang="en-US"/>
              <a:t>Titelmasterformat durch Klicken bearbeiten</a:t>
            </a:r>
            <a:endParaRPr lang="de-DE"/>
          </a:p>
        </p:txBody>
      </p:sp>
      <p:sp>
        <p:nvSpPr>
          <p:cNvPr id="3" name="Textplatzhalt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Textmasterformate durch Klicken bearbeiten</a:t>
            </a:r>
          </a:p>
        </p:txBody>
      </p:sp>
      <p:sp>
        <p:nvSpPr>
          <p:cNvPr id="4" name="Inhaltsplatzhalt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
        <p:nvSpPr>
          <p:cNvPr id="5" name="Textplatzhalt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Textmasterformate durch Klicken bearbeiten</a:t>
            </a:r>
          </a:p>
        </p:txBody>
      </p:sp>
      <p:sp>
        <p:nvSpPr>
          <p:cNvPr id="6" name="Inhaltsplatzhalt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D8C01"/>
                </a:solidFill>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09601" y="273050"/>
            <a:ext cx="4011084" cy="1162050"/>
          </a:xfrm>
        </p:spPr>
        <p:txBody>
          <a:bodyPr anchor="b"/>
          <a:lstStyle>
            <a:lvl1pPr algn="l">
              <a:defRPr sz="2000" b="1"/>
            </a:lvl1pPr>
          </a:lstStyle>
          <a:p>
            <a:r>
              <a:rPr lang="en-US"/>
              <a:t>Titelmasterformat durch Klicken bearbeiten</a:t>
            </a:r>
            <a:endParaRPr lang="de-DE"/>
          </a:p>
        </p:txBody>
      </p:sp>
      <p:sp>
        <p:nvSpPr>
          <p:cNvPr id="3" name="Inhaltsplatzhalt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err="1"/>
              <a:t>Textmasterformate</a:t>
            </a:r>
            <a:r>
              <a:rPr lang="en-US"/>
              <a:t> </a:t>
            </a:r>
            <a:r>
              <a:rPr lang="en-US" err="1"/>
              <a:t>durch</a:t>
            </a:r>
            <a:r>
              <a:rPr lang="en-US"/>
              <a:t> </a:t>
            </a:r>
            <a:r>
              <a:rPr lang="en-US" err="1"/>
              <a:t>Klicken</a:t>
            </a:r>
            <a:r>
              <a:rPr lang="en-US"/>
              <a:t> </a:t>
            </a:r>
            <a:r>
              <a:rPr lang="en-US" err="1"/>
              <a:t>bearbeiten</a:t>
            </a:r>
            <a:endParaRPr lang="en-US"/>
          </a:p>
          <a:p>
            <a:pPr lvl="1"/>
            <a:r>
              <a:rPr lang="en-US" err="1"/>
              <a:t>Zweite</a:t>
            </a:r>
            <a:r>
              <a:rPr lang="en-US"/>
              <a:t> </a:t>
            </a:r>
            <a:r>
              <a:rPr lang="en-US" err="1"/>
              <a:t>Ebene</a:t>
            </a:r>
            <a:endParaRPr lang="en-US"/>
          </a:p>
          <a:p>
            <a:pPr lvl="2"/>
            <a:r>
              <a:rPr lang="en-US" err="1"/>
              <a:t>Dritte</a:t>
            </a:r>
            <a:r>
              <a:rPr lang="en-US"/>
              <a:t> </a:t>
            </a:r>
            <a:r>
              <a:rPr lang="en-US" err="1"/>
              <a:t>Ebene</a:t>
            </a:r>
            <a:endParaRPr lang="en-US"/>
          </a:p>
          <a:p>
            <a:pPr lvl="3"/>
            <a:r>
              <a:rPr lang="en-US" err="1"/>
              <a:t>Vierte</a:t>
            </a:r>
            <a:r>
              <a:rPr lang="en-US"/>
              <a:t> </a:t>
            </a:r>
            <a:r>
              <a:rPr lang="en-US" err="1"/>
              <a:t>Ebene</a:t>
            </a:r>
            <a:endParaRPr lang="en-US"/>
          </a:p>
          <a:p>
            <a:pPr lvl="4"/>
            <a:r>
              <a:rPr lang="en-US" err="1"/>
              <a:t>Fünfte</a:t>
            </a:r>
            <a:r>
              <a:rPr lang="en-US"/>
              <a:t> </a:t>
            </a:r>
            <a:r>
              <a:rPr lang="en-US" err="1"/>
              <a:t>Ebene</a:t>
            </a:r>
            <a:endParaRPr lang="de-DE"/>
          </a:p>
        </p:txBody>
      </p:sp>
      <p:sp>
        <p:nvSpPr>
          <p:cNvPr id="4" name="Textplatzhalt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err="1"/>
              <a:t>Textmasterformate</a:t>
            </a:r>
            <a:r>
              <a:rPr lang="en-US"/>
              <a:t> </a:t>
            </a:r>
            <a:r>
              <a:rPr lang="en-US" err="1"/>
              <a:t>durch</a:t>
            </a:r>
            <a:r>
              <a:rPr lang="en-US"/>
              <a:t> </a:t>
            </a:r>
            <a:r>
              <a:rPr lang="en-US" err="1"/>
              <a:t>Klicken</a:t>
            </a:r>
            <a:r>
              <a:rPr lang="en-US"/>
              <a:t> </a:t>
            </a:r>
            <a:r>
              <a:rPr lang="en-US" err="1"/>
              <a:t>bearbeiten</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nchor="b"/>
          <a:lstStyle>
            <a:lvl1pPr algn="l">
              <a:defRPr sz="2000" b="1"/>
            </a:lvl1pPr>
          </a:lstStyle>
          <a:p>
            <a:r>
              <a:rPr lang="en-US"/>
              <a:t>Titelmasterformat durch Klicken bearbeiten</a:t>
            </a:r>
            <a:endParaRPr lang="de-DE"/>
          </a:p>
        </p:txBody>
      </p:sp>
      <p:sp>
        <p:nvSpPr>
          <p:cNvPr id="3" name="Bildplatzhalt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Textmasterformate durch Klicken bearbeiten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de-DE"/>
          </a:p>
        </p:txBody>
      </p:sp>
      <p:sp>
        <p:nvSpPr>
          <p:cNvPr id="3" name="Vertikaler Textplatzhalter 2"/>
          <p:cNvSpPr>
            <a:spLocks noGrp="1"/>
          </p:cNvSpPr>
          <p:nvPr>
            <p:ph type="body" orient="vert" idx="1"/>
          </p:nvPr>
        </p:nvSpPr>
        <p:spPr/>
        <p:txBody>
          <a:bodyPr vert="eaVert"/>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904818" y="365126"/>
            <a:ext cx="2855383" cy="5597525"/>
          </a:xfrm>
        </p:spPr>
        <p:txBody>
          <a:bodyPr vert="eaVert"/>
          <a:lstStyle>
            <a:lvl1pPr>
              <a:defRPr>
                <a:solidFill>
                  <a:srgbClr val="ED8C01"/>
                </a:solidFill>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de-DE"/>
          </a:p>
        </p:txBody>
      </p:sp>
      <p:sp>
        <p:nvSpPr>
          <p:cNvPr id="3" name="Vertikaler Textplatzhalter 2"/>
          <p:cNvSpPr>
            <a:spLocks noGrp="1"/>
          </p:cNvSpPr>
          <p:nvPr>
            <p:ph type="body" orient="vert" idx="1"/>
          </p:nvPr>
        </p:nvSpPr>
        <p:spPr>
          <a:xfrm>
            <a:off x="334433" y="365126"/>
            <a:ext cx="8367184" cy="5597525"/>
          </a:xfrm>
        </p:spPr>
        <p:txBody>
          <a:bodyPr vert="eaVert"/>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_Sub_Name">
    <p:spTree>
      <p:nvGrpSpPr>
        <p:cNvPr id="1" name=""/>
        <p:cNvGrpSpPr/>
        <p:nvPr/>
      </p:nvGrpSpPr>
      <p:grpSpPr>
        <a:xfrm>
          <a:off x="0" y="0"/>
          <a:ext cx="0" cy="0"/>
          <a:chOff x="0" y="0"/>
          <a:chExt cx="0" cy="0"/>
        </a:xfrm>
      </p:grpSpPr>
      <p:sp>
        <p:nvSpPr>
          <p:cNvPr id="3" name="Rectangle 4"/>
          <p:cNvSpPr txBox="1">
            <a:spLocks noChangeArrowheads="1"/>
          </p:cNvSpPr>
          <p:nvPr userDrawn="1"/>
        </p:nvSpPr>
        <p:spPr>
          <a:xfrm>
            <a:off x="488953" y="2130426"/>
            <a:ext cx="11271248" cy="1470025"/>
          </a:xfrm>
          <a:prstGeom prst="rect">
            <a:avLst/>
          </a:prstGeom>
        </p:spPr>
        <p:txBody>
          <a:bodyPr/>
          <a:lstStyle>
            <a:lvl1pPr algn="l" rtl="0" eaLnBrk="0" fontAlgn="base" hangingPunct="0">
              <a:spcBef>
                <a:spcPct val="0"/>
              </a:spcBef>
              <a:spcAft>
                <a:spcPct val="0"/>
              </a:spcAft>
              <a:defRPr sz="2800">
                <a:solidFill>
                  <a:srgbClr val="EC9313"/>
                </a:solidFill>
                <a:latin typeface="+mj-lt"/>
                <a:ea typeface="+mj-ea"/>
                <a:cs typeface="+mj-cs"/>
              </a:defRPr>
            </a:lvl1pPr>
            <a:lvl2pPr algn="l" rtl="0" eaLnBrk="0" fontAlgn="base" hangingPunct="0">
              <a:spcBef>
                <a:spcPct val="0"/>
              </a:spcBef>
              <a:spcAft>
                <a:spcPct val="0"/>
              </a:spcAft>
              <a:defRPr sz="2800">
                <a:solidFill>
                  <a:srgbClr val="EC9313"/>
                </a:solidFill>
                <a:latin typeface="Arial" charset="0"/>
              </a:defRPr>
            </a:lvl2pPr>
            <a:lvl3pPr algn="l" rtl="0" eaLnBrk="0" fontAlgn="base" hangingPunct="0">
              <a:spcBef>
                <a:spcPct val="0"/>
              </a:spcBef>
              <a:spcAft>
                <a:spcPct val="0"/>
              </a:spcAft>
              <a:defRPr sz="2800">
                <a:solidFill>
                  <a:srgbClr val="EC9313"/>
                </a:solidFill>
                <a:latin typeface="Arial" charset="0"/>
              </a:defRPr>
            </a:lvl3pPr>
            <a:lvl4pPr algn="l" rtl="0" eaLnBrk="0" fontAlgn="base" hangingPunct="0">
              <a:spcBef>
                <a:spcPct val="0"/>
              </a:spcBef>
              <a:spcAft>
                <a:spcPct val="0"/>
              </a:spcAft>
              <a:defRPr sz="2800">
                <a:solidFill>
                  <a:srgbClr val="EC9313"/>
                </a:solidFill>
                <a:latin typeface="Arial" charset="0"/>
              </a:defRPr>
            </a:lvl4pPr>
            <a:lvl5pPr algn="l" rtl="0" eaLnBrk="0" fontAlgn="base" hangingPunct="0">
              <a:spcBef>
                <a:spcPct val="0"/>
              </a:spcBef>
              <a:spcAft>
                <a:spcPct val="0"/>
              </a:spcAft>
              <a:defRPr sz="2800">
                <a:solidFill>
                  <a:srgbClr val="EC9313"/>
                </a:solidFill>
                <a:latin typeface="Arial" charset="0"/>
              </a:defRPr>
            </a:lvl5pPr>
            <a:lvl6pPr marL="457200" algn="l" rtl="0" fontAlgn="base">
              <a:spcBef>
                <a:spcPct val="0"/>
              </a:spcBef>
              <a:spcAft>
                <a:spcPct val="0"/>
              </a:spcAft>
              <a:defRPr sz="3200" b="1">
                <a:solidFill>
                  <a:srgbClr val="EC9313"/>
                </a:solidFill>
                <a:latin typeface="Arial" charset="0"/>
              </a:defRPr>
            </a:lvl6pPr>
            <a:lvl7pPr marL="914400" algn="l" rtl="0" fontAlgn="base">
              <a:spcBef>
                <a:spcPct val="0"/>
              </a:spcBef>
              <a:spcAft>
                <a:spcPct val="0"/>
              </a:spcAft>
              <a:defRPr sz="3200" b="1">
                <a:solidFill>
                  <a:srgbClr val="EC9313"/>
                </a:solidFill>
                <a:latin typeface="Arial" charset="0"/>
              </a:defRPr>
            </a:lvl7pPr>
            <a:lvl8pPr marL="1371600" algn="l" rtl="0" fontAlgn="base">
              <a:spcBef>
                <a:spcPct val="0"/>
              </a:spcBef>
              <a:spcAft>
                <a:spcPct val="0"/>
              </a:spcAft>
              <a:defRPr sz="3200" b="1">
                <a:solidFill>
                  <a:srgbClr val="EC9313"/>
                </a:solidFill>
                <a:latin typeface="Arial" charset="0"/>
              </a:defRPr>
            </a:lvl8pPr>
            <a:lvl9pPr marL="1828800" algn="l" rtl="0" fontAlgn="base">
              <a:spcBef>
                <a:spcPct val="0"/>
              </a:spcBef>
              <a:spcAft>
                <a:spcPct val="0"/>
              </a:spcAft>
              <a:defRPr sz="3200" b="1">
                <a:solidFill>
                  <a:srgbClr val="EC9313"/>
                </a:solidFill>
                <a:latin typeface="Arial" charset="0"/>
              </a:defRPr>
            </a:lvl9pPr>
          </a:lstStyle>
          <a:p>
            <a:pPr algn="ctr" eaLnBrk="1" hangingPunct="1"/>
            <a:r>
              <a:rPr lang="en-US" sz="3200" kern="0">
                <a:solidFill>
                  <a:srgbClr val="ED8C01"/>
                </a:solidFill>
              </a:rPr>
              <a:t>Few-Shot Acoustic Synthesis with Multimodal Flow Matching</a:t>
            </a:r>
          </a:p>
        </p:txBody>
      </p:sp>
      <p:sp>
        <p:nvSpPr>
          <p:cNvPr id="4" name="Rectangle 5"/>
          <p:cNvSpPr txBox="1">
            <a:spLocks noChangeArrowheads="1"/>
          </p:cNvSpPr>
          <p:nvPr userDrawn="1"/>
        </p:nvSpPr>
        <p:spPr>
          <a:xfrm>
            <a:off x="1828800" y="3686176"/>
            <a:ext cx="8534400" cy="1952625"/>
          </a:xfrm>
          <a:prstGeom prst="rect">
            <a:avLst/>
          </a:prstGeom>
        </p:spPr>
        <p:txBody>
          <a:bodyPr/>
          <a:lstStyle>
            <a:lvl1pPr marL="269875" indent="-269875" algn="l" rtl="0" eaLnBrk="0" fontAlgn="base" hangingPunct="0">
              <a:lnSpc>
                <a:spcPct val="110000"/>
              </a:lnSpc>
              <a:spcBef>
                <a:spcPct val="20000"/>
              </a:spcBef>
              <a:spcAft>
                <a:spcPct val="0"/>
              </a:spcAft>
              <a:buClr>
                <a:srgbClr val="ED8C01"/>
              </a:buClr>
              <a:buFont typeface="Wingdings" pitchFamily="2" charset="2"/>
              <a:buChar char="§"/>
              <a:defRPr sz="2400">
                <a:solidFill>
                  <a:schemeClr val="tx1"/>
                </a:solidFill>
                <a:latin typeface="+mn-lt"/>
                <a:ea typeface="+mn-ea"/>
                <a:cs typeface="+mn-cs"/>
              </a:defRPr>
            </a:lvl1pPr>
            <a:lvl2pPr marL="720725" indent="-271463" algn="l" rtl="0" eaLnBrk="0" fontAlgn="base" hangingPunct="0">
              <a:lnSpc>
                <a:spcPct val="110000"/>
              </a:lnSpc>
              <a:spcBef>
                <a:spcPct val="20000"/>
              </a:spcBef>
              <a:spcAft>
                <a:spcPct val="0"/>
              </a:spcAft>
              <a:buClr>
                <a:srgbClr val="626262"/>
              </a:buClr>
              <a:buFont typeface="Wingdings" pitchFamily="2" charset="2"/>
              <a:buChar char="§"/>
              <a:defRPr sz="2000">
                <a:solidFill>
                  <a:schemeClr val="tx1"/>
                </a:solidFill>
                <a:latin typeface="+mn-lt"/>
              </a:defRPr>
            </a:lvl2pPr>
            <a:lvl3pPr marL="1163638" indent="-263525" algn="l" rtl="0" eaLnBrk="0" fontAlgn="base" hangingPunct="0">
              <a:lnSpc>
                <a:spcPct val="110000"/>
              </a:lnSpc>
              <a:spcBef>
                <a:spcPct val="20000"/>
              </a:spcBef>
              <a:spcAft>
                <a:spcPct val="0"/>
              </a:spcAft>
              <a:buClr>
                <a:srgbClr val="626262"/>
              </a:buClr>
              <a:buFont typeface="Wingdings" pitchFamily="2" charset="2"/>
              <a:buChar char="§"/>
              <a:defRPr sz="2000">
                <a:solidFill>
                  <a:schemeClr val="tx1"/>
                </a:solidFill>
                <a:latin typeface="+mn-lt"/>
              </a:defRPr>
            </a:lvl3pPr>
            <a:lvl4pPr marL="1614488" indent="-271463" algn="l" rtl="0" eaLnBrk="0" fontAlgn="base" hangingPunct="0">
              <a:lnSpc>
                <a:spcPct val="110000"/>
              </a:lnSpc>
              <a:spcBef>
                <a:spcPct val="20000"/>
              </a:spcBef>
              <a:spcAft>
                <a:spcPct val="0"/>
              </a:spcAft>
              <a:buClr>
                <a:srgbClr val="626262"/>
              </a:buClr>
              <a:buFont typeface="Wingdings" pitchFamily="2" charset="2"/>
              <a:buChar char="§"/>
              <a:defRPr sz="2000">
                <a:solidFill>
                  <a:schemeClr val="tx1"/>
                </a:solidFill>
                <a:latin typeface="+mn-lt"/>
              </a:defRPr>
            </a:lvl4pPr>
            <a:lvl5pPr marL="1974850" indent="-180975" algn="l" rtl="0" eaLnBrk="0" fontAlgn="base" hangingPunct="0">
              <a:lnSpc>
                <a:spcPct val="110000"/>
              </a:lnSpc>
              <a:spcBef>
                <a:spcPct val="20000"/>
              </a:spcBef>
              <a:spcAft>
                <a:spcPct val="0"/>
              </a:spcAft>
              <a:buClr>
                <a:srgbClr val="626262"/>
              </a:buClr>
              <a:buFont typeface="Wingdings" pitchFamily="2" charset="2"/>
              <a:buChar char="§"/>
              <a:defRPr sz="2000">
                <a:solidFill>
                  <a:schemeClr val="tx1"/>
                </a:solidFill>
                <a:latin typeface="+mn-lt"/>
              </a:defRPr>
            </a:lvl5pPr>
            <a:lvl6pPr marL="24320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6pPr>
            <a:lvl7pPr marL="28892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7pPr>
            <a:lvl8pPr marL="33464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8pPr>
            <a:lvl9pPr marL="38036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9pPr>
          </a:lstStyle>
          <a:p>
            <a:pPr marL="0" indent="0" algn="ctr" eaLnBrk="1" hangingPunct="1">
              <a:lnSpc>
                <a:spcPct val="100000"/>
              </a:lnSpc>
              <a:buNone/>
            </a:pPr>
            <a:r>
              <a:rPr lang="en-US" sz="2800" kern="0"/>
              <a:t>Subtitle</a:t>
            </a:r>
          </a:p>
        </p:txBody>
      </p:sp>
      <p:sp>
        <p:nvSpPr>
          <p:cNvPr id="5" name="Text Box 6"/>
          <p:cNvSpPr txBox="1">
            <a:spLocks noChangeArrowheads="1"/>
          </p:cNvSpPr>
          <p:nvPr userDrawn="1"/>
        </p:nvSpPr>
        <p:spPr bwMode="auto">
          <a:xfrm>
            <a:off x="488952" y="4689475"/>
            <a:ext cx="11271249" cy="457200"/>
          </a:xfrm>
          <a:prstGeom prst="rect">
            <a:avLst/>
          </a:prstGeom>
          <a:noFill/>
          <a:ln w="9525">
            <a:noFill/>
            <a:miter lim="800000"/>
            <a:headEnd/>
            <a:tailEnd/>
          </a:ln>
        </p:spPr>
        <p:txBody>
          <a:bodyPr>
            <a:spAutoFit/>
          </a:bodyPr>
          <a:lstStyle/>
          <a:p>
            <a:pPr algn="ctr"/>
            <a:r>
              <a:rPr lang="de-DE" sz="2400" err="1">
                <a:latin typeface="Arial" panose="020B0604020202020204" pitchFamily="34" charset="0"/>
              </a:rPr>
              <a:t>Presenter‘s</a:t>
            </a:r>
            <a:r>
              <a:rPr lang="de-DE" sz="2400">
                <a:latin typeface="Arial" panose="020B0604020202020204" pitchFamily="34" charset="0"/>
              </a:rPr>
              <a:t> Name</a:t>
            </a:r>
            <a:endParaRPr lang="en-US" sz="2400">
              <a:latin typeface="Arial" panose="020B0604020202020204" pitchFamily="34" charset="0"/>
            </a:endParaRPr>
          </a:p>
        </p:txBody>
      </p:sp>
    </p:spTree>
    <p:extLst>
      <p:ext uri="{BB962C8B-B14F-4D97-AF65-F5344CB8AC3E}">
        <p14:creationId xmlns:p14="http://schemas.microsoft.com/office/powerpoint/2010/main" val="12670705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_Name">
    <p:spTree>
      <p:nvGrpSpPr>
        <p:cNvPr id="1" name=""/>
        <p:cNvGrpSpPr/>
        <p:nvPr/>
      </p:nvGrpSpPr>
      <p:grpSpPr>
        <a:xfrm>
          <a:off x="0" y="0"/>
          <a:ext cx="0" cy="0"/>
          <a:chOff x="0" y="0"/>
          <a:chExt cx="0" cy="0"/>
        </a:xfrm>
      </p:grpSpPr>
      <p:sp>
        <p:nvSpPr>
          <p:cNvPr id="17" name="Content Placeholder 14"/>
          <p:cNvSpPr>
            <a:spLocks noGrp="1"/>
          </p:cNvSpPr>
          <p:nvPr>
            <p:ph sz="quarter" idx="11" hasCustomPrompt="1"/>
          </p:nvPr>
        </p:nvSpPr>
        <p:spPr>
          <a:xfrm>
            <a:off x="488949" y="4689476"/>
            <a:ext cx="11271251" cy="457200"/>
          </a:xfrm>
          <a:prstGeom prst="rect">
            <a:avLst/>
          </a:prstGeom>
        </p:spPr>
        <p:txBody>
          <a:bodyPr/>
          <a:lstStyle>
            <a:lvl1pPr marL="0" indent="0" algn="ctr">
              <a:buNone/>
              <a:defRPr sz="2400"/>
            </a:lvl1pPr>
          </a:lstStyle>
          <a:p>
            <a:pPr algn="ctr"/>
            <a:r>
              <a:rPr lang="en-US" sz="2400">
                <a:latin typeface="Arial" panose="020B0604020202020204" pitchFamily="34" charset="0"/>
              </a:rPr>
              <a:t>Olivia </a:t>
            </a:r>
            <a:r>
              <a:rPr lang="en-US" sz="2400" err="1">
                <a:latin typeface="Arial" panose="020B0604020202020204" pitchFamily="34" charset="0"/>
              </a:rPr>
              <a:t>Gijo</a:t>
            </a:r>
            <a:endParaRPr lang="en-US" sz="2400">
              <a:latin typeface="Arial" panose="020B0604020202020204" pitchFamily="34" charset="0"/>
            </a:endParaRPr>
          </a:p>
        </p:txBody>
      </p:sp>
      <p:sp>
        <p:nvSpPr>
          <p:cNvPr id="15" name="Content Placeholder 14"/>
          <p:cNvSpPr>
            <a:spLocks noGrp="1"/>
          </p:cNvSpPr>
          <p:nvPr>
            <p:ph sz="quarter" idx="10" hasCustomPrompt="1"/>
          </p:nvPr>
        </p:nvSpPr>
        <p:spPr>
          <a:xfrm>
            <a:off x="1828800" y="3686176"/>
            <a:ext cx="8534400" cy="460035"/>
          </a:xfrm>
          <a:prstGeom prst="rect">
            <a:avLst/>
          </a:prstGeom>
        </p:spPr>
        <p:txBody>
          <a:bodyPr/>
          <a:lstStyle>
            <a:lvl1pPr marL="0" indent="0" algn="ctr">
              <a:buNone/>
              <a:defRPr sz="2800"/>
            </a:lvl1pPr>
          </a:lstStyle>
          <a:p>
            <a:pPr lvl="0"/>
            <a:r>
              <a:rPr lang="en-US"/>
              <a:t>Amandine Brunetto</a:t>
            </a:r>
          </a:p>
        </p:txBody>
      </p:sp>
      <p:sp>
        <p:nvSpPr>
          <p:cNvPr id="9" name="Title 8"/>
          <p:cNvSpPr>
            <a:spLocks noGrp="1"/>
          </p:cNvSpPr>
          <p:nvPr>
            <p:ph type="title" hasCustomPrompt="1"/>
          </p:nvPr>
        </p:nvSpPr>
        <p:spPr>
          <a:xfrm>
            <a:off x="415636" y="2130426"/>
            <a:ext cx="11508509" cy="1470025"/>
          </a:xfrm>
          <a:prstGeom prst="rect">
            <a:avLst/>
          </a:prstGeom>
        </p:spPr>
        <p:txBody>
          <a:bodyPr/>
          <a:lstStyle>
            <a:lvl1pPr algn="ctr">
              <a:defRPr sz="2800"/>
            </a:lvl1pPr>
          </a:lstStyle>
          <a:p>
            <a:pPr eaLnBrk="1" hangingPunct="1"/>
            <a:r>
              <a:rPr lang="en-US" sz="3200" kern="0">
                <a:solidFill>
                  <a:srgbClr val="ED8C01"/>
                </a:solidFill>
              </a:rPr>
              <a:t>Few Shot Acoustic Synthesis with Multimodal Flow Matching</a:t>
            </a:r>
          </a:p>
        </p:txBody>
      </p:sp>
    </p:spTree>
    <p:extLst>
      <p:ext uri="{BB962C8B-B14F-4D97-AF65-F5344CB8AC3E}">
        <p14:creationId xmlns:p14="http://schemas.microsoft.com/office/powerpoint/2010/main" val="38622170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Grafik 4" descr="Ein Bild, das Text enthält.&#10;&#10;Automatisch generierte Beschreibung">
            <a:extLst>
              <a:ext uri="{FF2B5EF4-FFF2-40B4-BE49-F238E27FC236}">
                <a16:creationId xmlns:a16="http://schemas.microsoft.com/office/drawing/2014/main" id="{A488025C-EC2B-0F5C-AC96-7D61A734373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217808" y="6026151"/>
            <a:ext cx="3287518" cy="477837"/>
          </a:xfrm>
          <a:prstGeom prst="rect">
            <a:avLst/>
          </a:prstGeom>
        </p:spPr>
      </p:pic>
      <p:pic>
        <p:nvPicPr>
          <p:cNvPr id="3" name="Picture 21" descr="iis_sw">
            <a:extLst>
              <a:ext uri="{FF2B5EF4-FFF2-40B4-BE49-F238E27FC236}">
                <a16:creationId xmlns:a16="http://schemas.microsoft.com/office/drawing/2014/main" id="{763AF045-4E6A-2362-584E-F449D5B69A99}"/>
              </a:ext>
            </a:extLst>
          </p:cNvPr>
          <p:cNvPicPr>
            <a:picLocks noChangeAspect="1" noChangeArrowheads="1"/>
          </p:cNvPicPr>
          <p:nvPr userDrawn="1"/>
        </p:nvPicPr>
        <p:blipFill>
          <a:blip r:embed="rId4"/>
          <a:srcRect/>
          <a:stretch>
            <a:fillRect/>
          </a:stretch>
        </p:blipFill>
        <p:spPr bwMode="auto">
          <a:xfrm>
            <a:off x="8761217" y="5950744"/>
            <a:ext cx="2212975" cy="628650"/>
          </a:xfrm>
          <a:prstGeom prst="rect">
            <a:avLst/>
          </a:prstGeom>
          <a:noFill/>
          <a:ln w="9525">
            <a:noFill/>
            <a:miter lim="800000"/>
            <a:headEnd/>
            <a:tailEnd/>
          </a:ln>
        </p:spPr>
      </p:pic>
      <p:pic>
        <p:nvPicPr>
          <p:cNvPr id="4" name="Picture 8" descr="header-print-ppt">
            <a:extLst>
              <a:ext uri="{FF2B5EF4-FFF2-40B4-BE49-F238E27FC236}">
                <a16:creationId xmlns:a16="http://schemas.microsoft.com/office/drawing/2014/main" id="{09E3AF0B-0FF8-AB9A-B696-6FBD848B67A8}"/>
              </a:ext>
            </a:extLst>
          </p:cNvPr>
          <p:cNvPicPr>
            <a:picLocks noChangeAspect="1" noChangeArrowheads="1"/>
          </p:cNvPicPr>
          <p:nvPr userDrawn="1"/>
        </p:nvPicPr>
        <p:blipFill rotWithShape="1">
          <a:blip r:embed="rId5"/>
          <a:srcRect l="80447" r="1"/>
          <a:stretch/>
        </p:blipFill>
        <p:spPr bwMode="auto">
          <a:xfrm>
            <a:off x="10404088" y="0"/>
            <a:ext cx="1787912" cy="1023938"/>
          </a:xfrm>
          <a:prstGeom prst="rect">
            <a:avLst/>
          </a:prstGeom>
          <a:noFill/>
          <a:ln w="9525">
            <a:noFill/>
            <a:miter lim="800000"/>
            <a:headEnd/>
            <a:tailEnd/>
          </a:ln>
        </p:spPr>
      </p:pic>
      <p:pic>
        <p:nvPicPr>
          <p:cNvPr id="6" name="Picture 5" descr="header-print-ppt">
            <a:extLst>
              <a:ext uri="{FF2B5EF4-FFF2-40B4-BE49-F238E27FC236}">
                <a16:creationId xmlns:a16="http://schemas.microsoft.com/office/drawing/2014/main" id="{9979DE93-7C25-A014-B715-AFF395B4B57D}"/>
              </a:ext>
            </a:extLst>
          </p:cNvPr>
          <p:cNvPicPr>
            <a:picLocks noChangeAspect="1" noChangeArrowheads="1"/>
          </p:cNvPicPr>
          <p:nvPr userDrawn="1"/>
        </p:nvPicPr>
        <p:blipFill rotWithShape="1">
          <a:blip r:embed="rId5"/>
          <a:srcRect l="38" r="19596"/>
          <a:stretch/>
        </p:blipFill>
        <p:spPr bwMode="auto">
          <a:xfrm>
            <a:off x="0" y="0"/>
            <a:ext cx="7348653" cy="1023938"/>
          </a:xfrm>
          <a:prstGeom prst="rect">
            <a:avLst/>
          </a:prstGeom>
          <a:noFill/>
          <a:ln w="9525">
            <a:noFill/>
            <a:miter lim="800000"/>
            <a:headEnd/>
            <a:tailEnd/>
          </a:ln>
        </p:spPr>
      </p:pic>
    </p:spTree>
    <p:extLst>
      <p:ext uri="{BB962C8B-B14F-4D97-AF65-F5344CB8AC3E}">
        <p14:creationId xmlns:p14="http://schemas.microsoft.com/office/powerpoint/2010/main" val="2877931674"/>
      </p:ext>
    </p:extLst>
  </p:cSld>
  <p:clrMap bg1="lt1" tx1="dk1" bg2="lt2" tx2="dk2" accent1="accent1" accent2="accent2" accent3="accent3" accent4="accent4" accent5="accent5" accent6="accent6" hlink="hlink" folHlink="folHlink"/>
  <p:sldLayoutIdLst>
    <p:sldLayoutId id="2147483668" r:id="rId1"/>
  </p:sldLayoutIdLst>
  <p:hf hdr="0"/>
  <p:txStyles>
    <p:titleStyle>
      <a:lvl1pPr algn="l" rtl="0" eaLnBrk="0" fontAlgn="base" hangingPunct="0">
        <a:spcBef>
          <a:spcPct val="0"/>
        </a:spcBef>
        <a:spcAft>
          <a:spcPct val="0"/>
        </a:spcAft>
        <a:defRPr sz="2800">
          <a:solidFill>
            <a:srgbClr val="EC9313"/>
          </a:solidFill>
          <a:latin typeface="+mj-lt"/>
          <a:ea typeface="+mj-ea"/>
          <a:cs typeface="+mj-cs"/>
        </a:defRPr>
      </a:lvl1pPr>
      <a:lvl2pPr algn="l" rtl="0" eaLnBrk="0" fontAlgn="base" hangingPunct="0">
        <a:spcBef>
          <a:spcPct val="0"/>
        </a:spcBef>
        <a:spcAft>
          <a:spcPct val="0"/>
        </a:spcAft>
        <a:defRPr sz="2800">
          <a:solidFill>
            <a:srgbClr val="EC9313"/>
          </a:solidFill>
          <a:latin typeface="Arial" charset="0"/>
        </a:defRPr>
      </a:lvl2pPr>
      <a:lvl3pPr algn="l" rtl="0" eaLnBrk="0" fontAlgn="base" hangingPunct="0">
        <a:spcBef>
          <a:spcPct val="0"/>
        </a:spcBef>
        <a:spcAft>
          <a:spcPct val="0"/>
        </a:spcAft>
        <a:defRPr sz="2800">
          <a:solidFill>
            <a:srgbClr val="EC9313"/>
          </a:solidFill>
          <a:latin typeface="Arial" charset="0"/>
        </a:defRPr>
      </a:lvl3pPr>
      <a:lvl4pPr algn="l" rtl="0" eaLnBrk="0" fontAlgn="base" hangingPunct="0">
        <a:spcBef>
          <a:spcPct val="0"/>
        </a:spcBef>
        <a:spcAft>
          <a:spcPct val="0"/>
        </a:spcAft>
        <a:defRPr sz="2800">
          <a:solidFill>
            <a:srgbClr val="EC9313"/>
          </a:solidFill>
          <a:latin typeface="Arial" charset="0"/>
        </a:defRPr>
      </a:lvl4pPr>
      <a:lvl5pPr algn="l" rtl="0" eaLnBrk="0" fontAlgn="base" hangingPunct="0">
        <a:spcBef>
          <a:spcPct val="0"/>
        </a:spcBef>
        <a:spcAft>
          <a:spcPct val="0"/>
        </a:spcAft>
        <a:defRPr sz="2800">
          <a:solidFill>
            <a:srgbClr val="EC9313"/>
          </a:solidFill>
          <a:latin typeface="Arial" charset="0"/>
        </a:defRPr>
      </a:lvl5pPr>
      <a:lvl6pPr marL="457200" algn="l" rtl="0" fontAlgn="base">
        <a:spcBef>
          <a:spcPct val="0"/>
        </a:spcBef>
        <a:spcAft>
          <a:spcPct val="0"/>
        </a:spcAft>
        <a:defRPr sz="3200" b="1">
          <a:solidFill>
            <a:srgbClr val="EC9313"/>
          </a:solidFill>
          <a:latin typeface="Arial" charset="0"/>
        </a:defRPr>
      </a:lvl6pPr>
      <a:lvl7pPr marL="914400" algn="l" rtl="0" fontAlgn="base">
        <a:spcBef>
          <a:spcPct val="0"/>
        </a:spcBef>
        <a:spcAft>
          <a:spcPct val="0"/>
        </a:spcAft>
        <a:defRPr sz="3200" b="1">
          <a:solidFill>
            <a:srgbClr val="EC9313"/>
          </a:solidFill>
          <a:latin typeface="Arial" charset="0"/>
        </a:defRPr>
      </a:lvl7pPr>
      <a:lvl8pPr marL="1371600" algn="l" rtl="0" fontAlgn="base">
        <a:spcBef>
          <a:spcPct val="0"/>
        </a:spcBef>
        <a:spcAft>
          <a:spcPct val="0"/>
        </a:spcAft>
        <a:defRPr sz="3200" b="1">
          <a:solidFill>
            <a:srgbClr val="EC9313"/>
          </a:solidFill>
          <a:latin typeface="Arial" charset="0"/>
        </a:defRPr>
      </a:lvl8pPr>
      <a:lvl9pPr marL="1828800" algn="l" rtl="0" fontAlgn="base">
        <a:spcBef>
          <a:spcPct val="0"/>
        </a:spcBef>
        <a:spcAft>
          <a:spcPct val="0"/>
        </a:spcAft>
        <a:defRPr sz="3200" b="1">
          <a:solidFill>
            <a:srgbClr val="EC9313"/>
          </a:solidFill>
          <a:latin typeface="Arial" charset="0"/>
        </a:defRPr>
      </a:lvl9pPr>
    </p:titleStyle>
    <p:bodyStyle>
      <a:lvl1pPr marL="269875" indent="-269875" algn="l" rtl="0" eaLnBrk="0" fontAlgn="base" hangingPunct="0">
        <a:lnSpc>
          <a:spcPct val="110000"/>
        </a:lnSpc>
        <a:spcBef>
          <a:spcPct val="20000"/>
        </a:spcBef>
        <a:spcAft>
          <a:spcPct val="0"/>
        </a:spcAft>
        <a:buClr>
          <a:srgbClr val="ED8C01"/>
        </a:buClr>
        <a:buFont typeface="Wingdings" pitchFamily="2" charset="2"/>
        <a:buChar char="§"/>
        <a:defRPr sz="2400">
          <a:solidFill>
            <a:schemeClr val="tx1"/>
          </a:solidFill>
          <a:latin typeface="+mn-lt"/>
          <a:ea typeface="+mn-ea"/>
          <a:cs typeface="+mn-cs"/>
        </a:defRPr>
      </a:lvl1pPr>
      <a:lvl2pPr marL="720725" indent="-271463" algn="l" rtl="0" eaLnBrk="0" fontAlgn="base" hangingPunct="0">
        <a:lnSpc>
          <a:spcPct val="110000"/>
        </a:lnSpc>
        <a:spcBef>
          <a:spcPct val="20000"/>
        </a:spcBef>
        <a:spcAft>
          <a:spcPct val="0"/>
        </a:spcAft>
        <a:buClr>
          <a:srgbClr val="626262"/>
        </a:buClr>
        <a:buFont typeface="Wingdings" pitchFamily="2" charset="2"/>
        <a:buChar char="§"/>
        <a:defRPr sz="2000">
          <a:solidFill>
            <a:schemeClr val="tx1"/>
          </a:solidFill>
          <a:latin typeface="+mn-lt"/>
        </a:defRPr>
      </a:lvl2pPr>
      <a:lvl3pPr marL="1163638" indent="-263525" algn="l" rtl="0" eaLnBrk="0" fontAlgn="base" hangingPunct="0">
        <a:lnSpc>
          <a:spcPct val="110000"/>
        </a:lnSpc>
        <a:spcBef>
          <a:spcPct val="20000"/>
        </a:spcBef>
        <a:spcAft>
          <a:spcPct val="0"/>
        </a:spcAft>
        <a:buClr>
          <a:srgbClr val="626262"/>
        </a:buClr>
        <a:buFont typeface="Wingdings" pitchFamily="2" charset="2"/>
        <a:buChar char="§"/>
        <a:defRPr sz="2000">
          <a:solidFill>
            <a:schemeClr val="tx1"/>
          </a:solidFill>
          <a:latin typeface="+mn-lt"/>
        </a:defRPr>
      </a:lvl3pPr>
      <a:lvl4pPr marL="1614488" indent="-271463" algn="l" rtl="0" eaLnBrk="0" fontAlgn="base" hangingPunct="0">
        <a:lnSpc>
          <a:spcPct val="110000"/>
        </a:lnSpc>
        <a:spcBef>
          <a:spcPct val="20000"/>
        </a:spcBef>
        <a:spcAft>
          <a:spcPct val="0"/>
        </a:spcAft>
        <a:buClr>
          <a:srgbClr val="626262"/>
        </a:buClr>
        <a:buFont typeface="Wingdings" pitchFamily="2" charset="2"/>
        <a:buChar char="§"/>
        <a:defRPr sz="2000">
          <a:solidFill>
            <a:schemeClr val="tx1"/>
          </a:solidFill>
          <a:latin typeface="+mn-lt"/>
        </a:defRPr>
      </a:lvl4pPr>
      <a:lvl5pPr marL="1974850" indent="-180975" algn="l" rtl="0" eaLnBrk="0" fontAlgn="base" hangingPunct="0">
        <a:lnSpc>
          <a:spcPct val="110000"/>
        </a:lnSpc>
        <a:spcBef>
          <a:spcPct val="20000"/>
        </a:spcBef>
        <a:spcAft>
          <a:spcPct val="0"/>
        </a:spcAft>
        <a:buClr>
          <a:srgbClr val="626262"/>
        </a:buClr>
        <a:buFont typeface="Wingdings" pitchFamily="2" charset="2"/>
        <a:buChar char="§"/>
        <a:defRPr sz="2000">
          <a:solidFill>
            <a:schemeClr val="tx1"/>
          </a:solidFill>
          <a:latin typeface="+mn-lt"/>
        </a:defRPr>
      </a:lvl5pPr>
      <a:lvl6pPr marL="24320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6pPr>
      <a:lvl7pPr marL="28892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7pPr>
      <a:lvl8pPr marL="33464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8pPr>
      <a:lvl9pPr marL="38036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4434" y="241300"/>
            <a:ext cx="11425767" cy="114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err="1"/>
              <a:t>Titelmasterformat</a:t>
            </a:r>
            <a:r>
              <a:rPr lang="en-US"/>
              <a:t> upper line here</a:t>
            </a:r>
            <a:br>
              <a:rPr lang="en-US"/>
            </a:br>
            <a:r>
              <a:rPr lang="en-US"/>
              <a:t>second line here</a:t>
            </a:r>
          </a:p>
        </p:txBody>
      </p:sp>
      <p:sp>
        <p:nvSpPr>
          <p:cNvPr id="1027" name="Rectangle 3"/>
          <p:cNvSpPr>
            <a:spLocks noGrp="1" noChangeArrowheads="1"/>
          </p:cNvSpPr>
          <p:nvPr>
            <p:ph type="body" idx="1"/>
          </p:nvPr>
        </p:nvSpPr>
        <p:spPr bwMode="auto">
          <a:xfrm>
            <a:off x="334434" y="1435100"/>
            <a:ext cx="11425767" cy="45275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err="1"/>
              <a:t>Textmasterformate</a:t>
            </a:r>
            <a:r>
              <a:rPr lang="en-US"/>
              <a:t> </a:t>
            </a:r>
            <a:r>
              <a:rPr lang="en-US" err="1"/>
              <a:t>durch</a:t>
            </a:r>
            <a:r>
              <a:rPr lang="en-US"/>
              <a:t> </a:t>
            </a:r>
            <a:r>
              <a:rPr lang="en-US" err="1"/>
              <a:t>Klicken</a:t>
            </a:r>
            <a:r>
              <a:rPr lang="en-US"/>
              <a:t> </a:t>
            </a:r>
            <a:r>
              <a:rPr lang="en-US" err="1"/>
              <a:t>bearbeiten</a:t>
            </a:r>
            <a:endParaRPr lang="en-US"/>
          </a:p>
          <a:p>
            <a:pPr lvl="1"/>
            <a:r>
              <a:rPr lang="en-US" err="1"/>
              <a:t>Zweite</a:t>
            </a:r>
            <a:r>
              <a:rPr lang="en-US"/>
              <a:t> </a:t>
            </a:r>
            <a:r>
              <a:rPr lang="en-US" err="1"/>
              <a:t>Ebene</a:t>
            </a:r>
            <a:endParaRPr lang="en-US"/>
          </a:p>
          <a:p>
            <a:pPr lvl="2"/>
            <a:r>
              <a:rPr lang="en-US" err="1"/>
              <a:t>Dritte</a:t>
            </a:r>
            <a:r>
              <a:rPr lang="en-US"/>
              <a:t> </a:t>
            </a:r>
            <a:r>
              <a:rPr lang="en-US" err="1"/>
              <a:t>Ebene</a:t>
            </a:r>
            <a:endParaRPr lang="en-US"/>
          </a:p>
          <a:p>
            <a:pPr lvl="3"/>
            <a:r>
              <a:rPr lang="en-US" err="1"/>
              <a:t>Vierte</a:t>
            </a:r>
            <a:r>
              <a:rPr lang="en-US"/>
              <a:t> </a:t>
            </a:r>
            <a:r>
              <a:rPr lang="en-US" err="1"/>
              <a:t>Ebene</a:t>
            </a:r>
            <a:endParaRPr lang="en-US"/>
          </a:p>
          <a:p>
            <a:pPr lvl="4"/>
            <a:r>
              <a:rPr lang="en-US" err="1"/>
              <a:t>Fünfte</a:t>
            </a:r>
            <a:r>
              <a:rPr lang="en-US"/>
              <a:t> </a:t>
            </a:r>
            <a:r>
              <a:rPr lang="en-US" err="1"/>
              <a:t>Ebene</a:t>
            </a:r>
            <a:endParaRPr lang="en-US"/>
          </a:p>
        </p:txBody>
      </p:sp>
      <p:sp>
        <p:nvSpPr>
          <p:cNvPr id="1035" name="Line 11"/>
          <p:cNvSpPr>
            <a:spLocks noChangeShapeType="1"/>
          </p:cNvSpPr>
          <p:nvPr userDrawn="1"/>
        </p:nvSpPr>
        <p:spPr bwMode="auto">
          <a:xfrm flipH="1">
            <a:off x="0" y="6178550"/>
            <a:ext cx="12192000" cy="0"/>
          </a:xfrm>
          <a:prstGeom prst="line">
            <a:avLst/>
          </a:prstGeom>
          <a:noFill/>
          <a:ln w="28575">
            <a:solidFill>
              <a:srgbClr val="626262"/>
            </a:solidFill>
            <a:round/>
            <a:headEnd/>
            <a:tailEnd/>
          </a:ln>
          <a:effectLst/>
        </p:spPr>
        <p:txBody>
          <a:bodyPr/>
          <a:lstStyle/>
          <a:p>
            <a:pPr>
              <a:defRPr/>
            </a:pPr>
            <a:endParaRPr lang="de-DE"/>
          </a:p>
        </p:txBody>
      </p:sp>
      <p:sp>
        <p:nvSpPr>
          <p:cNvPr id="1037" name="Text Box 13"/>
          <p:cNvSpPr txBox="1">
            <a:spLocks noChangeArrowheads="1"/>
          </p:cNvSpPr>
          <p:nvPr userDrawn="1"/>
        </p:nvSpPr>
        <p:spPr bwMode="auto">
          <a:xfrm>
            <a:off x="370418" y="6226267"/>
            <a:ext cx="1268296" cy="503023"/>
          </a:xfrm>
          <a:prstGeom prst="rect">
            <a:avLst/>
          </a:prstGeom>
          <a:noFill/>
          <a:ln w="9525">
            <a:noFill/>
            <a:miter lim="800000"/>
            <a:headEnd/>
            <a:tailEnd/>
          </a:ln>
          <a:effectLst/>
        </p:spPr>
        <p:txBody>
          <a:bodyPr wrap="none">
            <a:spAutoFit/>
          </a:bodyPr>
          <a:lstStyle/>
          <a:p>
            <a:pPr>
              <a:lnSpc>
                <a:spcPts val="1700"/>
              </a:lnSpc>
              <a:defRPr/>
            </a:pPr>
            <a:r>
              <a:rPr lang="en-US" sz="1000">
                <a:solidFill>
                  <a:schemeClr val="tx2"/>
                </a:solidFill>
                <a:latin typeface="+mn-lt"/>
              </a:rPr>
              <a:t>© </a:t>
            </a:r>
            <a:r>
              <a:rPr lang="en-US" sz="1000" err="1">
                <a:solidFill>
                  <a:schemeClr val="tx2"/>
                </a:solidFill>
                <a:latin typeface="+mn-lt"/>
              </a:rPr>
              <a:t>AudioLabs</a:t>
            </a:r>
            <a:r>
              <a:rPr lang="en-US" sz="1000">
                <a:solidFill>
                  <a:schemeClr val="tx2"/>
                </a:solidFill>
                <a:latin typeface="+mn-lt"/>
              </a:rPr>
              <a:t>, 2026</a:t>
            </a:r>
          </a:p>
          <a:p>
            <a:pPr>
              <a:lnSpc>
                <a:spcPts val="1700"/>
              </a:lnSpc>
              <a:defRPr/>
            </a:pPr>
            <a:r>
              <a:rPr lang="en-US" sz="1000">
                <a:solidFill>
                  <a:schemeClr val="tx2"/>
                </a:solidFill>
                <a:latin typeface="+mn-lt"/>
              </a:rPr>
              <a:t>Olivia </a:t>
            </a:r>
            <a:r>
              <a:rPr lang="en-US" sz="1000" err="1">
                <a:solidFill>
                  <a:schemeClr val="tx2"/>
                </a:solidFill>
                <a:latin typeface="+mn-lt"/>
              </a:rPr>
              <a:t>Gijo</a:t>
            </a:r>
            <a:endParaRPr lang="en-US" sz="1000">
              <a:solidFill>
                <a:schemeClr val="tx2"/>
              </a:solidFill>
              <a:latin typeface="+mn-lt"/>
            </a:endParaRPr>
          </a:p>
        </p:txBody>
      </p:sp>
      <p:sp>
        <p:nvSpPr>
          <p:cNvPr id="1040" name="Rectangle 16"/>
          <p:cNvSpPr>
            <a:spLocks noChangeArrowheads="1"/>
          </p:cNvSpPr>
          <p:nvPr userDrawn="1"/>
        </p:nvSpPr>
        <p:spPr bwMode="auto">
          <a:xfrm>
            <a:off x="0" y="0"/>
            <a:ext cx="12192000" cy="146050"/>
          </a:xfrm>
          <a:prstGeom prst="rect">
            <a:avLst/>
          </a:prstGeom>
          <a:solidFill>
            <a:srgbClr val="F08801"/>
          </a:solidFill>
          <a:ln w="9525">
            <a:noFill/>
            <a:miter lim="800000"/>
            <a:headEnd/>
            <a:tailEnd/>
          </a:ln>
        </p:spPr>
        <p:txBody>
          <a:bodyPr wrap="none" anchor="ctr"/>
          <a:lstStyle/>
          <a:p>
            <a:pPr>
              <a:defRPr/>
            </a:pPr>
            <a:endParaRPr lang="de-DE"/>
          </a:p>
        </p:txBody>
      </p:sp>
      <p:sp>
        <p:nvSpPr>
          <p:cNvPr id="9" name="Text Box 13"/>
          <p:cNvSpPr txBox="1">
            <a:spLocks noChangeArrowheads="1"/>
          </p:cNvSpPr>
          <p:nvPr userDrawn="1"/>
        </p:nvSpPr>
        <p:spPr bwMode="auto">
          <a:xfrm>
            <a:off x="1905001" y="6231754"/>
            <a:ext cx="8572500" cy="503023"/>
          </a:xfrm>
          <a:prstGeom prst="rect">
            <a:avLst/>
          </a:prstGeom>
          <a:noFill/>
          <a:ln w="9525">
            <a:noFill/>
            <a:miter lim="800000"/>
            <a:headEnd/>
            <a:tailEnd/>
          </a:ln>
          <a:effectLst/>
        </p:spPr>
        <p:txBody>
          <a:bodyPr wrap="square">
            <a:spAutoFit/>
          </a:bodyPr>
          <a:lstStyle/>
          <a:p>
            <a:pPr algn="ctr">
              <a:lnSpc>
                <a:spcPts val="1700"/>
              </a:lnSpc>
              <a:defRPr/>
            </a:pPr>
            <a:r>
              <a:rPr lang="en-US" sz="1000">
                <a:solidFill>
                  <a:schemeClr val="tx2"/>
                </a:solidFill>
                <a:latin typeface="+mn-lt"/>
              </a:rPr>
              <a:t>Few–Shot Acoustic Synthesis with Multimodal Flow Matching</a:t>
            </a:r>
          </a:p>
          <a:p>
            <a:pPr algn="ctr">
              <a:lnSpc>
                <a:spcPts val="1700"/>
              </a:lnSpc>
              <a:defRPr/>
            </a:pPr>
            <a:fld id="{782BC965-5642-458D-B384-0F50C1C1F05B}" type="slidenum">
              <a:rPr lang="en-US" sz="1000" smtClean="0">
                <a:solidFill>
                  <a:schemeClr val="tx2"/>
                </a:solidFill>
                <a:latin typeface="+mn-lt"/>
              </a:rPr>
              <a:pPr algn="ctr">
                <a:lnSpc>
                  <a:spcPts val="1700"/>
                </a:lnSpc>
                <a:defRPr/>
              </a:pPr>
              <a:t>‹#›</a:t>
            </a:fld>
            <a:endParaRPr lang="en-US" sz="1000">
              <a:solidFill>
                <a:schemeClr val="tx2"/>
              </a:solidFill>
              <a:latin typeface="+mn-lt"/>
            </a:endParaRPr>
          </a:p>
        </p:txBody>
      </p:sp>
      <p:pic>
        <p:nvPicPr>
          <p:cNvPr id="2" name="Picture 1">
            <a:extLst>
              <a:ext uri="{FF2B5EF4-FFF2-40B4-BE49-F238E27FC236}">
                <a16:creationId xmlns:a16="http://schemas.microsoft.com/office/drawing/2014/main" id="{3968BFA7-7410-C376-16D2-70AFB0E41EEC}"/>
              </a:ext>
            </a:extLst>
          </p:cNvPr>
          <p:cNvPicPr>
            <a:picLocks noChangeAspect="1"/>
          </p:cNvPicPr>
          <p:nvPr userDrawn="1"/>
        </p:nvPicPr>
        <p:blipFill>
          <a:blip r:embed="rId14"/>
          <a:stretch>
            <a:fillRect/>
          </a:stretch>
        </p:blipFill>
        <p:spPr>
          <a:xfrm>
            <a:off x="10885584" y="6263168"/>
            <a:ext cx="935999" cy="466128"/>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 id="2147483660"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66" r:id="rId11"/>
    <p:sldLayoutId id="2147483664" r:id="rId12"/>
  </p:sldLayoutIdLst>
  <p:hf hdr="0"/>
  <p:txStyles>
    <p:titleStyle>
      <a:lvl1pPr algn="l" rtl="0" eaLnBrk="0" fontAlgn="base" hangingPunct="0">
        <a:spcBef>
          <a:spcPct val="0"/>
        </a:spcBef>
        <a:spcAft>
          <a:spcPct val="0"/>
        </a:spcAft>
        <a:defRPr sz="2800">
          <a:solidFill>
            <a:srgbClr val="ED8C01"/>
          </a:solidFill>
          <a:latin typeface="+mj-lt"/>
          <a:ea typeface="+mj-ea"/>
          <a:cs typeface="+mj-cs"/>
        </a:defRPr>
      </a:lvl1pPr>
      <a:lvl2pPr algn="l" rtl="0" eaLnBrk="0" fontAlgn="base" hangingPunct="0">
        <a:spcBef>
          <a:spcPct val="0"/>
        </a:spcBef>
        <a:spcAft>
          <a:spcPct val="0"/>
        </a:spcAft>
        <a:defRPr sz="2800">
          <a:solidFill>
            <a:srgbClr val="EC9313"/>
          </a:solidFill>
          <a:latin typeface="Arial" charset="0"/>
        </a:defRPr>
      </a:lvl2pPr>
      <a:lvl3pPr algn="l" rtl="0" eaLnBrk="0" fontAlgn="base" hangingPunct="0">
        <a:spcBef>
          <a:spcPct val="0"/>
        </a:spcBef>
        <a:spcAft>
          <a:spcPct val="0"/>
        </a:spcAft>
        <a:defRPr sz="2800">
          <a:solidFill>
            <a:srgbClr val="EC9313"/>
          </a:solidFill>
          <a:latin typeface="Arial" charset="0"/>
        </a:defRPr>
      </a:lvl3pPr>
      <a:lvl4pPr algn="l" rtl="0" eaLnBrk="0" fontAlgn="base" hangingPunct="0">
        <a:spcBef>
          <a:spcPct val="0"/>
        </a:spcBef>
        <a:spcAft>
          <a:spcPct val="0"/>
        </a:spcAft>
        <a:defRPr sz="2800">
          <a:solidFill>
            <a:srgbClr val="EC9313"/>
          </a:solidFill>
          <a:latin typeface="Arial" charset="0"/>
        </a:defRPr>
      </a:lvl4pPr>
      <a:lvl5pPr algn="l" rtl="0" eaLnBrk="0" fontAlgn="base" hangingPunct="0">
        <a:spcBef>
          <a:spcPct val="0"/>
        </a:spcBef>
        <a:spcAft>
          <a:spcPct val="0"/>
        </a:spcAft>
        <a:defRPr sz="2800">
          <a:solidFill>
            <a:srgbClr val="EC9313"/>
          </a:solidFill>
          <a:latin typeface="Arial" charset="0"/>
        </a:defRPr>
      </a:lvl5pPr>
      <a:lvl6pPr marL="457200" algn="l" rtl="0" fontAlgn="base">
        <a:spcBef>
          <a:spcPct val="0"/>
        </a:spcBef>
        <a:spcAft>
          <a:spcPct val="0"/>
        </a:spcAft>
        <a:defRPr sz="3200" b="1">
          <a:solidFill>
            <a:srgbClr val="EC9313"/>
          </a:solidFill>
          <a:latin typeface="Arial" charset="0"/>
        </a:defRPr>
      </a:lvl6pPr>
      <a:lvl7pPr marL="914400" algn="l" rtl="0" fontAlgn="base">
        <a:spcBef>
          <a:spcPct val="0"/>
        </a:spcBef>
        <a:spcAft>
          <a:spcPct val="0"/>
        </a:spcAft>
        <a:defRPr sz="3200" b="1">
          <a:solidFill>
            <a:srgbClr val="EC9313"/>
          </a:solidFill>
          <a:latin typeface="Arial" charset="0"/>
        </a:defRPr>
      </a:lvl7pPr>
      <a:lvl8pPr marL="1371600" algn="l" rtl="0" fontAlgn="base">
        <a:spcBef>
          <a:spcPct val="0"/>
        </a:spcBef>
        <a:spcAft>
          <a:spcPct val="0"/>
        </a:spcAft>
        <a:defRPr sz="3200" b="1">
          <a:solidFill>
            <a:srgbClr val="EC9313"/>
          </a:solidFill>
          <a:latin typeface="Arial" charset="0"/>
        </a:defRPr>
      </a:lvl8pPr>
      <a:lvl9pPr marL="1828800" algn="l" rtl="0" fontAlgn="base">
        <a:spcBef>
          <a:spcPct val="0"/>
        </a:spcBef>
        <a:spcAft>
          <a:spcPct val="0"/>
        </a:spcAft>
        <a:defRPr sz="3200" b="1">
          <a:solidFill>
            <a:srgbClr val="EC9313"/>
          </a:solidFill>
          <a:latin typeface="Arial" charset="0"/>
        </a:defRPr>
      </a:lvl9pPr>
    </p:titleStyle>
    <p:bodyStyle>
      <a:lvl1pPr marL="269875" indent="-269875" algn="l" rtl="0" eaLnBrk="0" fontAlgn="base" hangingPunct="0">
        <a:lnSpc>
          <a:spcPct val="110000"/>
        </a:lnSpc>
        <a:spcBef>
          <a:spcPct val="20000"/>
        </a:spcBef>
        <a:spcAft>
          <a:spcPct val="0"/>
        </a:spcAft>
        <a:buClr>
          <a:srgbClr val="ED8C01"/>
        </a:buClr>
        <a:buFont typeface="Wingdings" pitchFamily="2" charset="2"/>
        <a:buChar char="§"/>
        <a:defRPr sz="2400">
          <a:solidFill>
            <a:schemeClr val="tx1"/>
          </a:solidFill>
          <a:latin typeface="+mn-lt"/>
          <a:ea typeface="+mn-ea"/>
          <a:cs typeface="+mn-cs"/>
        </a:defRPr>
      </a:lvl1pPr>
      <a:lvl2pPr marL="720725" indent="-271463"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2pPr>
      <a:lvl3pPr marL="1163638" indent="-263525"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3pPr>
      <a:lvl4pPr marL="1614488" indent="-271463"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4pPr>
      <a:lvl5pPr marL="1974850" indent="-180975"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5pPr>
      <a:lvl6pPr marL="24320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6pPr>
      <a:lvl7pPr marL="28892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7pPr>
      <a:lvl8pPr marL="33464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8pPr>
      <a:lvl9pPr marL="38036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14_0.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25_435D19E8.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27_994212A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124_FD7E9ADA.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customXml" Target="../ink/ink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117_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9970" y="3023508"/>
            <a:ext cx="13309600" cy="1470025"/>
          </a:xfrm>
        </p:spPr>
        <p:txBody>
          <a:bodyPr lIns="91440" tIns="45720" rIns="91440" bIns="45720" anchor="t"/>
          <a:lstStyle/>
          <a:p>
            <a:r>
              <a:rPr lang="en-US" sz="3200" b="1">
                <a:solidFill>
                  <a:schemeClr val="accent1"/>
                </a:solidFill>
                <a:cs typeface="Arial"/>
              </a:rPr>
              <a:t>Few-Shot Acoustic Synthesis with Multimodal Flow Matching (FLAC)</a:t>
            </a:r>
            <a:endParaRPr lang="en-US" sz="3200">
              <a:solidFill>
                <a:schemeClr val="accent1"/>
              </a:solidFill>
            </a:endParaRPr>
          </a:p>
        </p:txBody>
      </p:sp>
      <p:sp>
        <p:nvSpPr>
          <p:cNvPr id="4" name="Content Placeholder 3"/>
          <p:cNvSpPr>
            <a:spLocks noGrp="1"/>
          </p:cNvSpPr>
          <p:nvPr>
            <p:ph sz="quarter" idx="11"/>
          </p:nvPr>
        </p:nvSpPr>
        <p:spPr>
          <a:xfrm>
            <a:off x="2702377" y="4203247"/>
            <a:ext cx="6786337" cy="457200"/>
          </a:xfrm>
        </p:spPr>
        <p:txBody>
          <a:bodyPr lIns="91440" tIns="45720" rIns="91440" bIns="45720" anchor="t"/>
          <a:lstStyle/>
          <a:p>
            <a:r>
              <a:rPr lang="en-US" b="1">
                <a:solidFill>
                  <a:schemeClr val="accent1"/>
                </a:solidFill>
                <a:ea typeface="+mn-lt"/>
                <a:cs typeface="+mn-lt"/>
              </a:rPr>
              <a:t>Amandine Brunetto</a:t>
            </a:r>
            <a:endParaRPr lang="en-US" b="1">
              <a:solidFill>
                <a:schemeClr val="accent1"/>
              </a:solidFill>
            </a:endParaRPr>
          </a:p>
        </p:txBody>
      </p:sp>
      <p:sp>
        <p:nvSpPr>
          <p:cNvPr id="5" name="TextBox 4">
            <a:extLst>
              <a:ext uri="{FF2B5EF4-FFF2-40B4-BE49-F238E27FC236}">
                <a16:creationId xmlns:a16="http://schemas.microsoft.com/office/drawing/2014/main" id="{067012B6-74D9-85B6-55D7-C2136BCD4AD8}"/>
              </a:ext>
            </a:extLst>
          </p:cNvPr>
          <p:cNvSpPr txBox="1"/>
          <p:nvPr/>
        </p:nvSpPr>
        <p:spPr>
          <a:xfrm>
            <a:off x="4581189" y="5030145"/>
            <a:ext cx="461755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1"/>
                </a:solidFill>
                <a:latin typeface="Arial"/>
                <a:cs typeface="Arial"/>
              </a:rPr>
              <a:t>Presented By: Olivia Gijo</a:t>
            </a:r>
            <a:endParaRPr lang="en-US">
              <a:solidFill>
                <a:schemeClr val="accent1"/>
              </a:solidFil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A98DA-854D-81E1-685B-A86B52511ACE}"/>
              </a:ext>
            </a:extLst>
          </p:cNvPr>
          <p:cNvSpPr>
            <a:spLocks noGrp="1"/>
          </p:cNvSpPr>
          <p:nvPr>
            <p:ph type="title"/>
          </p:nvPr>
        </p:nvSpPr>
        <p:spPr/>
        <p:txBody>
          <a:bodyPr/>
          <a:lstStyle/>
          <a:p>
            <a:r>
              <a:rPr lang="en-US" sz="2400" b="1">
                <a:cs typeface="Arial"/>
              </a:rPr>
              <a:t>CONTENTS</a:t>
            </a:r>
            <a:endParaRPr lang="en-US" sz="2400" b="1"/>
          </a:p>
        </p:txBody>
      </p:sp>
      <p:sp>
        <p:nvSpPr>
          <p:cNvPr id="3" name="Content Placeholder 2">
            <a:extLst>
              <a:ext uri="{FF2B5EF4-FFF2-40B4-BE49-F238E27FC236}">
                <a16:creationId xmlns:a16="http://schemas.microsoft.com/office/drawing/2014/main" id="{FCDEC7C0-8FC8-63F3-FBE0-0350E8C5DB13}"/>
              </a:ext>
            </a:extLst>
          </p:cNvPr>
          <p:cNvSpPr>
            <a:spLocks noGrp="1"/>
          </p:cNvSpPr>
          <p:nvPr>
            <p:ph idx="1"/>
          </p:nvPr>
        </p:nvSpPr>
        <p:spPr>
          <a:xfrm>
            <a:off x="450547" y="1485900"/>
            <a:ext cx="10975825" cy="4208236"/>
          </a:xfrm>
        </p:spPr>
        <p:txBody>
          <a:bodyPr/>
          <a:lstStyle/>
          <a:p>
            <a:pPr marL="266700" indent="-266700" eaLnBrk="1" hangingPunct="1">
              <a:buNone/>
            </a:pPr>
            <a:r>
              <a:rPr lang="de-DE" sz="2000"/>
              <a:t>1.Room Impulse Response </a:t>
            </a:r>
            <a:endParaRPr lang="en-US"/>
          </a:p>
          <a:p>
            <a:pPr marL="266700" indent="-266700">
              <a:buNone/>
            </a:pPr>
            <a:r>
              <a:rPr lang="de-DE" sz="2000"/>
              <a:t>2.Motivation</a:t>
            </a:r>
            <a:endParaRPr lang="de-DE"/>
          </a:p>
          <a:p>
            <a:pPr marL="266700" indent="-266700" eaLnBrk="1" hangingPunct="1">
              <a:buNone/>
            </a:pPr>
            <a:r>
              <a:rPr lang="de-DE" sz="2000"/>
              <a:t>3.</a:t>
            </a:r>
            <a:r>
              <a:rPr lang="de-DE" sz="2000" err="1"/>
              <a:t>FLAC Layout</a:t>
            </a:r>
            <a:r>
              <a:rPr lang="de-DE" sz="2000"/>
              <a:t> </a:t>
            </a:r>
            <a:endParaRPr lang="de-DE" sz="2000" err="1">
              <a:cs typeface="Arial"/>
            </a:endParaRPr>
          </a:p>
          <a:p>
            <a:pPr marL="647700" lvl="1" indent="-201295" eaLnBrk="1" hangingPunct="1">
              <a:buClr>
                <a:srgbClr val="ED8C01"/>
              </a:buClr>
            </a:pPr>
            <a:r>
              <a:rPr lang="de-DE" sz="1800" err="1">
                <a:cs typeface="Arial"/>
              </a:rPr>
              <a:t>FLAC Pipeline</a:t>
            </a:r>
            <a:endParaRPr lang="de-DE" sz="1800">
              <a:cs typeface="Arial"/>
            </a:endParaRPr>
          </a:p>
          <a:p>
            <a:pPr marL="647700" lvl="1" indent="-201295">
              <a:buClr>
                <a:srgbClr val="ED8C01"/>
              </a:buClr>
            </a:pPr>
            <a:r>
              <a:rPr lang="de-DE" sz="1800">
                <a:cs typeface="Arial"/>
              </a:rPr>
              <a:t>VAE</a:t>
            </a:r>
          </a:p>
          <a:p>
            <a:pPr marL="647700" lvl="1" indent="-201295">
              <a:buClr>
                <a:srgbClr val="ED8C01"/>
              </a:buClr>
            </a:pPr>
            <a:r>
              <a:rPr lang="de-DE" sz="1800" err="1">
                <a:ea typeface="+mn-lt"/>
                <a:cs typeface="+mn-lt"/>
              </a:rPr>
              <a:t>DiT</a:t>
            </a:r>
            <a:r>
              <a:rPr lang="de-DE" sz="1800">
                <a:ea typeface="+mn-lt"/>
                <a:cs typeface="+mn-lt"/>
              </a:rPr>
              <a:t> </a:t>
            </a:r>
          </a:p>
          <a:p>
            <a:pPr marL="647700" lvl="1" indent="-201295">
              <a:buClr>
                <a:srgbClr val="ED8C01"/>
              </a:buClr>
            </a:pPr>
            <a:r>
              <a:rPr lang="de-DE" sz="1800">
                <a:ea typeface="+mn-lt"/>
                <a:cs typeface="+mn-lt"/>
              </a:rPr>
              <a:t>Flow Matching </a:t>
            </a:r>
            <a:endParaRPr lang="de-DE"/>
          </a:p>
          <a:p>
            <a:pPr marL="647700" lvl="1" indent="-201295">
              <a:buClr>
                <a:srgbClr val="ED8C01"/>
              </a:buClr>
            </a:pPr>
            <a:r>
              <a:rPr lang="de-DE" sz="1800">
                <a:ea typeface="+mn-lt"/>
                <a:cs typeface="+mn-lt"/>
              </a:rPr>
              <a:t> AGREE</a:t>
            </a:r>
          </a:p>
          <a:p>
            <a:pPr marL="266700" indent="-266700">
              <a:buNone/>
            </a:pPr>
            <a:r>
              <a:rPr lang="de-DE" sz="2000"/>
              <a:t>4.Evaluation</a:t>
            </a:r>
            <a:endParaRPr lang="de-DE" sz="2000">
              <a:cs typeface="Arial"/>
            </a:endParaRPr>
          </a:p>
          <a:p>
            <a:pPr marL="647700" lvl="1" indent="-201295" eaLnBrk="1" hangingPunct="1">
              <a:buClr>
                <a:srgbClr val="ED8C01"/>
              </a:buClr>
            </a:pPr>
            <a:r>
              <a:rPr lang="de-DE" sz="1800" err="1">
                <a:cs typeface="Arial"/>
              </a:rPr>
              <a:t>Result</a:t>
            </a:r>
            <a:r>
              <a:rPr lang="de-DE" sz="1800">
                <a:cs typeface="Arial"/>
              </a:rPr>
              <a:t> </a:t>
            </a:r>
          </a:p>
          <a:p>
            <a:pPr marL="647700" lvl="1" indent="-201295">
              <a:buClr>
                <a:srgbClr val="ED8C01"/>
              </a:buClr>
            </a:pPr>
            <a:r>
              <a:rPr lang="de-DE" sz="1800" err="1">
                <a:ea typeface="+mn-lt"/>
                <a:cs typeface="Arial"/>
              </a:rPr>
              <a:t>Result</a:t>
            </a:r>
            <a:r>
              <a:rPr lang="de-DE" sz="1800">
                <a:ea typeface="+mn-lt"/>
                <a:cs typeface="Arial"/>
              </a:rPr>
              <a:t> </a:t>
            </a:r>
            <a:r>
              <a:rPr lang="de-DE" sz="1800" err="1">
                <a:ea typeface="+mn-lt"/>
                <a:cs typeface="Arial"/>
              </a:rPr>
              <a:t>comparison</a:t>
            </a:r>
            <a:r>
              <a:rPr lang="de-DE" sz="1800">
                <a:cs typeface="Arial"/>
              </a:rPr>
              <a:t>  </a:t>
            </a:r>
          </a:p>
        </p:txBody>
      </p:sp>
    </p:spTree>
    <p:extLst>
      <p:ext uri="{BB962C8B-B14F-4D97-AF65-F5344CB8AC3E}">
        <p14:creationId xmlns:p14="http://schemas.microsoft.com/office/powerpoint/2010/main" val="1864053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23B2-38B1-937E-031D-3E2D913234B7}"/>
              </a:ext>
            </a:extLst>
          </p:cNvPr>
          <p:cNvSpPr>
            <a:spLocks noGrp="1"/>
          </p:cNvSpPr>
          <p:nvPr>
            <p:ph type="title"/>
          </p:nvPr>
        </p:nvSpPr>
        <p:spPr/>
        <p:txBody>
          <a:bodyPr/>
          <a:lstStyle/>
          <a:p>
            <a:r>
              <a:rPr lang="en-US" b="1">
                <a:cs typeface="Arial"/>
              </a:rPr>
              <a:t>ROOM IMPULSE RESPONSE</a:t>
            </a:r>
          </a:p>
        </p:txBody>
      </p:sp>
      <p:sp>
        <p:nvSpPr>
          <p:cNvPr id="3" name="Content Placeholder 2">
            <a:extLst>
              <a:ext uri="{FF2B5EF4-FFF2-40B4-BE49-F238E27FC236}">
                <a16:creationId xmlns:a16="http://schemas.microsoft.com/office/drawing/2014/main" id="{B364374E-098D-D144-6B12-208AD13D3DB0}"/>
              </a:ext>
            </a:extLst>
          </p:cNvPr>
          <p:cNvSpPr>
            <a:spLocks noGrp="1"/>
          </p:cNvSpPr>
          <p:nvPr>
            <p:ph idx="1"/>
          </p:nvPr>
        </p:nvSpPr>
        <p:spPr/>
        <p:txBody>
          <a:bodyPr/>
          <a:lstStyle/>
          <a:p>
            <a:r>
              <a:rPr lang="en-US" sz="2800">
                <a:cs typeface="Arial"/>
              </a:rPr>
              <a:t>What is a Room Impulse Response?</a:t>
            </a:r>
          </a:p>
          <a:p>
            <a:endParaRPr lang="en-US" sz="2000">
              <a:cs typeface="Arial"/>
            </a:endParaRPr>
          </a:p>
          <a:p>
            <a:r>
              <a:rPr lang="en-US" sz="2000">
                <a:ea typeface="+mn-lt"/>
                <a:cs typeface="+mn-lt"/>
              </a:rPr>
              <a:t>A Room Impulse Response (RIR) describes how a room affects a sound after it is produced, capturing the direct sound ,early reflections and the late reverberation</a:t>
            </a:r>
            <a:endParaRPr lang="en-US" sz="2000">
              <a:cs typeface="Arial"/>
            </a:endParaRPr>
          </a:p>
          <a:p>
            <a:endParaRPr lang="en-US" sz="2800" b="1">
              <a:solidFill>
                <a:schemeClr val="accent1"/>
              </a:solidFill>
              <a:ea typeface="+mn-lt"/>
              <a:cs typeface="+mn-lt"/>
            </a:endParaRPr>
          </a:p>
          <a:p>
            <a:endParaRPr lang="en-US" sz="2800">
              <a:solidFill>
                <a:schemeClr val="accent1"/>
              </a:solidFill>
              <a:cs typeface="Arial"/>
            </a:endParaRPr>
          </a:p>
          <a:p>
            <a:endParaRPr lang="en-US" sz="2800">
              <a:solidFill>
                <a:srgbClr val="ED8C01"/>
              </a:solidFill>
              <a:cs typeface="Arial"/>
            </a:endParaRPr>
          </a:p>
          <a:p>
            <a:endParaRPr lang="en-US">
              <a:solidFill>
                <a:srgbClr val="000000"/>
              </a:solidFill>
              <a:cs typeface="Arial"/>
            </a:endParaRPr>
          </a:p>
          <a:p>
            <a:endParaRPr lang="en-US" sz="2800" b="1">
              <a:solidFill>
                <a:schemeClr val="accent1"/>
              </a:solidFill>
              <a:cs typeface="Arial"/>
            </a:endParaRPr>
          </a:p>
        </p:txBody>
      </p:sp>
      <p:pic>
        <p:nvPicPr>
          <p:cNvPr id="5" name="Picture 4">
            <a:extLst>
              <a:ext uri="{FF2B5EF4-FFF2-40B4-BE49-F238E27FC236}">
                <a16:creationId xmlns:a16="http://schemas.microsoft.com/office/drawing/2014/main" id="{C1964C1C-5FFC-28C8-D6DE-CE9534261D0F}"/>
              </a:ext>
            </a:extLst>
          </p:cNvPr>
          <p:cNvPicPr>
            <a:picLocks noChangeAspect="1"/>
          </p:cNvPicPr>
          <p:nvPr/>
        </p:nvPicPr>
        <p:blipFill>
          <a:blip r:embed="rId2"/>
          <a:stretch>
            <a:fillRect/>
          </a:stretch>
        </p:blipFill>
        <p:spPr>
          <a:xfrm>
            <a:off x="696686" y="3293854"/>
            <a:ext cx="5239658" cy="2505493"/>
          </a:xfrm>
          <a:prstGeom prst="rect">
            <a:avLst/>
          </a:prstGeom>
        </p:spPr>
      </p:pic>
      <p:pic>
        <p:nvPicPr>
          <p:cNvPr id="4" name="Picture 3" descr="A graph of an orange and blue sound wave&#10;&#10;AI-generated content may be incorrect.">
            <a:extLst>
              <a:ext uri="{FF2B5EF4-FFF2-40B4-BE49-F238E27FC236}">
                <a16:creationId xmlns:a16="http://schemas.microsoft.com/office/drawing/2014/main" id="{56A81CF0-2C41-FEEF-D036-C60FE463E89C}"/>
              </a:ext>
            </a:extLst>
          </p:cNvPr>
          <p:cNvPicPr>
            <a:picLocks noChangeAspect="1"/>
          </p:cNvPicPr>
          <p:nvPr/>
        </p:nvPicPr>
        <p:blipFill>
          <a:blip r:embed="rId3"/>
          <a:stretch>
            <a:fillRect/>
          </a:stretch>
        </p:blipFill>
        <p:spPr>
          <a:xfrm>
            <a:off x="6444342" y="3291114"/>
            <a:ext cx="5297715" cy="2656114"/>
          </a:xfrm>
          <a:prstGeom prst="rect">
            <a:avLst/>
          </a:prstGeom>
        </p:spPr>
      </p:pic>
    </p:spTree>
    <p:extLst>
      <p:ext uri="{BB962C8B-B14F-4D97-AF65-F5344CB8AC3E}">
        <p14:creationId xmlns:p14="http://schemas.microsoft.com/office/powerpoint/2010/main" val="203633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b="1">
                <a:solidFill>
                  <a:schemeClr val="accent1"/>
                </a:solidFill>
                <a:cs typeface="Arial"/>
              </a:rPr>
              <a:t>MOTIVATION</a:t>
            </a:r>
          </a:p>
        </p:txBody>
      </p:sp>
      <p:sp>
        <p:nvSpPr>
          <p:cNvPr id="28675" name="Rectangle 3"/>
          <p:cNvSpPr>
            <a:spLocks noGrp="1" noChangeArrowheads="1"/>
          </p:cNvSpPr>
          <p:nvPr>
            <p:ph idx="1"/>
          </p:nvPr>
        </p:nvSpPr>
        <p:spPr/>
        <p:txBody>
          <a:bodyPr/>
          <a:lstStyle/>
          <a:p>
            <a:endParaRPr lang="en-US" sz="2800" b="1">
              <a:solidFill>
                <a:srgbClr val="1E1E1E"/>
              </a:solidFill>
              <a:cs typeface="Arial"/>
            </a:endParaRPr>
          </a:p>
          <a:p>
            <a:pPr lvl="1">
              <a:buFontTx/>
              <a:buChar char="-"/>
            </a:pPr>
            <a:endParaRPr lang="en-US" sz="1800"/>
          </a:p>
        </p:txBody>
      </p:sp>
      <p:sp>
        <p:nvSpPr>
          <p:cNvPr id="3" name="TextBox 2">
            <a:extLst>
              <a:ext uri="{FF2B5EF4-FFF2-40B4-BE49-F238E27FC236}">
                <a16:creationId xmlns:a16="http://schemas.microsoft.com/office/drawing/2014/main" id="{8F5F62EC-A885-1E5F-C336-FD3244EC6D50}"/>
              </a:ext>
            </a:extLst>
          </p:cNvPr>
          <p:cNvSpPr txBox="1"/>
          <p:nvPr/>
        </p:nvSpPr>
        <p:spPr>
          <a:xfrm>
            <a:off x="328919" y="847005"/>
            <a:ext cx="10540786" cy="12105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800"/>
              </a:spcAft>
            </a:pPr>
            <a:endParaRPr lang="en-US" sz="2200">
              <a:solidFill>
                <a:srgbClr val="1E1E1E"/>
              </a:solidFill>
              <a:latin typeface="Arial"/>
              <a:cs typeface="Arial"/>
            </a:endParaRPr>
          </a:p>
          <a:p>
            <a:pPr>
              <a:spcAft>
                <a:spcPts val="800"/>
              </a:spcAft>
            </a:pPr>
            <a:r>
              <a:rPr lang="en-US" sz="2200">
                <a:solidFill>
                  <a:srgbClr val="1E1E1E"/>
                </a:solidFill>
                <a:latin typeface="Arial"/>
                <a:cs typeface="Arial"/>
              </a:rPr>
              <a:t>Goal: Generate realistic acoustics in unseen environments from only a few observations with Room Impulse Responses (RIRs) .</a:t>
            </a:r>
            <a:endParaRPr lang="en-US">
              <a:latin typeface="Arial"/>
              <a:cs typeface="Arial"/>
            </a:endParaRPr>
          </a:p>
        </p:txBody>
      </p:sp>
      <p:sp>
        <p:nvSpPr>
          <p:cNvPr id="5" name="TextBox 4">
            <a:extLst>
              <a:ext uri="{FF2B5EF4-FFF2-40B4-BE49-F238E27FC236}">
                <a16:creationId xmlns:a16="http://schemas.microsoft.com/office/drawing/2014/main" id="{49580A08-D346-79CC-2AC3-4397147CBE98}"/>
              </a:ext>
            </a:extLst>
          </p:cNvPr>
          <p:cNvSpPr txBox="1"/>
          <p:nvPr/>
        </p:nvSpPr>
        <p:spPr>
          <a:xfrm>
            <a:off x="337190" y="3040103"/>
            <a:ext cx="11682557" cy="738664"/>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Dense training  requiring many RIRs and Deterministic prediction</a:t>
            </a:r>
            <a:endParaRPr lang="en-US">
              <a:cs typeface="Arial"/>
            </a:endParaRPr>
          </a:p>
          <a:p>
            <a:endParaRPr lang="en-US" sz="2400" b="1">
              <a:solidFill>
                <a:schemeClr val="accent1"/>
              </a:solidFill>
              <a:latin typeface="Arial"/>
              <a:cs typeface="Arial"/>
            </a:endParaRPr>
          </a:p>
        </p:txBody>
      </p:sp>
      <p:sp>
        <p:nvSpPr>
          <p:cNvPr id="6" name="TextBox 4">
            <a:extLst>
              <a:ext uri="{FF2B5EF4-FFF2-40B4-BE49-F238E27FC236}">
                <a16:creationId xmlns:a16="http://schemas.microsoft.com/office/drawing/2014/main" id="{90F60BE1-8F4E-5EF6-973D-CE4964F20C51}"/>
              </a:ext>
            </a:extLst>
          </p:cNvPr>
          <p:cNvSpPr txBox="1"/>
          <p:nvPr/>
        </p:nvSpPr>
        <p:spPr>
          <a:xfrm>
            <a:off x="335280" y="2288903"/>
            <a:ext cx="6915676" cy="523220"/>
          </a:xfrm>
          <a:prstGeom prst="rect">
            <a:avLst/>
          </a:prstGeom>
          <a:noFill/>
        </p:spPr>
        <p:txBody>
          <a:bodyPr wrap="none" lIns="91440" tIns="45720" rIns="91440" bIns="45720" anchor="t">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sz="2800" b="1">
                <a:solidFill>
                  <a:schemeClr val="tx2"/>
                </a:solidFill>
                <a:latin typeface="Arial"/>
              </a:rPr>
              <a:t>Why existing methods are not enough</a:t>
            </a:r>
            <a:r>
              <a:rPr lang="en-US" sz="2800" b="1">
                <a:solidFill>
                  <a:schemeClr val="tx2"/>
                </a:solidFill>
                <a:latin typeface="Arial"/>
              </a:rPr>
              <a:t>?</a:t>
            </a:r>
            <a:endParaRPr lang="en-US" sz="2800" b="1">
              <a:solidFill>
                <a:schemeClr val="tx2"/>
              </a:solidFill>
              <a:latin typeface="Arial"/>
              <a:cs typeface="Arial"/>
            </a:endParaRPr>
          </a:p>
        </p:txBody>
      </p:sp>
      <p:sp>
        <p:nvSpPr>
          <p:cNvPr id="7" name="Content Placeholder 2">
            <a:extLst>
              <a:ext uri="{FF2B5EF4-FFF2-40B4-BE49-F238E27FC236}">
                <a16:creationId xmlns:a16="http://schemas.microsoft.com/office/drawing/2014/main" id="{8910E663-3D3C-1352-D275-D706192E9685}"/>
              </a:ext>
            </a:extLst>
          </p:cNvPr>
          <p:cNvSpPr>
            <a:spLocks noGrp="1"/>
          </p:cNvSpPr>
          <p:nvPr/>
        </p:nvSpPr>
        <p:spPr bwMode="auto">
          <a:xfrm>
            <a:off x="182035" y="3779156"/>
            <a:ext cx="11295138" cy="11384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69875" indent="-269875" algn="l" rtl="0" eaLnBrk="0" fontAlgn="base" hangingPunct="0">
              <a:lnSpc>
                <a:spcPct val="110000"/>
              </a:lnSpc>
              <a:spcBef>
                <a:spcPct val="20000"/>
              </a:spcBef>
              <a:spcAft>
                <a:spcPct val="0"/>
              </a:spcAft>
              <a:buClr>
                <a:srgbClr val="ED8C01"/>
              </a:buClr>
              <a:buFont typeface="Wingdings" pitchFamily="2" charset="2"/>
              <a:buChar char="§"/>
              <a:defRPr sz="2400">
                <a:solidFill>
                  <a:schemeClr val="tx1"/>
                </a:solidFill>
                <a:latin typeface="+mn-lt"/>
                <a:ea typeface="+mn-ea"/>
                <a:cs typeface="+mn-cs"/>
              </a:defRPr>
            </a:lvl1pPr>
            <a:lvl2pPr marL="720725" indent="-271463"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2pPr>
            <a:lvl3pPr marL="1163638" indent="-263525"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3pPr>
            <a:lvl4pPr marL="1614488" indent="-271463"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4pPr>
            <a:lvl5pPr marL="1974850" indent="-180975"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5pPr>
            <a:lvl6pPr marL="24320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6pPr>
            <a:lvl7pPr marL="28892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7pPr>
            <a:lvl8pPr marL="33464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8pPr>
            <a:lvl9pPr marL="38036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9pPr>
          </a:lstStyle>
          <a:p>
            <a:pPr>
              <a:lnSpc>
                <a:spcPct val="100000"/>
              </a:lnSpc>
              <a:spcBef>
                <a:spcPct val="0"/>
              </a:spcBef>
            </a:pPr>
            <a:r>
              <a:rPr lang="en-US" sz="1800">
                <a:cs typeface="Arial"/>
              </a:rPr>
              <a:t>Room acoustics depend not only on geometry but also on unknown material properties. </a:t>
            </a:r>
          </a:p>
          <a:p>
            <a:pPr>
              <a:lnSpc>
                <a:spcPct val="100000"/>
              </a:lnSpc>
              <a:spcBef>
                <a:spcPct val="0"/>
              </a:spcBef>
            </a:pPr>
            <a:r>
              <a:rPr lang="en-US" sz="1800">
                <a:cs typeface="Arial"/>
              </a:rPr>
              <a:t>FLAC captures the uncertainty of room acoustics by generating </a:t>
            </a:r>
            <a:r>
              <a:rPr lang="en-US" sz="1800" b="1">
                <a:cs typeface="Arial"/>
              </a:rPr>
              <a:t>multiple plausible RIRs </a:t>
            </a:r>
            <a:r>
              <a:rPr lang="en-US" sz="1800">
                <a:cs typeface="Arial"/>
              </a:rPr>
              <a:t>instead of a single deterministic prediction </a:t>
            </a:r>
          </a:p>
          <a:p>
            <a:pPr>
              <a:lnSpc>
                <a:spcPct val="100000"/>
              </a:lnSpc>
              <a:spcBef>
                <a:spcPct val="0"/>
              </a:spcBef>
            </a:pPr>
            <a:endParaRPr lang="en-US" sz="1800">
              <a:cs typeface="Arial"/>
            </a:endParaRPr>
          </a:p>
          <a:p>
            <a:pPr>
              <a:lnSpc>
                <a:spcPct val="100000"/>
              </a:lnSpc>
              <a:spcBef>
                <a:spcPct val="0"/>
              </a:spcBef>
            </a:pPr>
            <a:endParaRPr lang="en-US" sz="1800">
              <a:cs typeface="Arial"/>
            </a:endParaRPr>
          </a:p>
          <a:p>
            <a:pPr marL="0" indent="0">
              <a:lnSpc>
                <a:spcPct val="100000"/>
              </a:lnSpc>
              <a:spcBef>
                <a:spcPct val="0"/>
              </a:spcBef>
              <a:buNone/>
            </a:pPr>
            <a:endParaRPr lang="en-US" sz="1800">
              <a:cs typeface="Arial"/>
            </a:endParaRPr>
          </a:p>
          <a:p>
            <a:pPr>
              <a:lnSpc>
                <a:spcPct val="100000"/>
              </a:lnSpc>
              <a:spcBef>
                <a:spcPct val="0"/>
              </a:spcBef>
            </a:pPr>
            <a:endParaRPr lang="en-US" sz="1800">
              <a:cs typeface="Arial"/>
            </a:endParaRPr>
          </a:p>
          <a:p>
            <a:pPr>
              <a:lnSpc>
                <a:spcPct val="100000"/>
              </a:lnSpc>
              <a:spcBef>
                <a:spcPct val="0"/>
              </a:spcBef>
            </a:pPr>
            <a:endParaRPr lang="en-US" sz="1800">
              <a:cs typeface="Arial"/>
            </a:endParaRPr>
          </a:p>
          <a:p>
            <a:endParaRPr lang="en-US">
              <a:cs typeface="Arial"/>
            </a:endParaRPr>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3B479-41CA-2F8B-B885-54B186BCDE35}"/>
              </a:ext>
            </a:extLst>
          </p:cNvPr>
          <p:cNvSpPr>
            <a:spLocks noGrp="1"/>
          </p:cNvSpPr>
          <p:nvPr>
            <p:ph type="title"/>
          </p:nvPr>
        </p:nvSpPr>
        <p:spPr/>
        <p:txBody>
          <a:bodyPr/>
          <a:lstStyle/>
          <a:p>
            <a:r>
              <a:rPr lang="en-US" b="1">
                <a:cs typeface="Arial"/>
              </a:rPr>
              <a:t>FLAC PIPELINE</a:t>
            </a:r>
            <a:endParaRPr lang="en-US" b="1"/>
          </a:p>
        </p:txBody>
      </p:sp>
      <p:sp>
        <p:nvSpPr>
          <p:cNvPr id="3" name="Content Placeholder 2">
            <a:extLst>
              <a:ext uri="{FF2B5EF4-FFF2-40B4-BE49-F238E27FC236}">
                <a16:creationId xmlns:a16="http://schemas.microsoft.com/office/drawing/2014/main" id="{82DB4BEE-8479-EE83-46DA-891820AC6CA7}"/>
              </a:ext>
            </a:extLst>
          </p:cNvPr>
          <p:cNvSpPr>
            <a:spLocks noGrp="1"/>
          </p:cNvSpPr>
          <p:nvPr>
            <p:ph idx="1"/>
          </p:nvPr>
        </p:nvSpPr>
        <p:spPr/>
        <p:txBody>
          <a:bodyPr/>
          <a:lstStyle/>
          <a:p>
            <a:endParaRPr lang="en-US"/>
          </a:p>
          <a:p>
            <a:endParaRPr lang="en-US">
              <a:cs typeface="Arial"/>
            </a:endParaRPr>
          </a:p>
          <a:p>
            <a:endParaRPr lang="en-US">
              <a:cs typeface="Arial"/>
            </a:endParaRPr>
          </a:p>
          <a:p>
            <a:endParaRPr lang="en-US">
              <a:cs typeface="Arial"/>
            </a:endParaRPr>
          </a:p>
        </p:txBody>
      </p:sp>
      <p:sp>
        <p:nvSpPr>
          <p:cNvPr id="4" name="Rounded Rectangle 7">
            <a:extLst>
              <a:ext uri="{FF2B5EF4-FFF2-40B4-BE49-F238E27FC236}">
                <a16:creationId xmlns:a16="http://schemas.microsoft.com/office/drawing/2014/main" id="{3158462D-0C8D-3EB4-319A-6A7F1B170F29}"/>
              </a:ext>
            </a:extLst>
          </p:cNvPr>
          <p:cNvSpPr/>
          <p:nvPr/>
        </p:nvSpPr>
        <p:spPr>
          <a:xfrm>
            <a:off x="301897" y="1371600"/>
            <a:ext cx="1952172" cy="1364343"/>
          </a:xfrm>
          <a:prstGeom prst="rect">
            <a:avLst/>
          </a:prstGeom>
          <a:solidFill>
            <a:srgbClr val="F7F7F7"/>
          </a:solid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Sparse scene inputs</a:t>
            </a:r>
          </a:p>
          <a:p>
            <a:r>
              <a:rPr lang="en-US" sz="1400">
                <a:solidFill>
                  <a:srgbClr val="191919"/>
                </a:solidFill>
                <a:latin typeface="Arial"/>
              </a:rPr>
              <a:t>    </a:t>
            </a:r>
            <a:r>
              <a:rPr sz="1400">
                <a:solidFill>
                  <a:srgbClr val="191919"/>
                </a:solidFill>
                <a:latin typeface="Arial"/>
              </a:rPr>
              <a:t>Reference RIR(s)</a:t>
            </a:r>
          </a:p>
        </p:txBody>
      </p:sp>
      <p:sp>
        <p:nvSpPr>
          <p:cNvPr id="5" name="Rounded Rectangle 8">
            <a:extLst>
              <a:ext uri="{FF2B5EF4-FFF2-40B4-BE49-F238E27FC236}">
                <a16:creationId xmlns:a16="http://schemas.microsoft.com/office/drawing/2014/main" id="{8BF971A0-2134-F9C4-DD64-4E5C78843B7E}"/>
              </a:ext>
            </a:extLst>
          </p:cNvPr>
          <p:cNvSpPr/>
          <p:nvPr/>
        </p:nvSpPr>
        <p:spPr>
          <a:xfrm>
            <a:off x="2634344" y="1371600"/>
            <a:ext cx="1950719" cy="1371600"/>
          </a:xfrm>
          <a:prstGeom prst="rect">
            <a:avLst/>
          </a:prstGeom>
          <a:solidFill>
            <a:srgbClr val="FFFFFF"/>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VAE Encoder</a:t>
            </a:r>
          </a:p>
          <a:p>
            <a:r>
              <a:rPr sz="1400">
                <a:solidFill>
                  <a:srgbClr val="191919"/>
                </a:solidFill>
                <a:latin typeface="Arial"/>
              </a:rPr>
              <a:t>Compress target RIR</a:t>
            </a:r>
          </a:p>
          <a:p>
            <a:r>
              <a:rPr sz="1400">
                <a:solidFill>
                  <a:srgbClr val="191919"/>
                </a:solidFill>
                <a:latin typeface="Arial"/>
              </a:rPr>
              <a:t>into latent</a:t>
            </a:r>
            <a:r>
              <a:rPr sz="1400" b="1">
                <a:solidFill>
                  <a:srgbClr val="191919"/>
                </a:solidFill>
                <a:latin typeface="Arial"/>
              </a:rPr>
              <a:t> z₀</a:t>
            </a:r>
            <a:endParaRPr sz="1400" b="1">
              <a:solidFill>
                <a:srgbClr val="191919"/>
              </a:solidFill>
              <a:latin typeface="Arial"/>
              <a:cs typeface="Arial"/>
            </a:endParaRPr>
          </a:p>
        </p:txBody>
      </p:sp>
      <p:sp>
        <p:nvSpPr>
          <p:cNvPr id="6" name="Rounded Rectangle 9">
            <a:extLst>
              <a:ext uri="{FF2B5EF4-FFF2-40B4-BE49-F238E27FC236}">
                <a16:creationId xmlns:a16="http://schemas.microsoft.com/office/drawing/2014/main" id="{59830E87-5423-EA78-37AC-FBA788B4891D}"/>
              </a:ext>
            </a:extLst>
          </p:cNvPr>
          <p:cNvSpPr/>
          <p:nvPr/>
        </p:nvSpPr>
        <p:spPr>
          <a:xfrm>
            <a:off x="4979852" y="1364343"/>
            <a:ext cx="2130697" cy="1371600"/>
          </a:xfrm>
          <a:prstGeom prst="rect">
            <a:avLst/>
          </a:prstGeom>
          <a:solidFill>
            <a:srgbClr val="FFFFFF"/>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Flow Matching + </a:t>
            </a:r>
            <a:r>
              <a:rPr sz="1800" b="1" err="1">
                <a:solidFill>
                  <a:srgbClr val="191919"/>
                </a:solidFill>
                <a:latin typeface="Arial"/>
              </a:rPr>
              <a:t>DiT</a:t>
            </a:r>
            <a:endParaRPr lang="en-US" sz="1800" b="1" err="1">
              <a:solidFill>
                <a:srgbClr val="191919"/>
              </a:solidFill>
              <a:latin typeface="Arial"/>
              <a:cs typeface="Arial"/>
            </a:endParaRPr>
          </a:p>
          <a:p>
            <a:r>
              <a:rPr lang="en-US" sz="1400">
                <a:solidFill>
                  <a:srgbClr val="191919"/>
                </a:solidFill>
                <a:latin typeface="Arial"/>
                <a:cs typeface="Arial"/>
              </a:rPr>
              <a:t>   Noise interpolation</a:t>
            </a:r>
            <a:endParaRPr sz="1400">
              <a:solidFill>
                <a:srgbClr val="191919"/>
              </a:solidFill>
              <a:latin typeface="Arial"/>
              <a:cs typeface="Arial"/>
            </a:endParaRPr>
          </a:p>
          <a:p>
            <a:r>
              <a:rPr lang="en-US" sz="1400">
                <a:solidFill>
                  <a:srgbClr val="191919"/>
                </a:solidFill>
                <a:latin typeface="Arial"/>
              </a:rPr>
              <a:t>  </a:t>
            </a:r>
            <a:r>
              <a:rPr sz="1400">
                <a:solidFill>
                  <a:srgbClr val="191919"/>
                </a:solidFill>
                <a:latin typeface="Arial"/>
              </a:rPr>
              <a:t>Predict velocity field</a:t>
            </a:r>
          </a:p>
          <a:p>
            <a:endParaRPr sz="1400">
              <a:solidFill>
                <a:srgbClr val="191919"/>
              </a:solidFill>
              <a:latin typeface="Arial"/>
              <a:cs typeface="Arial"/>
            </a:endParaRPr>
          </a:p>
        </p:txBody>
      </p:sp>
      <p:sp>
        <p:nvSpPr>
          <p:cNvPr id="7" name="Rounded Rectangle 10">
            <a:extLst>
              <a:ext uri="{FF2B5EF4-FFF2-40B4-BE49-F238E27FC236}">
                <a16:creationId xmlns:a16="http://schemas.microsoft.com/office/drawing/2014/main" id="{B97D9B6C-5C25-C7FC-CEFE-6A5D7BB54409}"/>
              </a:ext>
            </a:extLst>
          </p:cNvPr>
          <p:cNvSpPr/>
          <p:nvPr/>
        </p:nvSpPr>
        <p:spPr>
          <a:xfrm>
            <a:off x="7715795" y="1364343"/>
            <a:ext cx="1740262" cy="1371600"/>
          </a:xfrm>
          <a:prstGeom prst="rect">
            <a:avLst/>
          </a:prstGeom>
          <a:solidFill>
            <a:srgbClr val="FFFFFF"/>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VAE Decoder</a:t>
            </a:r>
          </a:p>
        </p:txBody>
      </p:sp>
      <p:sp>
        <p:nvSpPr>
          <p:cNvPr id="8" name="Rounded Rectangle 11">
            <a:extLst>
              <a:ext uri="{FF2B5EF4-FFF2-40B4-BE49-F238E27FC236}">
                <a16:creationId xmlns:a16="http://schemas.microsoft.com/office/drawing/2014/main" id="{5C75DEC3-EDAE-6308-649B-87A70B70BA80}"/>
              </a:ext>
            </a:extLst>
          </p:cNvPr>
          <p:cNvSpPr/>
          <p:nvPr/>
        </p:nvSpPr>
        <p:spPr>
          <a:xfrm>
            <a:off x="9966960" y="1371600"/>
            <a:ext cx="1811382" cy="1364343"/>
          </a:xfrm>
          <a:prstGeom prst="rect">
            <a:avLst/>
          </a:prstGeom>
          <a:solidFill>
            <a:srgbClr val="F7F7F7"/>
          </a:solid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Generated RIR</a:t>
            </a:r>
          </a:p>
          <a:p>
            <a:r>
              <a:rPr sz="1400">
                <a:solidFill>
                  <a:srgbClr val="191919"/>
                </a:solidFill>
                <a:latin typeface="Arial"/>
              </a:rPr>
              <a:t>Scene-consistent</a:t>
            </a:r>
          </a:p>
          <a:p>
            <a:r>
              <a:rPr sz="1400">
                <a:solidFill>
                  <a:srgbClr val="191919"/>
                </a:solidFill>
                <a:latin typeface="Arial"/>
              </a:rPr>
              <a:t>acoustic output</a:t>
            </a:r>
          </a:p>
        </p:txBody>
      </p:sp>
      <p:sp>
        <p:nvSpPr>
          <p:cNvPr id="13" name="Rounded Rectangle 16">
            <a:extLst>
              <a:ext uri="{FF2B5EF4-FFF2-40B4-BE49-F238E27FC236}">
                <a16:creationId xmlns:a16="http://schemas.microsoft.com/office/drawing/2014/main" id="{0732906A-E0CA-8283-38C2-0D21FB4D704C}"/>
              </a:ext>
            </a:extLst>
          </p:cNvPr>
          <p:cNvSpPr/>
          <p:nvPr/>
        </p:nvSpPr>
        <p:spPr>
          <a:xfrm>
            <a:off x="4643909" y="3274120"/>
            <a:ext cx="2904182" cy="920496"/>
          </a:xfrm>
          <a:prstGeom prst="rect">
            <a:avLst/>
          </a:prstGeom>
          <a:solidFill>
            <a:schemeClr val="accent1">
              <a:lumMod val="20000"/>
              <a:lumOff val="80000"/>
            </a:schemeClr>
          </a:solidFill>
          <a:ln w="28575">
            <a:solidFill>
              <a:srgbClr val="ED8C0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Multimodal conditioning</a:t>
            </a:r>
          </a:p>
        </p:txBody>
      </p:sp>
      <p:sp>
        <p:nvSpPr>
          <p:cNvPr id="15" name="Rounded Rectangle 18">
            <a:extLst>
              <a:ext uri="{FF2B5EF4-FFF2-40B4-BE49-F238E27FC236}">
                <a16:creationId xmlns:a16="http://schemas.microsoft.com/office/drawing/2014/main" id="{13F12717-2941-E930-EC91-18248743442F}"/>
              </a:ext>
            </a:extLst>
          </p:cNvPr>
          <p:cNvSpPr/>
          <p:nvPr/>
        </p:nvSpPr>
        <p:spPr>
          <a:xfrm>
            <a:off x="9962606" y="3268617"/>
            <a:ext cx="2004423" cy="1100183"/>
          </a:xfrm>
          <a:prstGeom prst="rect">
            <a:avLst/>
          </a:prstGeom>
          <a:solidFill>
            <a:srgbClr val="F7F7F7"/>
          </a:solid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AGREE</a:t>
            </a:r>
          </a:p>
        </p:txBody>
      </p:sp>
      <p:sp>
        <p:nvSpPr>
          <p:cNvPr id="17" name="Rectangle: Rounded Corners 16">
            <a:extLst>
              <a:ext uri="{FF2B5EF4-FFF2-40B4-BE49-F238E27FC236}">
                <a16:creationId xmlns:a16="http://schemas.microsoft.com/office/drawing/2014/main" id="{71326559-7B1F-7EEE-8303-2D31BEEBACFE}"/>
              </a:ext>
            </a:extLst>
          </p:cNvPr>
          <p:cNvSpPr/>
          <p:nvPr/>
        </p:nvSpPr>
        <p:spPr>
          <a:xfrm>
            <a:off x="1790397" y="4899583"/>
            <a:ext cx="8616311" cy="892294"/>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chemeClr val="tx1"/>
                </a:solidFill>
                <a:cs typeface="Arial"/>
              </a:rPr>
              <a:t>Core idea</a:t>
            </a:r>
            <a:r>
              <a:rPr lang="en-US" sz="2000">
                <a:solidFill>
                  <a:schemeClr val="tx1"/>
                </a:solidFill>
                <a:cs typeface="Arial"/>
              </a:rPr>
              <a:t> </a:t>
            </a:r>
          </a:p>
          <a:p>
            <a:pPr algn="ctr"/>
            <a:r>
              <a:rPr lang="en-US" sz="2000">
                <a:solidFill>
                  <a:schemeClr val="tx1"/>
                </a:solidFill>
                <a:cs typeface="Arial"/>
              </a:rPr>
              <a:t>Replace a single deterministic output with a probabilistic distribution of plausible room impulse  responses</a:t>
            </a:r>
            <a:endParaRPr lang="en-US">
              <a:solidFill>
                <a:schemeClr val="tx1"/>
              </a:solidFill>
              <a:cs typeface="Arial"/>
            </a:endParaRPr>
          </a:p>
        </p:txBody>
      </p:sp>
      <p:sp>
        <p:nvSpPr>
          <p:cNvPr id="20" name="Arrow: Right 19">
            <a:extLst>
              <a:ext uri="{FF2B5EF4-FFF2-40B4-BE49-F238E27FC236}">
                <a16:creationId xmlns:a16="http://schemas.microsoft.com/office/drawing/2014/main" id="{3C7A4823-6A1C-A6D5-0569-B85BF019EB1D}"/>
              </a:ext>
            </a:extLst>
          </p:cNvPr>
          <p:cNvSpPr/>
          <p:nvPr/>
        </p:nvSpPr>
        <p:spPr>
          <a:xfrm>
            <a:off x="2258281" y="2031718"/>
            <a:ext cx="370317" cy="70385"/>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17D034F4-3EA4-BE3A-9E9A-D635116B0EC2}"/>
              </a:ext>
            </a:extLst>
          </p:cNvPr>
          <p:cNvSpPr/>
          <p:nvPr/>
        </p:nvSpPr>
        <p:spPr>
          <a:xfrm>
            <a:off x="4603057" y="2044940"/>
            <a:ext cx="361864" cy="54180"/>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4134F133-9C53-12B0-3202-D2FE8A54CCE2}"/>
              </a:ext>
            </a:extLst>
          </p:cNvPr>
          <p:cNvSpPr/>
          <p:nvPr/>
        </p:nvSpPr>
        <p:spPr>
          <a:xfrm>
            <a:off x="7153615" y="2038480"/>
            <a:ext cx="557494" cy="92747"/>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CDF134CC-C935-4779-1F9E-40ED6DCF3DE3}"/>
              </a:ext>
            </a:extLst>
          </p:cNvPr>
          <p:cNvSpPr/>
          <p:nvPr/>
        </p:nvSpPr>
        <p:spPr>
          <a:xfrm>
            <a:off x="9455342" y="2057269"/>
            <a:ext cx="509095" cy="91758"/>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Up 24">
            <a:extLst>
              <a:ext uri="{FF2B5EF4-FFF2-40B4-BE49-F238E27FC236}">
                <a16:creationId xmlns:a16="http://schemas.microsoft.com/office/drawing/2014/main" id="{3689AC2C-AFE7-5C03-0ACF-554289C7C8B5}"/>
              </a:ext>
            </a:extLst>
          </p:cNvPr>
          <p:cNvSpPr/>
          <p:nvPr/>
        </p:nvSpPr>
        <p:spPr>
          <a:xfrm>
            <a:off x="6008544" y="2743786"/>
            <a:ext cx="107915" cy="511139"/>
          </a:xfrm>
          <a:prstGeom prst="up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Down 25">
            <a:extLst>
              <a:ext uri="{FF2B5EF4-FFF2-40B4-BE49-F238E27FC236}">
                <a16:creationId xmlns:a16="http://schemas.microsoft.com/office/drawing/2014/main" id="{609048BE-E9D2-CBB5-18B1-FEA8E1378E27}"/>
              </a:ext>
            </a:extLst>
          </p:cNvPr>
          <p:cNvSpPr/>
          <p:nvPr/>
        </p:nvSpPr>
        <p:spPr>
          <a:xfrm>
            <a:off x="10880582" y="2742026"/>
            <a:ext cx="114701" cy="532094"/>
          </a:xfrm>
          <a:prstGeom prst="dow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17495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34434" y="241300"/>
            <a:ext cx="11425767" cy="780143"/>
          </a:xfrm>
        </p:spPr>
        <p:txBody>
          <a:bodyPr/>
          <a:lstStyle/>
          <a:p>
            <a:r>
              <a:rPr lang="en-US" b="1">
                <a:solidFill>
                  <a:schemeClr val="accent1"/>
                </a:solidFill>
              </a:rPr>
              <a:t>VARIATIONAL AUTOENCODER (VAE)</a:t>
            </a:r>
            <a:endParaRPr lang="en-US">
              <a:solidFill>
                <a:schemeClr val="accent1"/>
              </a:solidFill>
              <a:cs typeface="Arial"/>
            </a:endParaRPr>
          </a:p>
        </p:txBody>
      </p:sp>
      <p:sp>
        <p:nvSpPr>
          <p:cNvPr id="30723" name="Rectangle 3"/>
          <p:cNvSpPr>
            <a:spLocks noGrp="1" noChangeArrowheads="1"/>
          </p:cNvSpPr>
          <p:nvPr>
            <p:ph idx="1"/>
          </p:nvPr>
        </p:nvSpPr>
        <p:spPr>
          <a:xfrm>
            <a:off x="276377" y="803729"/>
            <a:ext cx="11425767" cy="4527550"/>
          </a:xfrm>
        </p:spPr>
        <p:txBody>
          <a:bodyPr/>
          <a:lstStyle/>
          <a:p>
            <a:endParaRPr lang="de-DE" sz="2000">
              <a:cs typeface="Arial"/>
            </a:endParaRPr>
          </a:p>
          <a:p>
            <a:endParaRPr lang="en-US" sz="2000">
              <a:solidFill>
                <a:srgbClr val="000000"/>
              </a:solidFill>
              <a:cs typeface="Arial"/>
            </a:endParaRPr>
          </a:p>
        </p:txBody>
      </p:sp>
      <p:sp>
        <p:nvSpPr>
          <p:cNvPr id="2" name="Rounded Rectangle 6">
            <a:extLst>
              <a:ext uri="{FF2B5EF4-FFF2-40B4-BE49-F238E27FC236}">
                <a16:creationId xmlns:a16="http://schemas.microsoft.com/office/drawing/2014/main" id="{9C3133FC-2317-2988-5248-D5DE6B613400}"/>
              </a:ext>
            </a:extLst>
          </p:cNvPr>
          <p:cNvSpPr/>
          <p:nvPr/>
        </p:nvSpPr>
        <p:spPr>
          <a:xfrm>
            <a:off x="448492" y="2140857"/>
            <a:ext cx="2200365" cy="1280160"/>
          </a:xfrm>
          <a:prstGeom prst="rect">
            <a:avLst/>
          </a:prstGeom>
          <a:solidFill>
            <a:srgbClr val="FFFFFF"/>
          </a:solidFill>
          <a:ln w="28575">
            <a:solidFill>
              <a:srgbClr val="ED8C0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2000" b="1">
                <a:solidFill>
                  <a:srgbClr val="1E1E1E"/>
                </a:solidFill>
                <a:latin typeface="Arial"/>
              </a:rPr>
              <a:t>Input</a:t>
            </a:r>
          </a:p>
          <a:p>
            <a:r>
              <a:rPr sz="1600">
                <a:solidFill>
                  <a:srgbClr val="1E1E1E"/>
                </a:solidFill>
                <a:latin typeface="Arial"/>
              </a:rPr>
              <a:t>Real RIR waveform</a:t>
            </a:r>
          </a:p>
        </p:txBody>
      </p:sp>
      <p:sp>
        <p:nvSpPr>
          <p:cNvPr id="3" name="Rounded Rectangle 7">
            <a:extLst>
              <a:ext uri="{FF2B5EF4-FFF2-40B4-BE49-F238E27FC236}">
                <a16:creationId xmlns:a16="http://schemas.microsoft.com/office/drawing/2014/main" id="{9823F6A5-431F-A183-F815-361E689A2D5F}"/>
              </a:ext>
            </a:extLst>
          </p:cNvPr>
          <p:cNvSpPr/>
          <p:nvPr/>
        </p:nvSpPr>
        <p:spPr>
          <a:xfrm>
            <a:off x="3043646" y="2146663"/>
            <a:ext cx="2110377" cy="1261292"/>
          </a:xfrm>
          <a:prstGeom prst="rect">
            <a:avLst/>
          </a:prstGeom>
          <a:solidFill>
            <a:srgbClr val="FFFFFF"/>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2000" b="1">
                <a:solidFill>
                  <a:srgbClr val="1E1E1E"/>
                </a:solidFill>
                <a:latin typeface="Arial"/>
              </a:rPr>
              <a:t>Encoder</a:t>
            </a:r>
          </a:p>
          <a:p>
            <a:r>
              <a:rPr sz="1600">
                <a:solidFill>
                  <a:srgbClr val="1E1E1E"/>
                </a:solidFill>
                <a:latin typeface="Arial"/>
              </a:rPr>
              <a:t>Convolutional blocks</a:t>
            </a:r>
          </a:p>
          <a:p>
            <a:r>
              <a:rPr lang="en-US" sz="1600">
                <a:solidFill>
                  <a:srgbClr val="1E1E1E"/>
                </a:solidFill>
                <a:latin typeface="Arial"/>
              </a:rPr>
              <a:t>Down sampling</a:t>
            </a:r>
            <a:endParaRPr sz="1600">
              <a:solidFill>
                <a:srgbClr val="1E1E1E"/>
              </a:solidFill>
              <a:latin typeface="Arial"/>
              <a:cs typeface="Arial"/>
            </a:endParaRPr>
          </a:p>
          <a:p>
            <a:r>
              <a:rPr sz="1600">
                <a:solidFill>
                  <a:srgbClr val="1E1E1E"/>
                </a:solidFill>
                <a:latin typeface="Arial"/>
              </a:rPr>
              <a:t>Latent compression</a:t>
            </a:r>
          </a:p>
        </p:txBody>
      </p:sp>
      <p:sp>
        <p:nvSpPr>
          <p:cNvPr id="4" name="Rounded Rectangle 8">
            <a:extLst>
              <a:ext uri="{FF2B5EF4-FFF2-40B4-BE49-F238E27FC236}">
                <a16:creationId xmlns:a16="http://schemas.microsoft.com/office/drawing/2014/main" id="{8767441B-50DF-366E-D694-4FB9C7C56DD8}"/>
              </a:ext>
            </a:extLst>
          </p:cNvPr>
          <p:cNvSpPr/>
          <p:nvPr/>
        </p:nvSpPr>
        <p:spPr>
          <a:xfrm>
            <a:off x="5611223" y="2140857"/>
            <a:ext cx="2304868" cy="1272903"/>
          </a:xfrm>
          <a:prstGeom prst="rect">
            <a:avLst/>
          </a:prstGeom>
          <a:solidFill>
            <a:srgbClr val="FFFFFF"/>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2000" b="1">
                <a:solidFill>
                  <a:srgbClr val="1E1E1E"/>
                </a:solidFill>
                <a:latin typeface="Arial"/>
              </a:rPr>
              <a:t>Latent </a:t>
            </a:r>
            <a:r>
              <a:rPr lang="en-US" sz="2000" b="1">
                <a:solidFill>
                  <a:srgbClr val="1E1E1E"/>
                </a:solidFill>
                <a:latin typeface="Arial"/>
              </a:rPr>
              <a:t>Representation</a:t>
            </a:r>
            <a:endParaRPr lang="en-US"/>
          </a:p>
          <a:p>
            <a:pPr algn="ctr"/>
            <a:r>
              <a:rPr lang="en-US" sz="2000" b="1">
                <a:solidFill>
                  <a:srgbClr val="1E1E1E"/>
                </a:solidFill>
                <a:latin typeface="Arial"/>
              </a:rPr>
              <a:t>z</a:t>
            </a:r>
            <a:r>
              <a:rPr sz="2000" b="1">
                <a:solidFill>
                  <a:srgbClr val="1E1E1E"/>
                </a:solidFill>
                <a:latin typeface="Arial"/>
              </a:rPr>
              <a:t>₀</a:t>
            </a:r>
            <a:endParaRPr/>
          </a:p>
          <a:p>
            <a:endParaRPr sz="1600">
              <a:solidFill>
                <a:srgbClr val="1E1E1E"/>
              </a:solidFill>
              <a:latin typeface="Arial"/>
              <a:cs typeface="Arial"/>
            </a:endParaRPr>
          </a:p>
        </p:txBody>
      </p:sp>
      <p:sp>
        <p:nvSpPr>
          <p:cNvPr id="5" name="Rounded Rectangle 9">
            <a:extLst>
              <a:ext uri="{FF2B5EF4-FFF2-40B4-BE49-F238E27FC236}">
                <a16:creationId xmlns:a16="http://schemas.microsoft.com/office/drawing/2014/main" id="{6A83DDC5-A5F6-3AD2-AF2A-91D1A1C79523}"/>
              </a:ext>
            </a:extLst>
          </p:cNvPr>
          <p:cNvSpPr/>
          <p:nvPr/>
        </p:nvSpPr>
        <p:spPr>
          <a:xfrm>
            <a:off x="8368936" y="2132148"/>
            <a:ext cx="2386148" cy="1283064"/>
          </a:xfrm>
          <a:prstGeom prst="rect">
            <a:avLst/>
          </a:prstGeom>
          <a:solidFill>
            <a:srgbClr val="FFFFFF"/>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2000" b="1">
                <a:solidFill>
                  <a:srgbClr val="1E1E1E"/>
                </a:solidFill>
                <a:latin typeface="Arial"/>
              </a:rPr>
              <a:t>Decoder</a:t>
            </a:r>
          </a:p>
          <a:p>
            <a:r>
              <a:rPr lang="en-US" sz="1600">
                <a:solidFill>
                  <a:srgbClr val="1E1E1E"/>
                </a:solidFill>
                <a:latin typeface="Arial"/>
              </a:rPr>
              <a:t>Reconstructs waveform</a:t>
            </a:r>
          </a:p>
          <a:p>
            <a:r>
              <a:rPr lang="en-US" sz="1600">
                <a:solidFill>
                  <a:srgbClr val="1E1E1E"/>
                </a:solidFill>
                <a:latin typeface="Arial"/>
                <a:cs typeface="Arial"/>
              </a:rPr>
              <a:t>Mirror Architecture</a:t>
            </a:r>
          </a:p>
        </p:txBody>
      </p:sp>
      <p:pic>
        <p:nvPicPr>
          <p:cNvPr id="10" name="Picture 9" descr="A red sound wave&#10;&#10;AI-generated content may be incorrect.">
            <a:extLst>
              <a:ext uri="{FF2B5EF4-FFF2-40B4-BE49-F238E27FC236}">
                <a16:creationId xmlns:a16="http://schemas.microsoft.com/office/drawing/2014/main" id="{3136559E-0FC5-3C09-4CAC-7D91DD4D34F7}"/>
              </a:ext>
            </a:extLst>
          </p:cNvPr>
          <p:cNvPicPr>
            <a:picLocks noChangeAspect="1"/>
          </p:cNvPicPr>
          <p:nvPr/>
        </p:nvPicPr>
        <p:blipFill>
          <a:blip r:embed="rId3"/>
          <a:stretch>
            <a:fillRect/>
          </a:stretch>
        </p:blipFill>
        <p:spPr>
          <a:xfrm>
            <a:off x="575583" y="2167165"/>
            <a:ext cx="684893" cy="607786"/>
          </a:xfrm>
          <a:prstGeom prst="rect">
            <a:avLst/>
          </a:prstGeom>
        </p:spPr>
      </p:pic>
      <p:sp>
        <p:nvSpPr>
          <p:cNvPr id="11" name="Arrow: Right 10">
            <a:extLst>
              <a:ext uri="{FF2B5EF4-FFF2-40B4-BE49-F238E27FC236}">
                <a16:creationId xmlns:a16="http://schemas.microsoft.com/office/drawing/2014/main" id="{2BE41955-2121-BFF2-B267-E00579F9E224}"/>
              </a:ext>
            </a:extLst>
          </p:cNvPr>
          <p:cNvSpPr/>
          <p:nvPr/>
        </p:nvSpPr>
        <p:spPr>
          <a:xfrm>
            <a:off x="2661007" y="2747976"/>
            <a:ext cx="356294" cy="65730"/>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A4DDBD8E-43BD-731E-8B33-718F73016FBE}"/>
              </a:ext>
            </a:extLst>
          </p:cNvPr>
          <p:cNvSpPr/>
          <p:nvPr/>
        </p:nvSpPr>
        <p:spPr>
          <a:xfrm>
            <a:off x="5170559" y="2778376"/>
            <a:ext cx="440784" cy="81063"/>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C42AAC7C-8473-9D7B-BB93-95AE7237D0F4}"/>
              </a:ext>
            </a:extLst>
          </p:cNvPr>
          <p:cNvSpPr/>
          <p:nvPr/>
        </p:nvSpPr>
        <p:spPr>
          <a:xfrm>
            <a:off x="7927773" y="2737063"/>
            <a:ext cx="432075" cy="68440"/>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CD1053-8931-F0DD-9365-4759BF68803F}"/>
              </a:ext>
            </a:extLst>
          </p:cNvPr>
          <p:cNvSpPr/>
          <p:nvPr/>
        </p:nvSpPr>
        <p:spPr>
          <a:xfrm>
            <a:off x="1772556" y="4590024"/>
            <a:ext cx="7844972" cy="1001487"/>
          </a:xfrm>
          <a:prstGeom prst="roundRect">
            <a:avLst/>
          </a:prstGeom>
          <a:solidFill>
            <a:schemeClr val="bg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b="1">
              <a:solidFill>
                <a:schemeClr val="bg2"/>
              </a:solidFill>
              <a:cs typeface="Arial"/>
            </a:endParaRPr>
          </a:p>
          <a:p>
            <a:pPr algn="ctr"/>
            <a:r>
              <a:rPr lang="en-US" b="1">
                <a:solidFill>
                  <a:schemeClr val="tx1"/>
                </a:solidFill>
                <a:cs typeface="Arial"/>
              </a:rPr>
              <a:t>Why this matters</a:t>
            </a:r>
            <a:endParaRPr lang="en-US">
              <a:solidFill>
                <a:schemeClr val="tx1"/>
              </a:solidFill>
              <a:cs typeface="Arial"/>
            </a:endParaRPr>
          </a:p>
          <a:p>
            <a:pPr algn="ctr"/>
            <a:r>
              <a:rPr lang="en-US">
                <a:solidFill>
                  <a:schemeClr val="tx1"/>
                </a:solidFill>
                <a:cs typeface="Arial"/>
              </a:rPr>
              <a:t>Instead of learning directly in raw waveform space, FLAC learns in a compressed latent space </a:t>
            </a:r>
          </a:p>
          <a:p>
            <a:pPr algn="ctr"/>
            <a:endParaRPr lang="en-US">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37B7-4704-10F8-2B24-53A4E50949E8}"/>
              </a:ext>
            </a:extLst>
          </p:cNvPr>
          <p:cNvSpPr>
            <a:spLocks noGrp="1"/>
          </p:cNvSpPr>
          <p:nvPr>
            <p:ph type="title"/>
          </p:nvPr>
        </p:nvSpPr>
        <p:spPr>
          <a:xfrm>
            <a:off x="606" y="226786"/>
            <a:ext cx="11425767" cy="1143000"/>
          </a:xfrm>
        </p:spPr>
        <p:txBody>
          <a:bodyPr/>
          <a:lstStyle/>
          <a:p>
            <a:r>
              <a:rPr lang="en-US" b="1">
                <a:cs typeface="Arial"/>
              </a:rPr>
              <a:t>More detailed picture  </a:t>
            </a:r>
            <a:r>
              <a:rPr lang="en-US">
                <a:cs typeface="Arial"/>
              </a:rPr>
              <a:t>(</a:t>
            </a:r>
            <a:r>
              <a:rPr lang="en-US" b="1">
                <a:cs typeface="Arial"/>
              </a:rPr>
              <a:t>VAE</a:t>
            </a:r>
            <a:r>
              <a:rPr lang="en-US">
                <a:cs typeface="Arial"/>
              </a:rPr>
              <a:t>)</a:t>
            </a:r>
            <a:endParaRPr lang="en-US" b="1">
              <a:cs typeface="Arial"/>
            </a:endParaRPr>
          </a:p>
        </p:txBody>
      </p:sp>
      <p:graphicFrame>
        <p:nvGraphicFramePr>
          <p:cNvPr id="21" name="Content Placeholder 20">
            <a:extLst>
              <a:ext uri="{FF2B5EF4-FFF2-40B4-BE49-F238E27FC236}">
                <a16:creationId xmlns:a16="http://schemas.microsoft.com/office/drawing/2014/main" id="{043395CE-F755-31E2-DFAC-23703023EAE0}"/>
              </a:ext>
            </a:extLst>
          </p:cNvPr>
          <p:cNvGraphicFramePr>
            <a:graphicFrameLocks noGrp="1"/>
          </p:cNvGraphicFramePr>
          <p:nvPr>
            <p:ph idx="1"/>
            <p:extLst>
              <p:ext uri="{D42A27DB-BD31-4B8C-83A1-F6EECF244321}">
                <p14:modId xmlns:p14="http://schemas.microsoft.com/office/powerpoint/2010/main" val="1479848821"/>
              </p:ext>
            </p:extLst>
          </p:nvPr>
        </p:nvGraphicFramePr>
        <p:xfrm>
          <a:off x="-333828" y="856342"/>
          <a:ext cx="12469078" cy="5036157"/>
        </p:xfrm>
        <a:graphic>
          <a:graphicData uri="http://schemas.openxmlformats.org/drawingml/2006/table">
            <a:tbl>
              <a:tblPr bandRow="1">
                <a:tableStyleId>{5C22544A-7EE6-4342-B048-85BDC9FD1C3A}</a:tableStyleId>
              </a:tblPr>
              <a:tblGrid>
                <a:gridCol w="12469078">
                  <a:extLst>
                    <a:ext uri="{9D8B030D-6E8A-4147-A177-3AD203B41FA5}">
                      <a16:colId xmlns:a16="http://schemas.microsoft.com/office/drawing/2014/main" val="2270124725"/>
                    </a:ext>
                  </a:extLst>
                </a:gridCol>
              </a:tblGrid>
              <a:tr h="5036157">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1360007420"/>
                  </a:ext>
                </a:extLst>
              </a:tr>
            </a:tbl>
          </a:graphicData>
        </a:graphic>
      </p:graphicFrame>
      <p:sp>
        <p:nvSpPr>
          <p:cNvPr id="4" name="Rectangle 3">
            <a:extLst>
              <a:ext uri="{FF2B5EF4-FFF2-40B4-BE49-F238E27FC236}">
                <a16:creationId xmlns:a16="http://schemas.microsoft.com/office/drawing/2014/main" id="{D98E879D-8E93-7AB7-5D56-29288CF57DB9}"/>
              </a:ext>
            </a:extLst>
          </p:cNvPr>
          <p:cNvSpPr/>
          <p:nvPr/>
        </p:nvSpPr>
        <p:spPr>
          <a:xfrm>
            <a:off x="821509" y="2149566"/>
            <a:ext cx="1201784" cy="1058094"/>
          </a:xfrm>
          <a:prstGeom prst="rect">
            <a:avLst/>
          </a:prstGeom>
          <a:noFill/>
          <a:ln w="28575">
            <a:solidFill>
              <a:schemeClr val="accent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600" b="1">
                <a:solidFill>
                  <a:srgbClr val="282828"/>
                </a:solidFill>
              </a:rPr>
              <a:t>Input</a:t>
            </a:r>
          </a:p>
          <a:p>
            <a:pPr algn="l"/>
            <a:r>
              <a:rPr sz="1100">
                <a:solidFill>
                  <a:srgbClr val="282828"/>
                </a:solidFill>
              </a:rPr>
              <a:t>• RIR waveform</a:t>
            </a:r>
          </a:p>
        </p:txBody>
      </p:sp>
      <p:sp>
        <p:nvSpPr>
          <p:cNvPr id="5" name="Rectangle 4">
            <a:extLst>
              <a:ext uri="{FF2B5EF4-FFF2-40B4-BE49-F238E27FC236}">
                <a16:creationId xmlns:a16="http://schemas.microsoft.com/office/drawing/2014/main" id="{025B4609-625A-4E5A-73D3-01FB158206ED}"/>
              </a:ext>
            </a:extLst>
          </p:cNvPr>
          <p:cNvSpPr/>
          <p:nvPr/>
        </p:nvSpPr>
        <p:spPr>
          <a:xfrm>
            <a:off x="2663371" y="2162627"/>
            <a:ext cx="1418047" cy="1031968"/>
          </a:xfrm>
          <a:prstGeom prst="rect">
            <a:avLst/>
          </a:prstGeom>
          <a:noFill/>
          <a:ln w="28575">
            <a:solidFill>
              <a:srgbClr val="F08C00"/>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600" b="1">
                <a:solidFill>
                  <a:srgbClr val="282828"/>
                </a:solidFill>
              </a:rPr>
              <a:t>Encoder</a:t>
            </a:r>
          </a:p>
          <a:p>
            <a:r>
              <a:rPr sz="1100">
                <a:solidFill>
                  <a:srgbClr val="282828"/>
                </a:solidFill>
              </a:rPr>
              <a:t>• </a:t>
            </a:r>
            <a:r>
              <a:rPr lang="en-US" sz="1100">
                <a:solidFill>
                  <a:srgbClr val="282828"/>
                </a:solidFill>
                <a:ea typeface="+mn-lt"/>
                <a:cs typeface="+mn-lt"/>
              </a:rPr>
              <a:t>Conv Blocks ×4</a:t>
            </a:r>
          </a:p>
          <a:p>
            <a:r>
              <a:rPr lang="en-US" sz="1100">
                <a:solidFill>
                  <a:srgbClr val="282828"/>
                </a:solidFill>
                <a:cs typeface="Arial"/>
              </a:rPr>
              <a:t>• </a:t>
            </a:r>
            <a:r>
              <a:rPr lang="en-US" sz="1100">
                <a:solidFill>
                  <a:srgbClr val="282828"/>
                </a:solidFill>
                <a:ea typeface="+mn-lt"/>
                <a:cs typeface="+mn-lt"/>
              </a:rPr>
              <a:t>Feature Extraction</a:t>
            </a:r>
          </a:p>
          <a:p>
            <a:pPr algn="l"/>
            <a:endParaRPr lang="en-US" sz="1100">
              <a:solidFill>
                <a:srgbClr val="282828"/>
              </a:solidFill>
              <a:cs typeface="Arial"/>
            </a:endParaRPr>
          </a:p>
        </p:txBody>
      </p:sp>
      <p:sp>
        <p:nvSpPr>
          <p:cNvPr id="6" name="Rectangle 5">
            <a:extLst>
              <a:ext uri="{FF2B5EF4-FFF2-40B4-BE49-F238E27FC236}">
                <a16:creationId xmlns:a16="http://schemas.microsoft.com/office/drawing/2014/main" id="{E6192073-4B31-6190-8E08-49D5D8F78E1E}"/>
              </a:ext>
            </a:extLst>
          </p:cNvPr>
          <p:cNvSpPr/>
          <p:nvPr/>
        </p:nvSpPr>
        <p:spPr>
          <a:xfrm>
            <a:off x="4712788" y="1374502"/>
            <a:ext cx="3637281" cy="2667725"/>
          </a:xfrm>
          <a:prstGeom prst="rect">
            <a:avLst/>
          </a:prstGeom>
          <a:solidFill>
            <a:schemeClr val="accent1">
              <a:lumMod val="20000"/>
              <a:lumOff val="80000"/>
            </a:schemeClr>
          </a:solidFill>
          <a:ln w="57150">
            <a:solidFill>
              <a:schemeClr val="accent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TextBox 5">
            <a:extLst>
              <a:ext uri="{FF2B5EF4-FFF2-40B4-BE49-F238E27FC236}">
                <a16:creationId xmlns:a16="http://schemas.microsoft.com/office/drawing/2014/main" id="{3DA59355-E54D-3F12-4FAF-F6FA526DA300}"/>
              </a:ext>
            </a:extLst>
          </p:cNvPr>
          <p:cNvSpPr txBox="1"/>
          <p:nvPr/>
        </p:nvSpPr>
        <p:spPr>
          <a:xfrm>
            <a:off x="5576391" y="1527628"/>
            <a:ext cx="1545772" cy="369332"/>
          </a:xfrm>
          <a:prstGeom prst="rect">
            <a:avLst/>
          </a:prstGeom>
          <a:solidFill>
            <a:schemeClr val="bg1"/>
          </a:solidFill>
          <a:ln w="28575">
            <a:solidFill>
              <a:schemeClr val="accent1"/>
            </a:solid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Latent space</a:t>
            </a:r>
          </a:p>
        </p:txBody>
      </p:sp>
      <p:sp>
        <p:nvSpPr>
          <p:cNvPr id="8" name="Rectangle 7">
            <a:extLst>
              <a:ext uri="{FF2B5EF4-FFF2-40B4-BE49-F238E27FC236}">
                <a16:creationId xmlns:a16="http://schemas.microsoft.com/office/drawing/2014/main" id="{A795D7B1-6DBD-B491-A5A4-DEFC0A415544}"/>
              </a:ext>
            </a:extLst>
          </p:cNvPr>
          <p:cNvSpPr/>
          <p:nvPr/>
        </p:nvSpPr>
        <p:spPr>
          <a:xfrm>
            <a:off x="5026298" y="2410823"/>
            <a:ext cx="1075509" cy="573316"/>
          </a:xfrm>
          <a:prstGeom prst="rect">
            <a:avLst/>
          </a:prstGeom>
          <a:solidFill>
            <a:schemeClr val="bg1"/>
          </a:solidFill>
          <a:ln w="28575">
            <a:solidFill>
              <a:srgbClr val="F08C00"/>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400" b="1">
                <a:solidFill>
                  <a:srgbClr val="282828"/>
                </a:solidFill>
              </a:rPr>
              <a:t>Mean</a:t>
            </a:r>
          </a:p>
          <a:p>
            <a:r>
              <a:rPr lang="en-US" sz="1100" b="1">
                <a:solidFill>
                  <a:srgbClr val="282828"/>
                </a:solidFill>
              </a:rPr>
              <a:t>    </a:t>
            </a:r>
            <a:r>
              <a:rPr sz="1100" b="1">
                <a:solidFill>
                  <a:srgbClr val="282828"/>
                </a:solidFill>
              </a:rPr>
              <a:t>μ</a:t>
            </a:r>
            <a:r>
              <a:rPr lang="en-US" sz="1100" b="1">
                <a:solidFill>
                  <a:srgbClr val="282828"/>
                </a:solidFill>
              </a:rPr>
              <a:t> </a:t>
            </a:r>
            <a:r>
              <a:rPr sz="1100">
                <a:solidFill>
                  <a:srgbClr val="282828"/>
                </a:solidFill>
              </a:rPr>
              <a:t>∈ R³²</a:t>
            </a:r>
            <a:endParaRPr sz="1100">
              <a:solidFill>
                <a:srgbClr val="282828"/>
              </a:solidFill>
              <a:cs typeface="Arial"/>
            </a:endParaRPr>
          </a:p>
        </p:txBody>
      </p:sp>
      <p:sp>
        <p:nvSpPr>
          <p:cNvPr id="9" name="Rectangle 8">
            <a:extLst>
              <a:ext uri="{FF2B5EF4-FFF2-40B4-BE49-F238E27FC236}">
                <a16:creationId xmlns:a16="http://schemas.microsoft.com/office/drawing/2014/main" id="{02885843-E287-BC5A-E40F-C3F737E140A0}"/>
              </a:ext>
            </a:extLst>
          </p:cNvPr>
          <p:cNvSpPr/>
          <p:nvPr/>
        </p:nvSpPr>
        <p:spPr>
          <a:xfrm>
            <a:off x="5033554" y="3207657"/>
            <a:ext cx="1060995" cy="595087"/>
          </a:xfrm>
          <a:prstGeom prst="rect">
            <a:avLst/>
          </a:prstGeom>
          <a:solidFill>
            <a:schemeClr val="bg1"/>
          </a:solidFill>
          <a:ln w="28575">
            <a:solidFill>
              <a:srgbClr val="F08C00"/>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400" b="1">
                <a:solidFill>
                  <a:srgbClr val="282828"/>
                </a:solidFill>
                <a:cs typeface="Arial"/>
              </a:rPr>
              <a:t>Log variance</a:t>
            </a:r>
          </a:p>
          <a:p>
            <a:r>
              <a:rPr lang="en-US" sz="1100">
                <a:solidFill>
                  <a:srgbClr val="282828"/>
                </a:solidFill>
              </a:rPr>
              <a:t>  </a:t>
            </a:r>
            <a:r>
              <a:rPr sz="1100">
                <a:solidFill>
                  <a:srgbClr val="282828"/>
                </a:solidFill>
              </a:rPr>
              <a:t> </a:t>
            </a:r>
            <a:r>
              <a:rPr lang="en-US" sz="1100">
                <a:solidFill>
                  <a:srgbClr val="282828"/>
                </a:solidFill>
              </a:rPr>
              <a:t>log</a:t>
            </a:r>
            <a:r>
              <a:rPr lang="en-US" sz="1100" b="1">
                <a:solidFill>
                  <a:srgbClr val="282828"/>
                </a:solidFill>
              </a:rPr>
              <a:t> </a:t>
            </a:r>
            <a:r>
              <a:rPr lang="el-GR" sz="1100" b="1">
                <a:solidFill>
                  <a:srgbClr val="282828"/>
                </a:solidFill>
              </a:rPr>
              <a:t>σ²</a:t>
            </a:r>
            <a:r>
              <a:rPr sz="1100" b="1">
                <a:solidFill>
                  <a:srgbClr val="282828"/>
                </a:solidFill>
              </a:rPr>
              <a:t> </a:t>
            </a:r>
            <a:r>
              <a:rPr sz="1100">
                <a:solidFill>
                  <a:srgbClr val="282828"/>
                </a:solidFill>
              </a:rPr>
              <a:t>∈ R³²</a:t>
            </a:r>
          </a:p>
        </p:txBody>
      </p:sp>
      <p:sp>
        <p:nvSpPr>
          <p:cNvPr id="11" name="Rectangle 10">
            <a:extLst>
              <a:ext uri="{FF2B5EF4-FFF2-40B4-BE49-F238E27FC236}">
                <a16:creationId xmlns:a16="http://schemas.microsoft.com/office/drawing/2014/main" id="{9EA927F4-DF05-196F-4FB8-906EE184A63D}"/>
              </a:ext>
            </a:extLst>
          </p:cNvPr>
          <p:cNvSpPr/>
          <p:nvPr/>
        </p:nvSpPr>
        <p:spPr>
          <a:xfrm>
            <a:off x="6532879" y="2584993"/>
            <a:ext cx="1615440" cy="1133566"/>
          </a:xfrm>
          <a:prstGeom prst="rect">
            <a:avLst/>
          </a:prstGeom>
          <a:solidFill>
            <a:schemeClr val="bg1"/>
          </a:solidFill>
          <a:ln w="28575">
            <a:solidFill>
              <a:srgbClr val="F08C00"/>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200" b="1">
                <a:solidFill>
                  <a:srgbClr val="282828"/>
                </a:solidFill>
              </a:rPr>
              <a:t>Reparameterization</a:t>
            </a:r>
          </a:p>
          <a:p>
            <a:pPr algn="ctr"/>
            <a:r>
              <a:rPr lang="en-US" sz="1200" b="1">
                <a:solidFill>
                  <a:srgbClr val="282828"/>
                </a:solidFill>
                <a:cs typeface="Arial"/>
              </a:rPr>
              <a:t>(Sampling)</a:t>
            </a:r>
            <a:endParaRPr lang="en-US" sz="1200">
              <a:solidFill>
                <a:srgbClr val="000000"/>
              </a:solidFill>
              <a:cs typeface="Arial"/>
            </a:endParaRPr>
          </a:p>
          <a:p>
            <a:r>
              <a:rPr lang="en-US" sz="1100">
                <a:solidFill>
                  <a:srgbClr val="282828"/>
                </a:solidFill>
                <a:cs typeface="Arial"/>
              </a:rPr>
              <a:t>          </a:t>
            </a:r>
            <a:r>
              <a:rPr lang="el-GR" sz="1400" b="1">
                <a:solidFill>
                  <a:srgbClr val="191919"/>
                </a:solidFill>
                <a:cs typeface="Arial"/>
              </a:rPr>
              <a:t>ε</a:t>
            </a:r>
            <a:r>
              <a:rPr lang="en-US" sz="1100" b="1">
                <a:solidFill>
                  <a:srgbClr val="282828"/>
                </a:solidFill>
                <a:cs typeface="Arial"/>
              </a:rPr>
              <a:t>~N(0,I)</a:t>
            </a:r>
            <a:endParaRPr lang="en-US" b="1"/>
          </a:p>
          <a:p>
            <a:r>
              <a:rPr sz="1100">
                <a:solidFill>
                  <a:srgbClr val="282828"/>
                </a:solidFill>
              </a:rPr>
              <a:t> </a:t>
            </a:r>
            <a:r>
              <a:rPr lang="en-US" sz="1100">
                <a:solidFill>
                  <a:srgbClr val="282828"/>
                </a:solidFill>
              </a:rPr>
              <a:t>       </a:t>
            </a:r>
            <a:r>
              <a:rPr sz="1200" b="1">
                <a:solidFill>
                  <a:srgbClr val="282828"/>
                </a:solidFill>
              </a:rPr>
              <a:t>z=</a:t>
            </a:r>
            <a:r>
              <a:rPr lang="en-US" sz="1200" b="1">
                <a:solidFill>
                  <a:srgbClr val="282828"/>
                </a:solidFill>
              </a:rPr>
              <a:t> </a:t>
            </a:r>
            <a:r>
              <a:rPr sz="1200" b="1">
                <a:solidFill>
                  <a:srgbClr val="282828"/>
                </a:solidFill>
              </a:rPr>
              <a:t>μ+</a:t>
            </a:r>
            <a:r>
              <a:rPr lang="en-US" sz="1200" b="1">
                <a:solidFill>
                  <a:srgbClr val="282828"/>
                </a:solidFill>
              </a:rPr>
              <a:t> </a:t>
            </a:r>
            <a:r>
              <a:rPr sz="1200" b="1">
                <a:solidFill>
                  <a:srgbClr val="282828"/>
                </a:solidFill>
              </a:rPr>
              <a:t>σ</a:t>
            </a:r>
            <a:r>
              <a:rPr lang="en-US" sz="1200" b="1">
                <a:solidFill>
                  <a:srgbClr val="282828"/>
                </a:solidFill>
              </a:rPr>
              <a:t> </a:t>
            </a:r>
            <a:r>
              <a:rPr sz="1200" b="1">
                <a:solidFill>
                  <a:srgbClr val="282828"/>
                </a:solidFill>
              </a:rPr>
              <a:t>⊙</a:t>
            </a:r>
            <a:r>
              <a:rPr lang="en-US" sz="1200" b="1">
                <a:solidFill>
                  <a:srgbClr val="282828"/>
                </a:solidFill>
              </a:rPr>
              <a:t> </a:t>
            </a:r>
            <a:r>
              <a:rPr sz="1200" b="1">
                <a:solidFill>
                  <a:srgbClr val="282828"/>
                </a:solidFill>
              </a:rPr>
              <a:t>ε</a:t>
            </a:r>
            <a:endParaRPr sz="1200" b="1">
              <a:solidFill>
                <a:srgbClr val="282828"/>
              </a:solidFill>
              <a:cs typeface="Arial"/>
            </a:endParaRPr>
          </a:p>
        </p:txBody>
      </p:sp>
      <p:sp>
        <p:nvSpPr>
          <p:cNvPr id="28" name="Rectangle 27">
            <a:extLst>
              <a:ext uri="{FF2B5EF4-FFF2-40B4-BE49-F238E27FC236}">
                <a16:creationId xmlns:a16="http://schemas.microsoft.com/office/drawing/2014/main" id="{DC0ADFE4-F437-DD51-E7B4-8A4BF8D2D073}"/>
              </a:ext>
            </a:extLst>
          </p:cNvPr>
          <p:cNvSpPr/>
          <p:nvPr/>
        </p:nvSpPr>
        <p:spPr>
          <a:xfrm>
            <a:off x="9029336" y="2148113"/>
            <a:ext cx="2991395" cy="1010197"/>
          </a:xfrm>
          <a:prstGeom prst="rect">
            <a:avLst/>
          </a:prstGeom>
          <a:noFill/>
          <a:ln w="28575">
            <a:solidFill>
              <a:srgbClr val="F08C00"/>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b="1">
                <a:solidFill>
                  <a:srgbClr val="282828"/>
                </a:solidFill>
                <a:cs typeface="Arial"/>
              </a:rPr>
              <a:t>Latent Representation</a:t>
            </a:r>
          </a:p>
        </p:txBody>
      </p:sp>
      <p:sp>
        <p:nvSpPr>
          <p:cNvPr id="29" name="Rectangle: Rounded Corners 28">
            <a:extLst>
              <a:ext uri="{FF2B5EF4-FFF2-40B4-BE49-F238E27FC236}">
                <a16:creationId xmlns:a16="http://schemas.microsoft.com/office/drawing/2014/main" id="{E95190B3-CF30-214B-EA12-8B622C3AD687}"/>
              </a:ext>
            </a:extLst>
          </p:cNvPr>
          <p:cNvSpPr/>
          <p:nvPr/>
        </p:nvSpPr>
        <p:spPr>
          <a:xfrm>
            <a:off x="1814" y="4728029"/>
            <a:ext cx="5578928" cy="876300"/>
          </a:xfrm>
          <a:prstGeom prst="roundRect">
            <a:avLst/>
          </a:prstGeom>
          <a:solidFill>
            <a:schemeClr val="bg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a:solidFill>
                  <a:srgbClr val="000000"/>
                </a:solidFill>
                <a:cs typeface="Arial"/>
              </a:rPr>
              <a:t>                         </a:t>
            </a:r>
            <a:r>
              <a:rPr lang="en-US" b="1">
                <a:solidFill>
                  <a:srgbClr val="000000"/>
                </a:solidFill>
                <a:cs typeface="Arial"/>
              </a:rPr>
              <a:t>       </a:t>
            </a:r>
            <a:endParaRPr lang="en-US"/>
          </a:p>
          <a:p>
            <a:r>
              <a:rPr lang="en-US" b="1">
                <a:solidFill>
                  <a:srgbClr val="000000"/>
                </a:solidFill>
                <a:cs typeface="Arial"/>
              </a:rPr>
              <a:t>                 </a:t>
            </a:r>
            <a:r>
              <a:rPr lang="en-US" b="1">
                <a:solidFill>
                  <a:schemeClr val="tx1"/>
                </a:solidFill>
                <a:cs typeface="Arial"/>
              </a:rPr>
              <a:t>                   Goal </a:t>
            </a:r>
            <a:endParaRPr lang="en-US">
              <a:solidFill>
                <a:schemeClr val="tx1"/>
              </a:solidFill>
              <a:cs typeface="Arial"/>
            </a:endParaRPr>
          </a:p>
          <a:p>
            <a:r>
              <a:rPr lang="en-US">
                <a:solidFill>
                  <a:schemeClr val="tx1"/>
                </a:solidFill>
                <a:cs typeface="Arial"/>
              </a:rPr>
              <a:t>Compress high-dimensional RIRs into </a:t>
            </a:r>
            <a:r>
              <a:rPr lang="en-US">
                <a:solidFill>
                  <a:schemeClr val="tx1"/>
                </a:solidFill>
                <a:ea typeface="+mn-lt"/>
                <a:cs typeface="+mn-lt"/>
              </a:rPr>
              <a:t>latent space</a:t>
            </a:r>
            <a:endParaRPr lang="en-US">
              <a:solidFill>
                <a:schemeClr val="tx1"/>
              </a:solidFill>
            </a:endParaRPr>
          </a:p>
          <a:p>
            <a:pPr algn="ctr"/>
            <a:endParaRPr lang="en-US">
              <a:cs typeface="Arial"/>
            </a:endParaRPr>
          </a:p>
        </p:txBody>
      </p:sp>
      <p:sp>
        <p:nvSpPr>
          <p:cNvPr id="30" name="Rectangle: Rounded Corners 29">
            <a:extLst>
              <a:ext uri="{FF2B5EF4-FFF2-40B4-BE49-F238E27FC236}">
                <a16:creationId xmlns:a16="http://schemas.microsoft.com/office/drawing/2014/main" id="{C19D0BA9-9638-CF28-4FC5-0AEAEF778477}"/>
              </a:ext>
            </a:extLst>
          </p:cNvPr>
          <p:cNvSpPr/>
          <p:nvPr/>
        </p:nvSpPr>
        <p:spPr>
          <a:xfrm>
            <a:off x="6310087" y="4731657"/>
            <a:ext cx="5720443" cy="867227"/>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mn-lt"/>
                <a:cs typeface="+mn-lt"/>
              </a:rPr>
              <a:t>ere:</a:t>
            </a:r>
            <a:endParaRPr lang="en-US"/>
          </a:p>
          <a:p>
            <a:pPr marL="285750" indent="-285750" algn="ctr">
              <a:buFont typeface="Arial"/>
              <a:buChar char="•"/>
            </a:pPr>
            <a:r>
              <a:rPr lang="en-US" b="1">
                <a:solidFill>
                  <a:schemeClr val="tx1"/>
                </a:solidFill>
                <a:ea typeface="+mn-lt"/>
                <a:cs typeface="+mn-lt"/>
              </a:rPr>
              <a:t>Input:</a:t>
            </a:r>
            <a:r>
              <a:rPr lang="en-US">
                <a:solidFill>
                  <a:schemeClr val="tx1"/>
                </a:solidFill>
                <a:ea typeface="+mn-lt"/>
                <a:cs typeface="+mn-lt"/>
              </a:rPr>
              <a:t> Raw Room Impulse Response (RIR) </a:t>
            </a:r>
            <a:endParaRPr lang="en-US">
              <a:solidFill>
                <a:schemeClr val="tx1"/>
              </a:solidFill>
              <a:cs typeface="Arial"/>
            </a:endParaRPr>
          </a:p>
          <a:p>
            <a:pPr marL="285750" indent="-285750" algn="ctr">
              <a:buFont typeface="Arial"/>
              <a:buChar char="•"/>
            </a:pPr>
            <a:r>
              <a:rPr lang="en-US" b="1">
                <a:solidFill>
                  <a:schemeClr val="tx1"/>
                </a:solidFill>
                <a:ea typeface="+mn-lt"/>
                <a:cs typeface="+mn-lt"/>
              </a:rPr>
              <a:t>Output:</a:t>
            </a:r>
            <a:r>
              <a:rPr lang="en-US">
                <a:solidFill>
                  <a:schemeClr val="tx1"/>
                </a:solidFill>
                <a:ea typeface="+mn-lt"/>
                <a:cs typeface="+mn-lt"/>
              </a:rPr>
              <a:t> A compressed latent representation   </a:t>
            </a:r>
            <a:endParaRPr lang="en-US">
              <a:solidFill>
                <a:schemeClr val="tx1"/>
              </a:solidFill>
              <a:cs typeface="Arial"/>
            </a:endParaRPr>
          </a:p>
          <a:p>
            <a:pPr marL="285750" indent="-285750" algn="ctr">
              <a:buFont typeface="Arial"/>
              <a:buChar char="•"/>
            </a:pPr>
            <a:r>
              <a:rPr lang="en-US" b="1">
                <a:solidFill>
                  <a:schemeClr val="tx1"/>
                </a:solidFill>
                <a:ea typeface="+mn-lt"/>
                <a:cs typeface="+mn-lt"/>
              </a:rPr>
              <a:t>Latent feature dimension:</a:t>
            </a:r>
            <a:r>
              <a:rPr lang="en-US">
                <a:solidFill>
                  <a:schemeClr val="tx1"/>
                </a:solidFill>
                <a:ea typeface="+mn-lt"/>
                <a:cs typeface="+mn-lt"/>
              </a:rPr>
              <a:t> </a:t>
            </a:r>
            <a:r>
              <a:rPr lang="en-US" b="1">
                <a:solidFill>
                  <a:schemeClr val="tx1"/>
                </a:solidFill>
                <a:ea typeface="+mn-lt"/>
                <a:cs typeface="+mn-lt"/>
              </a:rPr>
              <a:t>32 channels</a:t>
            </a:r>
            <a:endParaRPr lang="en-US">
              <a:solidFill>
                <a:schemeClr val="tx1"/>
              </a:solidFill>
            </a:endParaRPr>
          </a:p>
          <a:p>
            <a:pPr algn="ctr"/>
            <a:endParaRPr lang="en-US" b="1">
              <a:cs typeface="Arial"/>
            </a:endParaRPr>
          </a:p>
        </p:txBody>
      </p:sp>
      <p:sp>
        <p:nvSpPr>
          <p:cNvPr id="3" name="Arrow: Right 2">
            <a:extLst>
              <a:ext uri="{FF2B5EF4-FFF2-40B4-BE49-F238E27FC236}">
                <a16:creationId xmlns:a16="http://schemas.microsoft.com/office/drawing/2014/main" id="{74CADA38-080C-FEF1-6CBD-FF5B84582744}"/>
              </a:ext>
            </a:extLst>
          </p:cNvPr>
          <p:cNvSpPr/>
          <p:nvPr/>
        </p:nvSpPr>
        <p:spPr>
          <a:xfrm>
            <a:off x="2023122" y="2586199"/>
            <a:ext cx="639593" cy="201382"/>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4F3012FA-4FE8-D21E-41DA-769DA5F56365}"/>
              </a:ext>
            </a:extLst>
          </p:cNvPr>
          <p:cNvSpPr/>
          <p:nvPr/>
        </p:nvSpPr>
        <p:spPr>
          <a:xfrm flipV="1">
            <a:off x="4076893" y="2538138"/>
            <a:ext cx="639593" cy="205684"/>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E2F07425-D55D-F94C-9560-1748B8E8433D}"/>
              </a:ext>
            </a:extLst>
          </p:cNvPr>
          <p:cNvSpPr/>
          <p:nvPr/>
        </p:nvSpPr>
        <p:spPr>
          <a:xfrm>
            <a:off x="6108893" y="2702312"/>
            <a:ext cx="430441" cy="99579"/>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5FF63FE8-D3D6-926D-441F-3360C09903F5}"/>
              </a:ext>
            </a:extLst>
          </p:cNvPr>
          <p:cNvSpPr/>
          <p:nvPr/>
        </p:nvSpPr>
        <p:spPr>
          <a:xfrm>
            <a:off x="6101636" y="3369971"/>
            <a:ext cx="436392" cy="126111"/>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9FFB4E6C-8720-FFBC-DEB7-945824BCE89F}"/>
              </a:ext>
            </a:extLst>
          </p:cNvPr>
          <p:cNvSpPr/>
          <p:nvPr/>
        </p:nvSpPr>
        <p:spPr>
          <a:xfrm>
            <a:off x="8387636" y="2513627"/>
            <a:ext cx="639593" cy="213197"/>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ack letter on a white background&#10;&#10;AI-generated content may be incorrect.">
            <a:extLst>
              <a:ext uri="{FF2B5EF4-FFF2-40B4-BE49-F238E27FC236}">
                <a16:creationId xmlns:a16="http://schemas.microsoft.com/office/drawing/2014/main" id="{130E105F-73D2-D281-1B57-BB940C0D3603}"/>
              </a:ext>
            </a:extLst>
          </p:cNvPr>
          <p:cNvPicPr>
            <a:picLocks noChangeAspect="1"/>
          </p:cNvPicPr>
          <p:nvPr/>
        </p:nvPicPr>
        <p:blipFill>
          <a:blip r:embed="rId3"/>
          <a:stretch>
            <a:fillRect/>
          </a:stretch>
        </p:blipFill>
        <p:spPr>
          <a:xfrm>
            <a:off x="10309678" y="2719161"/>
            <a:ext cx="375558" cy="309336"/>
          </a:xfrm>
          <a:prstGeom prst="rect">
            <a:avLst/>
          </a:prstGeom>
        </p:spPr>
      </p:pic>
    </p:spTree>
    <p:extLst>
      <p:ext uri="{BB962C8B-B14F-4D97-AF65-F5344CB8AC3E}">
        <p14:creationId xmlns:p14="http://schemas.microsoft.com/office/powerpoint/2010/main" val="257124419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3D2CB-5B9E-1222-AC50-69867A9AB60F}"/>
              </a:ext>
            </a:extLst>
          </p:cNvPr>
          <p:cNvSpPr>
            <a:spLocks noGrp="1"/>
          </p:cNvSpPr>
          <p:nvPr>
            <p:ph type="title"/>
          </p:nvPr>
        </p:nvSpPr>
        <p:spPr/>
        <p:txBody>
          <a:bodyPr/>
          <a:lstStyle/>
          <a:p>
            <a:r>
              <a:rPr lang="en-US" b="1">
                <a:cs typeface="Arial"/>
              </a:rPr>
              <a:t>DIFFUSION TRANSFORMER</a:t>
            </a:r>
          </a:p>
        </p:txBody>
      </p:sp>
      <p:sp>
        <p:nvSpPr>
          <p:cNvPr id="3" name="Content Placeholder 2">
            <a:extLst>
              <a:ext uri="{FF2B5EF4-FFF2-40B4-BE49-F238E27FC236}">
                <a16:creationId xmlns:a16="http://schemas.microsoft.com/office/drawing/2014/main" id="{3399FBBD-1449-845F-EC7C-90848DAA8038}"/>
              </a:ext>
            </a:extLst>
          </p:cNvPr>
          <p:cNvSpPr>
            <a:spLocks noGrp="1"/>
          </p:cNvSpPr>
          <p:nvPr>
            <p:ph idx="1"/>
          </p:nvPr>
        </p:nvSpPr>
        <p:spPr/>
        <p:txBody>
          <a:bodyPr/>
          <a:lstStyle/>
          <a:p>
            <a:r>
              <a:rPr lang="en-US" sz="2000">
                <a:ea typeface="+mn-lt"/>
                <a:cs typeface="+mn-lt"/>
              </a:rPr>
              <a:t>Transformer-based neural network that learns the </a:t>
            </a:r>
            <a:r>
              <a:rPr lang="en-US" sz="2000" b="1">
                <a:ea typeface="+mn-lt"/>
                <a:cs typeface="+mn-lt"/>
              </a:rPr>
              <a:t>velocity field</a:t>
            </a:r>
            <a:r>
              <a:rPr lang="en-US" sz="2000">
                <a:ea typeface="+mn-lt"/>
                <a:cs typeface="+mn-lt"/>
              </a:rPr>
              <a:t> required by the Flow Matching framework to transform random noise into a realistic Room Impulse Response (RIR)</a:t>
            </a:r>
            <a:endParaRPr lang="en-US" sz="2000">
              <a:cs typeface="Arial"/>
            </a:endParaRPr>
          </a:p>
        </p:txBody>
      </p:sp>
      <p:sp>
        <p:nvSpPr>
          <p:cNvPr id="7" name="Rounded Rectangle 6">
            <a:extLst>
              <a:ext uri="{FF2B5EF4-FFF2-40B4-BE49-F238E27FC236}">
                <a16:creationId xmlns:a16="http://schemas.microsoft.com/office/drawing/2014/main" id="{E5F8A116-FBC8-229B-F2B0-55F1C508CEBE}"/>
              </a:ext>
            </a:extLst>
          </p:cNvPr>
          <p:cNvSpPr/>
          <p:nvPr/>
        </p:nvSpPr>
        <p:spPr>
          <a:xfrm>
            <a:off x="310605" y="2725056"/>
            <a:ext cx="11644813" cy="3236105"/>
          </a:xfrm>
          <a:prstGeom prst="roundRect">
            <a:avLst/>
          </a:prstGeom>
          <a:solidFill>
            <a:srgbClr val="F7F7F7"/>
          </a:solidFill>
          <a:ln w="28575">
            <a:solidFill>
              <a:srgbClr val="F7F7F7"/>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500" i="1">
              <a:solidFill>
                <a:srgbClr val="626262"/>
              </a:solidFill>
              <a:latin typeface="Arial"/>
              <a:cs typeface="Arial"/>
            </a:endParaRPr>
          </a:p>
        </p:txBody>
      </p:sp>
      <p:sp>
        <p:nvSpPr>
          <p:cNvPr id="9" name="Rectangle 33">
            <a:extLst>
              <a:ext uri="{FF2B5EF4-FFF2-40B4-BE49-F238E27FC236}">
                <a16:creationId xmlns:a16="http://schemas.microsoft.com/office/drawing/2014/main" id="{16085DB0-4A94-3750-9AB5-7B84C65E8B2F}"/>
              </a:ext>
            </a:extLst>
          </p:cNvPr>
          <p:cNvSpPr/>
          <p:nvPr/>
        </p:nvSpPr>
        <p:spPr>
          <a:xfrm>
            <a:off x="6122950" y="3792772"/>
            <a:ext cx="3563485" cy="1284426"/>
          </a:xfrm>
          <a:prstGeom prst="roundRect">
            <a:avLst/>
          </a:prstGeom>
          <a:solidFill>
            <a:schemeClr val="bg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b="1">
                <a:solidFill>
                  <a:schemeClr val="tx1"/>
                </a:solidFill>
                <a:ea typeface="+mn-lt"/>
                <a:cs typeface="+mn-lt"/>
              </a:rPr>
              <a:t>OUTPUT</a:t>
            </a:r>
            <a:endParaRPr lang="en-US">
              <a:solidFill>
                <a:schemeClr val="tx1"/>
              </a:solidFill>
              <a:ea typeface="+mn-lt"/>
              <a:cs typeface="+mn-lt"/>
            </a:endParaRPr>
          </a:p>
          <a:p>
            <a:pPr algn="ctr"/>
            <a:r>
              <a:rPr lang="en-US" b="1">
                <a:solidFill>
                  <a:schemeClr val="tx1"/>
                </a:solidFill>
                <a:ea typeface="+mn-lt"/>
                <a:cs typeface="+mn-lt"/>
              </a:rPr>
              <a:t>Predicted velocity vector</a:t>
            </a:r>
            <a:r>
              <a:rPr lang="en-US">
                <a:solidFill>
                  <a:schemeClr val="tx1"/>
                </a:solidFill>
                <a:ea typeface="+mn-lt"/>
                <a:cs typeface="+mn-lt"/>
              </a:rPr>
              <a:t> </a:t>
            </a:r>
            <a:endParaRPr lang="en-US">
              <a:solidFill>
                <a:schemeClr val="tx1"/>
              </a:solidFill>
              <a:cs typeface="Arial"/>
            </a:endParaRPr>
          </a:p>
        </p:txBody>
      </p:sp>
      <p:sp>
        <p:nvSpPr>
          <p:cNvPr id="10" name="Rectangle 33">
            <a:extLst>
              <a:ext uri="{FF2B5EF4-FFF2-40B4-BE49-F238E27FC236}">
                <a16:creationId xmlns:a16="http://schemas.microsoft.com/office/drawing/2014/main" id="{970F7D17-3EDC-A179-3315-71532EB6F65B}"/>
              </a:ext>
            </a:extLst>
          </p:cNvPr>
          <p:cNvSpPr/>
          <p:nvPr/>
        </p:nvSpPr>
        <p:spPr>
          <a:xfrm>
            <a:off x="1231635" y="3313800"/>
            <a:ext cx="3636057" cy="1132026"/>
          </a:xfrm>
          <a:prstGeom prst="roundRect">
            <a:avLst/>
          </a:prstGeom>
          <a:solidFill>
            <a:schemeClr val="bg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2000" b="1">
                <a:solidFill>
                  <a:schemeClr val="tx1"/>
                </a:solidFill>
                <a:ea typeface="+mn-lt"/>
                <a:cs typeface="+mn-lt"/>
              </a:rPr>
              <a:t>Conditioning Inputs</a:t>
            </a:r>
          </a:p>
          <a:p>
            <a:pPr marL="285750" indent="-285750" algn="ctr">
              <a:buFont typeface="Arial"/>
              <a:buChar char="•"/>
            </a:pPr>
            <a:r>
              <a:rPr lang="en-US" b="1">
                <a:solidFill>
                  <a:schemeClr val="tx1"/>
                </a:solidFill>
                <a:ea typeface="+mn-lt"/>
                <a:cs typeface="+mn-lt"/>
              </a:rPr>
              <a:t>Acoustic context</a:t>
            </a:r>
            <a:r>
              <a:rPr lang="en-US">
                <a:solidFill>
                  <a:schemeClr val="tx1"/>
                </a:solidFill>
                <a:ea typeface="+mn-lt"/>
                <a:cs typeface="+mn-lt"/>
              </a:rPr>
              <a:t> ,</a:t>
            </a:r>
            <a:r>
              <a:rPr lang="en-US" b="1">
                <a:solidFill>
                  <a:schemeClr val="tx1"/>
                </a:solidFill>
                <a:ea typeface="+mn-lt"/>
                <a:cs typeface="+mn-lt"/>
              </a:rPr>
              <a:t>Spatial context</a:t>
            </a:r>
            <a:r>
              <a:rPr lang="en-US">
                <a:solidFill>
                  <a:schemeClr val="tx1"/>
                </a:solidFill>
                <a:ea typeface="+mn-lt"/>
                <a:cs typeface="+mn-lt"/>
              </a:rPr>
              <a:t> ,</a:t>
            </a:r>
            <a:r>
              <a:rPr lang="en-US" b="1">
                <a:solidFill>
                  <a:schemeClr val="tx1"/>
                </a:solidFill>
                <a:ea typeface="+mn-lt"/>
                <a:cs typeface="+mn-lt"/>
              </a:rPr>
              <a:t>Geometric context</a:t>
            </a:r>
          </a:p>
          <a:p>
            <a:pPr marL="285750" indent="-285750" algn="ctr">
              <a:buFont typeface="Arial"/>
              <a:buChar char="•"/>
            </a:pPr>
            <a:endParaRPr lang="en-US">
              <a:solidFill>
                <a:schemeClr val="tx1"/>
              </a:solidFill>
              <a:cs typeface="Arial"/>
            </a:endParaRPr>
          </a:p>
        </p:txBody>
      </p:sp>
      <p:sp>
        <p:nvSpPr>
          <p:cNvPr id="4" name="Rectangle 33">
            <a:extLst>
              <a:ext uri="{FF2B5EF4-FFF2-40B4-BE49-F238E27FC236}">
                <a16:creationId xmlns:a16="http://schemas.microsoft.com/office/drawing/2014/main" id="{4D2C2409-59C7-508C-707E-F05F20718AD7}"/>
              </a:ext>
            </a:extLst>
          </p:cNvPr>
          <p:cNvSpPr/>
          <p:nvPr/>
        </p:nvSpPr>
        <p:spPr>
          <a:xfrm>
            <a:off x="1253407" y="4554771"/>
            <a:ext cx="3621542" cy="1081227"/>
          </a:xfrm>
          <a:prstGeom prst="roundRect">
            <a:avLst/>
          </a:prstGeom>
          <a:solidFill>
            <a:schemeClr val="bg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b="1">
              <a:solidFill>
                <a:schemeClr val="tx1"/>
              </a:solidFill>
              <a:ea typeface="+mn-lt"/>
              <a:cs typeface="+mn-lt"/>
            </a:endParaRPr>
          </a:p>
          <a:p>
            <a:pPr algn="ctr"/>
            <a:endParaRPr lang="en-US" b="1">
              <a:solidFill>
                <a:schemeClr val="tx1"/>
              </a:solidFill>
              <a:ea typeface="+mn-lt"/>
              <a:cs typeface="+mn-lt"/>
            </a:endParaRPr>
          </a:p>
          <a:p>
            <a:pPr algn="ctr"/>
            <a:r>
              <a:rPr lang="en-US" b="1">
                <a:solidFill>
                  <a:schemeClr val="tx1"/>
                </a:solidFill>
                <a:ea typeface="+mn-lt"/>
                <a:cs typeface="+mn-lt"/>
              </a:rPr>
              <a:t>Flow Matching Inputs</a:t>
            </a:r>
          </a:p>
          <a:p>
            <a:pPr marL="285750" indent="-285750" algn="ctr">
              <a:buFont typeface="Arial"/>
              <a:buChar char="•"/>
            </a:pPr>
            <a:r>
              <a:rPr lang="en-US" b="1">
                <a:solidFill>
                  <a:schemeClr val="tx1"/>
                </a:solidFill>
                <a:ea typeface="+mn-lt"/>
                <a:cs typeface="+mn-lt"/>
              </a:rPr>
              <a:t>Noisy Latent</a:t>
            </a:r>
            <a:r>
              <a:rPr lang="en-US">
                <a:solidFill>
                  <a:schemeClr val="tx1"/>
                </a:solidFill>
                <a:ea typeface="+mn-lt"/>
                <a:cs typeface="+mn-lt"/>
              </a:rPr>
              <a:t> (</a:t>
            </a:r>
            <a:r>
              <a:rPr lang="en-US" b="1" err="1">
                <a:solidFill>
                  <a:schemeClr val="tx1"/>
                </a:solidFill>
                <a:ea typeface="+mn-lt"/>
                <a:cs typeface="+mn-lt"/>
              </a:rPr>
              <a:t>z</a:t>
            </a:r>
            <a:r>
              <a:rPr lang="en-US" err="1">
                <a:solidFill>
                  <a:schemeClr val="tx1"/>
                </a:solidFill>
                <a:ea typeface="+mn-lt"/>
                <a:cs typeface="+mn-lt"/>
              </a:rPr>
              <a:t>t</a:t>
            </a:r>
            <a:r>
              <a:rPr lang="en-US">
                <a:solidFill>
                  <a:schemeClr val="tx1"/>
                </a:solidFill>
                <a:ea typeface="+mn-lt"/>
                <a:cs typeface="+mn-lt"/>
              </a:rPr>
              <a:t> ) </a:t>
            </a:r>
            <a:endParaRPr lang="en-US">
              <a:solidFill>
                <a:schemeClr val="tx1"/>
              </a:solidFill>
            </a:endParaRPr>
          </a:p>
          <a:p>
            <a:pPr marL="285750" indent="-285750" algn="ctr">
              <a:buFont typeface="Arial"/>
              <a:buChar char="•"/>
            </a:pPr>
            <a:r>
              <a:rPr lang="en-US" b="1">
                <a:solidFill>
                  <a:schemeClr val="tx1"/>
                </a:solidFill>
                <a:ea typeface="+mn-lt"/>
                <a:cs typeface="+mn-lt"/>
              </a:rPr>
              <a:t>Noise Timestep</a:t>
            </a:r>
            <a:r>
              <a:rPr lang="en-US">
                <a:solidFill>
                  <a:schemeClr val="tx1"/>
                </a:solidFill>
                <a:ea typeface="+mn-lt"/>
                <a:cs typeface="+mn-lt"/>
              </a:rPr>
              <a:t> </a:t>
            </a:r>
            <a:r>
              <a:rPr lang="en-US">
                <a:solidFill>
                  <a:schemeClr val="accent1"/>
                </a:solidFill>
                <a:highlight>
                  <a:srgbClr val="FFFFFF"/>
                </a:highlight>
                <a:ea typeface="+mn-lt"/>
                <a:cs typeface="+mn-lt"/>
              </a:rPr>
              <a:t>(t)</a:t>
            </a:r>
            <a:endParaRPr lang="en-US">
              <a:solidFill>
                <a:schemeClr val="accent1"/>
              </a:solidFill>
              <a:highlight>
                <a:srgbClr val="FFFFFF"/>
              </a:highlight>
              <a:cs typeface="Arial"/>
            </a:endParaRPr>
          </a:p>
          <a:p>
            <a:pPr algn="ctr"/>
            <a:endParaRPr lang="en-US" b="1">
              <a:solidFill>
                <a:schemeClr val="tx1"/>
              </a:solidFill>
              <a:ea typeface="+mn-lt"/>
              <a:cs typeface="+mn-lt"/>
            </a:endParaRPr>
          </a:p>
          <a:p>
            <a:pPr algn="ctr"/>
            <a:r>
              <a:rPr lang="en-US">
                <a:solidFill>
                  <a:schemeClr val="tx1"/>
                </a:solidFill>
                <a:ea typeface="+mn-lt"/>
                <a:cs typeface="+mn-lt"/>
              </a:rPr>
              <a:t> </a:t>
            </a:r>
            <a:endParaRPr lang="en-US">
              <a:solidFill>
                <a:schemeClr val="tx1"/>
              </a:solidFill>
              <a:cs typeface="Arial"/>
            </a:endParaRPr>
          </a:p>
        </p:txBody>
      </p:sp>
      <p:sp>
        <p:nvSpPr>
          <p:cNvPr id="5" name="Arrow: Right 4">
            <a:extLst>
              <a:ext uri="{FF2B5EF4-FFF2-40B4-BE49-F238E27FC236}">
                <a16:creationId xmlns:a16="http://schemas.microsoft.com/office/drawing/2014/main" id="{02F8F271-A169-4CF5-EE96-24D80116152F}"/>
              </a:ext>
            </a:extLst>
          </p:cNvPr>
          <p:cNvSpPr/>
          <p:nvPr/>
        </p:nvSpPr>
        <p:spPr>
          <a:xfrm>
            <a:off x="4996230" y="4448342"/>
            <a:ext cx="1043599" cy="1434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4950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FC3CF-0877-A6EA-2BE2-A8964BC3717E}"/>
              </a:ext>
            </a:extLst>
          </p:cNvPr>
          <p:cNvSpPr>
            <a:spLocks noGrp="1"/>
          </p:cNvSpPr>
          <p:nvPr>
            <p:ph type="title"/>
          </p:nvPr>
        </p:nvSpPr>
        <p:spPr>
          <a:xfrm>
            <a:off x="486834" y="350157"/>
            <a:ext cx="11425767" cy="1143000"/>
          </a:xfrm>
        </p:spPr>
        <p:txBody>
          <a:bodyPr/>
          <a:lstStyle/>
          <a:p>
            <a:r>
              <a:rPr lang="en-US" b="1">
                <a:cs typeface="Arial"/>
              </a:rPr>
              <a:t>FLOW MATCHING</a:t>
            </a:r>
            <a:endParaRPr lang="en-US" b="1"/>
          </a:p>
        </p:txBody>
      </p:sp>
      <p:sp>
        <p:nvSpPr>
          <p:cNvPr id="3" name="Content Placeholder 2">
            <a:extLst>
              <a:ext uri="{FF2B5EF4-FFF2-40B4-BE49-F238E27FC236}">
                <a16:creationId xmlns:a16="http://schemas.microsoft.com/office/drawing/2014/main" id="{08B1DE42-CE35-6EC2-F722-B8AB5B21E642}"/>
              </a:ext>
            </a:extLst>
          </p:cNvPr>
          <p:cNvSpPr>
            <a:spLocks noGrp="1"/>
          </p:cNvSpPr>
          <p:nvPr>
            <p:ph idx="1"/>
          </p:nvPr>
        </p:nvSpPr>
        <p:spPr>
          <a:xfrm>
            <a:off x="486834" y="1130300"/>
            <a:ext cx="11425767" cy="4941207"/>
          </a:xfrm>
        </p:spPr>
        <p:txBody>
          <a:bodyPr/>
          <a:lstStyle/>
          <a:p>
            <a:r>
              <a:rPr lang="en-US">
                <a:ea typeface="+mn-lt"/>
                <a:cs typeface="+mn-lt"/>
              </a:rPr>
              <a:t>Directly learns the velocity of particles moving along a path for </a:t>
            </a:r>
            <a:r>
              <a:rPr lang="en-US" i="1">
                <a:ea typeface="+mn-lt"/>
                <a:cs typeface="+mn-lt"/>
              </a:rPr>
              <a:t>continuous transformation</a:t>
            </a:r>
            <a:r>
              <a:rPr lang="en-US">
                <a:ea typeface="+mn-lt"/>
                <a:cs typeface="+mn-lt"/>
              </a:rPr>
              <a:t> from a simple distribution (Gaussian noise) to a target data distribution(RIRs)</a:t>
            </a:r>
            <a:endParaRPr lang="en-US">
              <a:cs typeface="Arial"/>
            </a:endParaRPr>
          </a:p>
        </p:txBody>
      </p:sp>
      <p:sp>
        <p:nvSpPr>
          <p:cNvPr id="4" name="Rectangle: Rounded Corners 3">
            <a:extLst>
              <a:ext uri="{FF2B5EF4-FFF2-40B4-BE49-F238E27FC236}">
                <a16:creationId xmlns:a16="http://schemas.microsoft.com/office/drawing/2014/main" id="{897BE9D9-D4D2-2976-7F9D-CCBCE380567D}"/>
              </a:ext>
            </a:extLst>
          </p:cNvPr>
          <p:cNvSpPr/>
          <p:nvPr/>
        </p:nvSpPr>
        <p:spPr>
          <a:xfrm>
            <a:off x="1491705" y="4267672"/>
            <a:ext cx="9205414" cy="951996"/>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solidFill>
                  <a:schemeClr val="tx1"/>
                </a:solidFill>
              </a:rPr>
              <a:t>GOAL</a:t>
            </a:r>
            <a:endParaRPr lang="en-US" b="1">
              <a:solidFill>
                <a:schemeClr val="tx1"/>
              </a:solidFill>
            </a:endParaRPr>
          </a:p>
          <a:p>
            <a:pPr algn="ctr"/>
            <a:r>
              <a:rPr lang="en-US" i="1">
                <a:solidFill>
                  <a:schemeClr val="tx1"/>
                </a:solidFill>
              </a:rPr>
              <a:t>How data should flow from random noise to real samples</a:t>
            </a:r>
            <a:r>
              <a:rPr lang="en-US">
                <a:solidFill>
                  <a:schemeClr val="tx1"/>
                </a:solidFill>
              </a:rPr>
              <a:t> by predicting the direction (velocity) of movement at every point in the generation process.</a:t>
            </a:r>
            <a:endParaRPr lang="en-US">
              <a:solidFill>
                <a:schemeClr val="tx1"/>
              </a:solidFill>
              <a:cs typeface="Arial"/>
            </a:endParaRPr>
          </a:p>
        </p:txBody>
      </p:sp>
    </p:spTree>
    <p:extLst>
      <p:ext uri="{BB962C8B-B14F-4D97-AF65-F5344CB8AC3E}">
        <p14:creationId xmlns:p14="http://schemas.microsoft.com/office/powerpoint/2010/main" val="984181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B237-0A4C-A621-71DD-A573F66571C7}"/>
              </a:ext>
            </a:extLst>
          </p:cNvPr>
          <p:cNvSpPr>
            <a:spLocks noGrp="1"/>
          </p:cNvSpPr>
          <p:nvPr>
            <p:ph type="title"/>
          </p:nvPr>
        </p:nvSpPr>
        <p:spPr/>
        <p:txBody>
          <a:bodyPr/>
          <a:lstStyle/>
          <a:p>
            <a:r>
              <a:rPr lang="en-US" b="1">
                <a:solidFill>
                  <a:schemeClr val="accent1"/>
                </a:solidFill>
                <a:cs typeface="Arial"/>
              </a:rPr>
              <a:t>FLOW MATCHING</a:t>
            </a:r>
            <a:endParaRPr lang="en-US">
              <a:solidFill>
                <a:schemeClr val="accent1"/>
              </a:solidFill>
            </a:endParaRPr>
          </a:p>
        </p:txBody>
      </p:sp>
      <p:sp>
        <p:nvSpPr>
          <p:cNvPr id="22" name="Content Placeholder 21">
            <a:extLst>
              <a:ext uri="{FF2B5EF4-FFF2-40B4-BE49-F238E27FC236}">
                <a16:creationId xmlns:a16="http://schemas.microsoft.com/office/drawing/2014/main" id="{31098268-ABD4-9B48-5218-C424582BC065}"/>
              </a:ext>
            </a:extLst>
          </p:cNvPr>
          <p:cNvSpPr>
            <a:spLocks noGrp="1"/>
          </p:cNvSpPr>
          <p:nvPr>
            <p:ph idx="1"/>
          </p:nvPr>
        </p:nvSpPr>
        <p:spPr>
          <a:xfrm>
            <a:off x="22377" y="1398815"/>
            <a:ext cx="11737824" cy="4563835"/>
          </a:xfrm>
        </p:spPr>
        <p:txBody>
          <a:bodyPr/>
          <a:lstStyle/>
          <a:p>
            <a:endParaRPr lang="en-US"/>
          </a:p>
          <a:p>
            <a:endParaRPr lang="en-US">
              <a:cs typeface="Arial"/>
            </a:endParaRPr>
          </a:p>
        </p:txBody>
      </p:sp>
      <p:sp>
        <p:nvSpPr>
          <p:cNvPr id="36" name="Content Placeholder 2">
            <a:extLst>
              <a:ext uri="{FF2B5EF4-FFF2-40B4-BE49-F238E27FC236}">
                <a16:creationId xmlns:a16="http://schemas.microsoft.com/office/drawing/2014/main" id="{0B1F02E9-B774-474E-0715-79CE0470F5D6}"/>
              </a:ext>
            </a:extLst>
          </p:cNvPr>
          <p:cNvSpPr>
            <a:spLocks noGrp="1"/>
          </p:cNvSpPr>
          <p:nvPr/>
        </p:nvSpPr>
        <p:spPr bwMode="auto">
          <a:xfrm>
            <a:off x="-86480" y="1413329"/>
            <a:ext cx="11846681" cy="45493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marL="269875" indent="-269875" algn="l" rtl="0" eaLnBrk="0" fontAlgn="base" hangingPunct="0">
              <a:lnSpc>
                <a:spcPct val="110000"/>
              </a:lnSpc>
              <a:spcBef>
                <a:spcPct val="20000"/>
              </a:spcBef>
              <a:spcAft>
                <a:spcPct val="0"/>
              </a:spcAft>
              <a:buClr>
                <a:srgbClr val="ED8C01"/>
              </a:buClr>
              <a:buFont typeface="Wingdings" pitchFamily="2" charset="2"/>
              <a:buChar char="§"/>
              <a:defRPr sz="2400" kern="1200">
                <a:solidFill>
                  <a:schemeClr val="tx1"/>
                </a:solidFill>
                <a:latin typeface="+mn-lt"/>
                <a:ea typeface="+mn-ea"/>
                <a:cs typeface="+mn-cs"/>
              </a:defRPr>
            </a:lvl1pPr>
            <a:lvl2pPr marL="720725" indent="-271463" algn="l" rtl="0" eaLnBrk="0" fontAlgn="base" hangingPunct="0">
              <a:lnSpc>
                <a:spcPct val="110000"/>
              </a:lnSpc>
              <a:spcBef>
                <a:spcPct val="20000"/>
              </a:spcBef>
              <a:spcAft>
                <a:spcPct val="0"/>
              </a:spcAft>
              <a:buClr>
                <a:srgbClr val="707070"/>
              </a:buClr>
              <a:buFont typeface="Wingdings" pitchFamily="2" charset="2"/>
              <a:buChar char="§"/>
              <a:defRPr sz="2000" kern="1200">
                <a:solidFill>
                  <a:schemeClr val="tx1"/>
                </a:solidFill>
                <a:latin typeface="+mn-lt"/>
                <a:ea typeface="+mn-ea"/>
                <a:cs typeface="+mn-cs"/>
              </a:defRPr>
            </a:lvl2pPr>
            <a:lvl3pPr marL="1163638" indent="-263525" algn="l" rtl="0" eaLnBrk="0" fontAlgn="base" hangingPunct="0">
              <a:lnSpc>
                <a:spcPct val="110000"/>
              </a:lnSpc>
              <a:spcBef>
                <a:spcPct val="20000"/>
              </a:spcBef>
              <a:spcAft>
                <a:spcPct val="0"/>
              </a:spcAft>
              <a:buClr>
                <a:srgbClr val="707070"/>
              </a:buClr>
              <a:buFont typeface="Wingdings" pitchFamily="2" charset="2"/>
              <a:buChar char="§"/>
              <a:defRPr sz="2000" kern="1200">
                <a:solidFill>
                  <a:schemeClr val="tx1"/>
                </a:solidFill>
                <a:latin typeface="+mn-lt"/>
                <a:ea typeface="+mn-ea"/>
                <a:cs typeface="+mn-cs"/>
              </a:defRPr>
            </a:lvl3pPr>
            <a:lvl4pPr marL="1614488" indent="-271463" algn="l" rtl="0" eaLnBrk="0" fontAlgn="base" hangingPunct="0">
              <a:lnSpc>
                <a:spcPct val="110000"/>
              </a:lnSpc>
              <a:spcBef>
                <a:spcPct val="20000"/>
              </a:spcBef>
              <a:spcAft>
                <a:spcPct val="0"/>
              </a:spcAft>
              <a:buClr>
                <a:srgbClr val="707070"/>
              </a:buClr>
              <a:buFont typeface="Wingdings" pitchFamily="2" charset="2"/>
              <a:buChar char="§"/>
              <a:defRPr sz="2000" kern="1200">
                <a:solidFill>
                  <a:schemeClr val="tx1"/>
                </a:solidFill>
                <a:latin typeface="+mn-lt"/>
                <a:ea typeface="+mn-ea"/>
                <a:cs typeface="+mn-cs"/>
              </a:defRPr>
            </a:lvl4pPr>
            <a:lvl5pPr marL="1974850" indent="-180975" algn="l" rtl="0" eaLnBrk="0" fontAlgn="base" hangingPunct="0">
              <a:lnSpc>
                <a:spcPct val="110000"/>
              </a:lnSpc>
              <a:spcBef>
                <a:spcPct val="20000"/>
              </a:spcBef>
              <a:spcAft>
                <a:spcPct val="0"/>
              </a:spcAft>
              <a:buClr>
                <a:srgbClr val="707070"/>
              </a:buClr>
              <a:buFont typeface="Wingdings" pitchFamily="2" charset="2"/>
              <a:buChar char="§"/>
              <a:defRPr sz="2000" kern="1200">
                <a:solidFill>
                  <a:schemeClr val="tx1"/>
                </a:solidFill>
                <a:latin typeface="+mn-lt"/>
                <a:ea typeface="+mn-ea"/>
                <a:cs typeface="+mn-cs"/>
              </a:defRPr>
            </a:lvl5pPr>
            <a:lvl6pPr marL="2432050" indent="-133350" algn="l" defTabSz="914400" rtl="0" eaLnBrk="1" fontAlgn="base" latinLnBrk="0" hangingPunct="1">
              <a:spcBef>
                <a:spcPct val="20000"/>
              </a:spcBef>
              <a:spcAft>
                <a:spcPct val="0"/>
              </a:spcAft>
              <a:buClr>
                <a:srgbClr val="626262"/>
              </a:buClr>
              <a:buFont typeface="Wingdings" pitchFamily="2" charset="2"/>
              <a:buChar char="§"/>
              <a:defRPr sz="2000" kern="1200">
                <a:solidFill>
                  <a:schemeClr val="tx1"/>
                </a:solidFill>
                <a:latin typeface="+mn-lt"/>
                <a:ea typeface="+mn-ea"/>
                <a:cs typeface="+mn-cs"/>
              </a:defRPr>
            </a:lvl6pPr>
            <a:lvl7pPr marL="2889250" indent="-133350" algn="l" defTabSz="914400" rtl="0" eaLnBrk="1" fontAlgn="base" latinLnBrk="0" hangingPunct="1">
              <a:spcBef>
                <a:spcPct val="20000"/>
              </a:spcBef>
              <a:spcAft>
                <a:spcPct val="0"/>
              </a:spcAft>
              <a:buClr>
                <a:srgbClr val="626262"/>
              </a:buClr>
              <a:buFont typeface="Wingdings" pitchFamily="2" charset="2"/>
              <a:buChar char="§"/>
              <a:defRPr sz="2000" kern="1200">
                <a:solidFill>
                  <a:schemeClr val="tx1"/>
                </a:solidFill>
                <a:latin typeface="+mn-lt"/>
                <a:ea typeface="+mn-ea"/>
                <a:cs typeface="+mn-cs"/>
              </a:defRPr>
            </a:lvl7pPr>
            <a:lvl8pPr marL="3346450" indent="-133350" algn="l" defTabSz="914400" rtl="0" eaLnBrk="1" fontAlgn="base" latinLnBrk="0" hangingPunct="1">
              <a:spcBef>
                <a:spcPct val="20000"/>
              </a:spcBef>
              <a:spcAft>
                <a:spcPct val="0"/>
              </a:spcAft>
              <a:buClr>
                <a:srgbClr val="626262"/>
              </a:buClr>
              <a:buFont typeface="Wingdings" pitchFamily="2" charset="2"/>
              <a:buChar char="§"/>
              <a:defRPr sz="2000" kern="1200">
                <a:solidFill>
                  <a:schemeClr val="tx1"/>
                </a:solidFill>
                <a:latin typeface="+mn-lt"/>
                <a:ea typeface="+mn-ea"/>
                <a:cs typeface="+mn-cs"/>
              </a:defRPr>
            </a:lvl8pPr>
            <a:lvl9pPr marL="3803650" indent="-133350" algn="l" defTabSz="914400" rtl="0" eaLnBrk="1" fontAlgn="base" latinLnBrk="0" hangingPunct="1">
              <a:spcBef>
                <a:spcPct val="20000"/>
              </a:spcBef>
              <a:spcAft>
                <a:spcPct val="0"/>
              </a:spcAft>
              <a:buClr>
                <a:srgbClr val="626262"/>
              </a:buClr>
              <a:buFont typeface="Wingdings" pitchFamily="2" charset="2"/>
              <a:buChar char="§"/>
              <a:defRPr sz="2000" kern="1200">
                <a:solidFill>
                  <a:schemeClr val="tx1"/>
                </a:solidFill>
                <a:latin typeface="+mn-lt"/>
                <a:ea typeface="+mn-ea"/>
                <a:cs typeface="+mn-cs"/>
              </a:defRPr>
            </a:lvl9pPr>
          </a:lstStyle>
          <a:p>
            <a:endParaRPr lang="en-US"/>
          </a:p>
          <a:p>
            <a:endParaRPr lang="en-US">
              <a:cs typeface="Arial"/>
            </a:endParaRPr>
          </a:p>
          <a:p>
            <a:endParaRPr lang="en-US">
              <a:cs typeface="Arial"/>
            </a:endParaRPr>
          </a:p>
          <a:p>
            <a:endParaRPr lang="en-US">
              <a:cs typeface="Arial"/>
            </a:endParaRPr>
          </a:p>
          <a:p>
            <a:endParaRPr lang="en-US">
              <a:cs typeface="Arial"/>
            </a:endParaRPr>
          </a:p>
          <a:p>
            <a:endParaRPr lang="en-US">
              <a:cs typeface="Arial"/>
            </a:endParaRPr>
          </a:p>
        </p:txBody>
      </p:sp>
      <p:sp>
        <p:nvSpPr>
          <p:cNvPr id="37" name="Rounded Rectangle 7">
            <a:extLst>
              <a:ext uri="{FF2B5EF4-FFF2-40B4-BE49-F238E27FC236}">
                <a16:creationId xmlns:a16="http://schemas.microsoft.com/office/drawing/2014/main" id="{075C10BB-1832-5BB3-7D10-7829C16B5781}"/>
              </a:ext>
            </a:extLst>
          </p:cNvPr>
          <p:cNvSpPr/>
          <p:nvPr/>
        </p:nvSpPr>
        <p:spPr>
          <a:xfrm>
            <a:off x="124823" y="2306319"/>
            <a:ext cx="1856377" cy="997132"/>
          </a:xfrm>
          <a:prstGeom prst="rect">
            <a:avLst/>
          </a:prstGeom>
          <a:solidFill>
            <a:srgbClr val="FCF7F0"/>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Clean latent z₀</a:t>
            </a:r>
          </a:p>
          <a:p>
            <a:r>
              <a:rPr sz="1400">
                <a:solidFill>
                  <a:srgbClr val="191919"/>
                </a:solidFill>
                <a:latin typeface="Arial"/>
              </a:rPr>
              <a:t>Encoded target RIR</a:t>
            </a:r>
          </a:p>
        </p:txBody>
      </p:sp>
      <p:sp>
        <p:nvSpPr>
          <p:cNvPr id="38" name="Rounded Rectangle 8">
            <a:extLst>
              <a:ext uri="{FF2B5EF4-FFF2-40B4-BE49-F238E27FC236}">
                <a16:creationId xmlns:a16="http://schemas.microsoft.com/office/drawing/2014/main" id="{AF34D2E2-B6B5-0FC2-AB16-0ABC4F93808A}"/>
              </a:ext>
            </a:extLst>
          </p:cNvPr>
          <p:cNvSpPr/>
          <p:nvPr/>
        </p:nvSpPr>
        <p:spPr>
          <a:xfrm>
            <a:off x="123371" y="3598091"/>
            <a:ext cx="1849120" cy="1011646"/>
          </a:xfrm>
          <a:prstGeom prst="rect">
            <a:avLst/>
          </a:prstGeom>
          <a:solidFill>
            <a:srgbClr val="F7F7F7"/>
          </a:solid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Noise ε</a:t>
            </a:r>
          </a:p>
          <a:p>
            <a:r>
              <a:rPr sz="1400">
                <a:solidFill>
                  <a:srgbClr val="191919"/>
                </a:solidFill>
                <a:latin typeface="Arial"/>
              </a:rPr>
              <a:t>Gaussian noise</a:t>
            </a:r>
          </a:p>
        </p:txBody>
      </p:sp>
      <p:sp>
        <p:nvSpPr>
          <p:cNvPr id="39" name="Rounded Rectangle 9">
            <a:extLst>
              <a:ext uri="{FF2B5EF4-FFF2-40B4-BE49-F238E27FC236}">
                <a16:creationId xmlns:a16="http://schemas.microsoft.com/office/drawing/2014/main" id="{F1CA9675-4372-19F9-A285-E2616453638E}"/>
              </a:ext>
            </a:extLst>
          </p:cNvPr>
          <p:cNvSpPr/>
          <p:nvPr/>
        </p:nvSpPr>
        <p:spPr>
          <a:xfrm>
            <a:off x="2672080" y="2743200"/>
            <a:ext cx="1714137" cy="1378858"/>
          </a:xfrm>
          <a:prstGeom prst="rect">
            <a:avLst/>
          </a:prstGeom>
          <a:solidFill>
            <a:srgbClr val="FFFFFF"/>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b="1">
                <a:solidFill>
                  <a:srgbClr val="191919"/>
                </a:solidFill>
                <a:latin typeface="Arial"/>
              </a:rPr>
              <a:t>Noise Interpolation</a:t>
            </a:r>
            <a:endParaRPr sz="1800" b="1">
              <a:solidFill>
                <a:srgbClr val="191919"/>
              </a:solidFill>
              <a:latin typeface="Arial"/>
            </a:endParaRPr>
          </a:p>
          <a:p>
            <a:r>
              <a:rPr lang="en-US" sz="1400" b="1">
                <a:solidFill>
                  <a:srgbClr val="191919"/>
                </a:solidFill>
                <a:latin typeface="Arial"/>
              </a:rPr>
              <a:t>  </a:t>
            </a:r>
            <a:endParaRPr lang="el-GR" sz="1400" b="1">
              <a:solidFill>
                <a:srgbClr val="191919"/>
              </a:solidFill>
              <a:latin typeface="Arial"/>
              <a:cs typeface="Arial"/>
            </a:endParaRPr>
          </a:p>
          <a:p>
            <a:endParaRPr sz="1400">
              <a:solidFill>
                <a:srgbClr val="191919"/>
              </a:solidFill>
              <a:latin typeface="Arial"/>
            </a:endParaRPr>
          </a:p>
        </p:txBody>
      </p:sp>
      <p:sp>
        <p:nvSpPr>
          <p:cNvPr id="41" name="Rounded Rectangle 11">
            <a:extLst>
              <a:ext uri="{FF2B5EF4-FFF2-40B4-BE49-F238E27FC236}">
                <a16:creationId xmlns:a16="http://schemas.microsoft.com/office/drawing/2014/main" id="{49FFCFEB-4FC2-6CDE-B1D7-116A4A0A567B}"/>
              </a:ext>
            </a:extLst>
          </p:cNvPr>
          <p:cNvSpPr/>
          <p:nvPr/>
        </p:nvSpPr>
        <p:spPr>
          <a:xfrm>
            <a:off x="4741817" y="2719978"/>
            <a:ext cx="2577736" cy="1345473"/>
          </a:xfrm>
          <a:prstGeom prst="rect">
            <a:avLst/>
          </a:prstGeom>
          <a:solidFill>
            <a:srgbClr val="F7F7F7"/>
          </a:solidFill>
          <a:ln w="25400">
            <a:solidFill>
              <a:schemeClr val="accent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b="1">
                <a:solidFill>
                  <a:srgbClr val="191919"/>
                </a:solidFill>
                <a:ea typeface="+mn-lt"/>
                <a:cs typeface="+mn-lt"/>
              </a:rPr>
              <a:t>Diffusion Transformer</a:t>
            </a:r>
            <a:r>
              <a:rPr lang="en-US">
                <a:solidFill>
                  <a:srgbClr val="191919"/>
                </a:solidFill>
                <a:ea typeface="+mn-lt"/>
                <a:cs typeface="+mn-lt"/>
              </a:rPr>
              <a:t> (</a:t>
            </a:r>
            <a:r>
              <a:rPr lang="en-US" err="1">
                <a:solidFill>
                  <a:srgbClr val="191919"/>
                </a:solidFill>
                <a:ea typeface="+mn-lt"/>
                <a:cs typeface="+mn-lt"/>
              </a:rPr>
              <a:t>DiT</a:t>
            </a:r>
            <a:r>
              <a:rPr lang="en-US">
                <a:solidFill>
                  <a:srgbClr val="191919"/>
                </a:solidFill>
                <a:ea typeface="+mn-lt"/>
                <a:cs typeface="+mn-lt"/>
              </a:rPr>
              <a:t>)</a:t>
            </a:r>
            <a:endParaRPr lang="en-US"/>
          </a:p>
          <a:p>
            <a:pPr algn="ctr"/>
            <a:endParaRPr lang="en-US" sz="1400">
              <a:solidFill>
                <a:srgbClr val="191919"/>
              </a:solidFill>
              <a:cs typeface="Arial"/>
            </a:endParaRPr>
          </a:p>
        </p:txBody>
      </p:sp>
      <p:cxnSp>
        <p:nvCxnSpPr>
          <p:cNvPr id="42" name="Straight Arrow Connector 41">
            <a:extLst>
              <a:ext uri="{FF2B5EF4-FFF2-40B4-BE49-F238E27FC236}">
                <a16:creationId xmlns:a16="http://schemas.microsoft.com/office/drawing/2014/main" id="{9973CE4B-1BCB-2D5D-D321-458EE0B51A30}"/>
              </a:ext>
            </a:extLst>
          </p:cNvPr>
          <p:cNvCxnSpPr/>
          <p:nvPr/>
        </p:nvCxnSpPr>
        <p:spPr>
          <a:xfrm>
            <a:off x="1979385" y="2890158"/>
            <a:ext cx="702128" cy="544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CB0C631F-1201-FEA9-FAA2-09FAA7C8D576}"/>
              </a:ext>
            </a:extLst>
          </p:cNvPr>
          <p:cNvSpPr/>
          <p:nvPr/>
        </p:nvSpPr>
        <p:spPr>
          <a:xfrm>
            <a:off x="4467651" y="4589812"/>
            <a:ext cx="3160156" cy="1087196"/>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b="1">
                <a:solidFill>
                  <a:schemeClr val="tx1"/>
                </a:solidFill>
                <a:ea typeface="+mn-lt"/>
                <a:cs typeface="+mn-lt"/>
              </a:rPr>
              <a:t>Multimodal Conditioning</a:t>
            </a:r>
            <a:endParaRPr lang="en-US" b="1">
              <a:solidFill>
                <a:schemeClr val="tx1"/>
              </a:solidFill>
              <a:cs typeface="Arial"/>
            </a:endParaRPr>
          </a:p>
          <a:p>
            <a:pPr algn="ctr"/>
            <a:r>
              <a:rPr lang="en-US">
                <a:solidFill>
                  <a:schemeClr val="tx1"/>
                </a:solidFill>
                <a:ea typeface="+mn-lt"/>
                <a:cs typeface="+mn-lt"/>
              </a:rPr>
              <a:t> </a:t>
            </a:r>
            <a:r>
              <a:rPr lang="en-US" sz="1600">
                <a:solidFill>
                  <a:schemeClr val="tx1"/>
                </a:solidFill>
                <a:ea typeface="+mn-lt"/>
                <a:cs typeface="+mn-lt"/>
              </a:rPr>
              <a:t> </a:t>
            </a:r>
            <a:r>
              <a:rPr lang="en-US" sz="1400">
                <a:solidFill>
                  <a:schemeClr val="tx1"/>
                </a:solidFill>
                <a:ea typeface="+mn-lt"/>
                <a:cs typeface="+mn-lt"/>
              </a:rPr>
              <a:t>• Acoustic Context RIRs</a:t>
            </a:r>
            <a:endParaRPr lang="en-US" sz="1400">
              <a:solidFill>
                <a:schemeClr val="tx1"/>
              </a:solidFill>
              <a:cs typeface="Arial"/>
            </a:endParaRPr>
          </a:p>
          <a:p>
            <a:pPr algn="ctr"/>
            <a:r>
              <a:rPr lang="en-US" sz="1400">
                <a:solidFill>
                  <a:schemeClr val="tx1"/>
                </a:solidFill>
                <a:ea typeface="+mn-lt"/>
                <a:cs typeface="+mn-lt"/>
              </a:rPr>
              <a:t>• Spatial Positions </a:t>
            </a:r>
            <a:endParaRPr lang="en-US" sz="1400">
              <a:solidFill>
                <a:schemeClr val="tx1"/>
              </a:solidFill>
              <a:cs typeface="Arial"/>
            </a:endParaRPr>
          </a:p>
          <a:p>
            <a:pPr algn="ctr"/>
            <a:r>
              <a:rPr lang="en-US" sz="1400">
                <a:solidFill>
                  <a:schemeClr val="tx1"/>
                </a:solidFill>
                <a:ea typeface="+mn-lt"/>
                <a:cs typeface="+mn-lt"/>
              </a:rPr>
              <a:t>• Panoramic Depth Map</a:t>
            </a:r>
            <a:endParaRPr lang="en-US" sz="1400">
              <a:solidFill>
                <a:schemeClr val="tx1"/>
              </a:solidFill>
              <a:cs typeface="Arial"/>
            </a:endParaRPr>
          </a:p>
        </p:txBody>
      </p:sp>
      <p:sp>
        <p:nvSpPr>
          <p:cNvPr id="48" name="Rectangle 47">
            <a:extLst>
              <a:ext uri="{FF2B5EF4-FFF2-40B4-BE49-F238E27FC236}">
                <a16:creationId xmlns:a16="http://schemas.microsoft.com/office/drawing/2014/main" id="{95CC0CE2-5476-2692-C99C-D78CF6380A46}"/>
              </a:ext>
            </a:extLst>
          </p:cNvPr>
          <p:cNvSpPr/>
          <p:nvPr/>
        </p:nvSpPr>
        <p:spPr>
          <a:xfrm>
            <a:off x="7676355" y="2714822"/>
            <a:ext cx="1829366" cy="1347816"/>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ea typeface="+mn-lt"/>
                <a:cs typeface="+mn-lt"/>
              </a:rPr>
              <a:t>Predicted Velocity</a:t>
            </a:r>
            <a:endParaRPr lang="en-US">
              <a:solidFill>
                <a:schemeClr val="tx1"/>
              </a:solidFill>
            </a:endParaRPr>
          </a:p>
          <a:p>
            <a:pPr algn="ctr"/>
            <a:endParaRPr lang="en-US">
              <a:solidFill>
                <a:schemeClr val="tx1"/>
              </a:solidFill>
              <a:cs typeface="Arial"/>
            </a:endParaRPr>
          </a:p>
          <a:p>
            <a:pPr algn="ctr"/>
            <a:r>
              <a:rPr lang="en-US">
                <a:solidFill>
                  <a:schemeClr val="tx1"/>
                </a:solidFill>
                <a:ea typeface="+mn-lt"/>
                <a:cs typeface="+mn-lt"/>
              </a:rPr>
              <a:t> </a:t>
            </a:r>
            <a:endParaRPr lang="en-US">
              <a:solidFill>
                <a:schemeClr val="tx1"/>
              </a:solidFill>
            </a:endParaRPr>
          </a:p>
        </p:txBody>
      </p:sp>
      <p:cxnSp>
        <p:nvCxnSpPr>
          <p:cNvPr id="4" name="Straight Arrow Connector 3">
            <a:extLst>
              <a:ext uri="{FF2B5EF4-FFF2-40B4-BE49-F238E27FC236}">
                <a16:creationId xmlns:a16="http://schemas.microsoft.com/office/drawing/2014/main" id="{764D8BBA-7019-52CA-C3D1-3EA3C46610C8}"/>
              </a:ext>
            </a:extLst>
          </p:cNvPr>
          <p:cNvCxnSpPr/>
          <p:nvPr/>
        </p:nvCxnSpPr>
        <p:spPr>
          <a:xfrm flipV="1">
            <a:off x="9502574" y="3384232"/>
            <a:ext cx="703245" cy="14650"/>
          </a:xfrm>
          <a:prstGeom prst="straightConnector1">
            <a:avLst/>
          </a:prstGeom>
          <a:ln w="28575">
            <a:prstDash val="dash"/>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75B8EFEA-E07F-4CCD-FB3C-D61D8B1DCEA0}"/>
              </a:ext>
            </a:extLst>
          </p:cNvPr>
          <p:cNvSpPr/>
          <p:nvPr/>
        </p:nvSpPr>
        <p:spPr>
          <a:xfrm>
            <a:off x="10201840" y="2714821"/>
            <a:ext cx="1974509" cy="1355073"/>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b="1">
              <a:solidFill>
                <a:schemeClr val="tx1"/>
              </a:solidFill>
              <a:ea typeface="+mn-lt"/>
              <a:cs typeface="+mn-lt"/>
            </a:endParaRPr>
          </a:p>
          <a:p>
            <a:pPr algn="ctr"/>
            <a:r>
              <a:rPr lang="en-US" b="1">
                <a:solidFill>
                  <a:schemeClr val="tx1"/>
                </a:solidFill>
                <a:ea typeface="+mn-lt"/>
                <a:cs typeface="+mn-lt"/>
              </a:rPr>
              <a:t>Ground</a:t>
            </a:r>
            <a:endParaRPr lang="en-US">
              <a:solidFill>
                <a:schemeClr val="tx1"/>
              </a:solidFill>
              <a:ea typeface="+mn-lt"/>
              <a:cs typeface="+mn-lt"/>
            </a:endParaRPr>
          </a:p>
          <a:p>
            <a:pPr algn="ctr"/>
            <a:r>
              <a:rPr lang="en-US" b="1">
                <a:solidFill>
                  <a:schemeClr val="tx1"/>
                </a:solidFill>
                <a:ea typeface="+mn-lt"/>
                <a:cs typeface="+mn-lt"/>
              </a:rPr>
              <a:t>Velocity</a:t>
            </a:r>
            <a:endParaRPr lang="en-US">
              <a:solidFill>
                <a:schemeClr val="tx1"/>
              </a:solidFill>
              <a:cs typeface="Arial"/>
            </a:endParaRPr>
          </a:p>
          <a:p>
            <a:pPr algn="ctr"/>
            <a:endParaRPr lang="en-US">
              <a:solidFill>
                <a:schemeClr val="tx1"/>
              </a:solidFill>
            </a:endParaRPr>
          </a:p>
          <a:p>
            <a:pPr algn="ctr"/>
            <a:endParaRPr lang="en-US">
              <a:solidFill>
                <a:schemeClr val="tx1"/>
              </a:solidFill>
              <a:ea typeface="+mn-lt"/>
              <a:cs typeface="+mn-lt"/>
            </a:endParaRPr>
          </a:p>
          <a:p>
            <a:pPr algn="ctr"/>
            <a:r>
              <a:rPr lang="en-US">
                <a:solidFill>
                  <a:schemeClr val="tx1"/>
                </a:solidFill>
                <a:ea typeface="+mn-lt"/>
                <a:cs typeface="+mn-lt"/>
              </a:rPr>
              <a:t> </a:t>
            </a:r>
            <a:endParaRPr lang="en-US">
              <a:solidFill>
                <a:schemeClr val="tx1"/>
              </a:solidFill>
            </a:endParaRPr>
          </a:p>
        </p:txBody>
      </p:sp>
      <p:cxnSp>
        <p:nvCxnSpPr>
          <p:cNvPr id="6" name="Straight Arrow Connector 5">
            <a:extLst>
              <a:ext uri="{FF2B5EF4-FFF2-40B4-BE49-F238E27FC236}">
                <a16:creationId xmlns:a16="http://schemas.microsoft.com/office/drawing/2014/main" id="{521EEB94-30FB-867C-7D5B-F34C4320B9C4}"/>
              </a:ext>
            </a:extLst>
          </p:cNvPr>
          <p:cNvCxnSpPr/>
          <p:nvPr/>
        </p:nvCxnSpPr>
        <p:spPr>
          <a:xfrm flipV="1">
            <a:off x="9847259" y="2432569"/>
            <a:ext cx="13805" cy="930513"/>
          </a:xfrm>
          <a:prstGeom prst="straightConnector1">
            <a:avLst/>
          </a:prstGeom>
          <a:ln w="28575"/>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C597123-BB03-CF61-8C14-3F03E723E272}"/>
              </a:ext>
            </a:extLst>
          </p:cNvPr>
          <p:cNvSpPr/>
          <p:nvPr/>
        </p:nvSpPr>
        <p:spPr>
          <a:xfrm>
            <a:off x="8533484" y="1368021"/>
            <a:ext cx="2740427" cy="1064567"/>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cs typeface="Arial"/>
              </a:rPr>
              <a:t>Flow matching loss and parameter update</a:t>
            </a:r>
          </a:p>
        </p:txBody>
      </p:sp>
      <p:cxnSp>
        <p:nvCxnSpPr>
          <p:cNvPr id="9" name="Straight Arrow Connector 8">
            <a:extLst>
              <a:ext uri="{FF2B5EF4-FFF2-40B4-BE49-F238E27FC236}">
                <a16:creationId xmlns:a16="http://schemas.microsoft.com/office/drawing/2014/main" id="{3E4A18AA-B1D3-8394-3BD1-04969DAA7A68}"/>
              </a:ext>
            </a:extLst>
          </p:cNvPr>
          <p:cNvCxnSpPr/>
          <p:nvPr/>
        </p:nvCxnSpPr>
        <p:spPr>
          <a:xfrm flipH="1">
            <a:off x="3478752" y="1805182"/>
            <a:ext cx="5017020" cy="16851"/>
          </a:xfrm>
          <a:prstGeom prst="straightConnector1">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B0218D5-12F2-5DB5-F748-3CE1226A164A}"/>
              </a:ext>
            </a:extLst>
          </p:cNvPr>
          <p:cNvCxnSpPr/>
          <p:nvPr/>
        </p:nvCxnSpPr>
        <p:spPr>
          <a:xfrm>
            <a:off x="3505056" y="1905491"/>
            <a:ext cx="0" cy="841829"/>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E6D1007-5187-91DC-CF63-371D38635DC0}"/>
              </a:ext>
            </a:extLst>
          </p:cNvPr>
          <p:cNvCxnSpPr>
            <a:cxnSpLocks/>
          </p:cNvCxnSpPr>
          <p:nvPr/>
        </p:nvCxnSpPr>
        <p:spPr>
          <a:xfrm>
            <a:off x="7306128" y="3340100"/>
            <a:ext cx="368300" cy="126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9C13CAC-44D9-43F5-59BC-823E6E5A6643}"/>
              </a:ext>
            </a:extLst>
          </p:cNvPr>
          <p:cNvCxnSpPr>
            <a:cxnSpLocks/>
          </p:cNvCxnSpPr>
          <p:nvPr/>
        </p:nvCxnSpPr>
        <p:spPr>
          <a:xfrm>
            <a:off x="1986642" y="3819072"/>
            <a:ext cx="702128" cy="544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5DB5A5A-2E3F-4977-2884-20B9FDAB87A2}"/>
              </a:ext>
            </a:extLst>
          </p:cNvPr>
          <p:cNvCxnSpPr>
            <a:cxnSpLocks/>
          </p:cNvCxnSpPr>
          <p:nvPr/>
        </p:nvCxnSpPr>
        <p:spPr>
          <a:xfrm>
            <a:off x="4381497" y="3347358"/>
            <a:ext cx="375559" cy="126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Arrow: Up 14">
            <a:extLst>
              <a:ext uri="{FF2B5EF4-FFF2-40B4-BE49-F238E27FC236}">
                <a16:creationId xmlns:a16="http://schemas.microsoft.com/office/drawing/2014/main" id="{B441CD75-1D16-FEDD-7EF4-A614B09096CD}"/>
              </a:ext>
            </a:extLst>
          </p:cNvPr>
          <p:cNvSpPr/>
          <p:nvPr/>
        </p:nvSpPr>
        <p:spPr>
          <a:xfrm>
            <a:off x="6050328" y="4079629"/>
            <a:ext cx="146775" cy="503065"/>
          </a:xfrm>
          <a:prstGeom prst="up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33">
            <a:extLst>
              <a:ext uri="{FF2B5EF4-FFF2-40B4-BE49-F238E27FC236}">
                <a16:creationId xmlns:a16="http://schemas.microsoft.com/office/drawing/2014/main" id="{878A596E-CBF5-C49A-9717-2A6EA21541D0}"/>
              </a:ext>
            </a:extLst>
          </p:cNvPr>
          <p:cNvSpPr/>
          <p:nvPr/>
        </p:nvSpPr>
        <p:spPr>
          <a:xfrm>
            <a:off x="8075121" y="5186144"/>
            <a:ext cx="3563485" cy="580483"/>
          </a:xfrm>
          <a:prstGeom prst="roundRect">
            <a:avLst/>
          </a:prstGeom>
          <a:solidFill>
            <a:schemeClr val="bg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solidFill>
                  <a:schemeClr val="tx1"/>
                </a:solidFill>
                <a:cs typeface="Arial"/>
              </a:rPr>
              <a:t>Goal: Learn the velocity field </a:t>
            </a:r>
          </a:p>
        </p:txBody>
      </p:sp>
      <p:pic>
        <p:nvPicPr>
          <p:cNvPr id="3" name="Picture 2" descr="A black and white image of a mathematical equation&#10;&#10;AI-generated content may be incorrect.">
            <a:extLst>
              <a:ext uri="{FF2B5EF4-FFF2-40B4-BE49-F238E27FC236}">
                <a16:creationId xmlns:a16="http://schemas.microsoft.com/office/drawing/2014/main" id="{68FD2A79-C326-7BDF-555C-7E8C63348F1C}"/>
              </a:ext>
            </a:extLst>
          </p:cNvPr>
          <p:cNvPicPr>
            <a:picLocks noChangeAspect="1"/>
          </p:cNvPicPr>
          <p:nvPr/>
        </p:nvPicPr>
        <p:blipFill>
          <a:blip r:embed="rId2"/>
          <a:stretch>
            <a:fillRect/>
          </a:stretch>
        </p:blipFill>
        <p:spPr>
          <a:xfrm>
            <a:off x="2695122" y="3592285"/>
            <a:ext cx="1656442" cy="275773"/>
          </a:xfrm>
          <a:prstGeom prst="rect">
            <a:avLst/>
          </a:prstGeom>
        </p:spPr>
      </p:pic>
      <p:pic>
        <p:nvPicPr>
          <p:cNvPr id="14" name="Picture 13">
            <a:extLst>
              <a:ext uri="{FF2B5EF4-FFF2-40B4-BE49-F238E27FC236}">
                <a16:creationId xmlns:a16="http://schemas.microsoft.com/office/drawing/2014/main" id="{CDC86A2D-9105-8CBD-CB09-1021DE593088}"/>
              </a:ext>
            </a:extLst>
          </p:cNvPr>
          <p:cNvPicPr>
            <a:picLocks noChangeAspect="1"/>
          </p:cNvPicPr>
          <p:nvPr/>
        </p:nvPicPr>
        <p:blipFill>
          <a:blip r:embed="rId3"/>
          <a:stretch>
            <a:fillRect/>
          </a:stretch>
        </p:blipFill>
        <p:spPr>
          <a:xfrm>
            <a:off x="8156122" y="3461657"/>
            <a:ext cx="865415" cy="319315"/>
          </a:xfrm>
          <a:prstGeom prst="rect">
            <a:avLst/>
          </a:prstGeom>
        </p:spPr>
      </p:pic>
      <p:pic>
        <p:nvPicPr>
          <p:cNvPr id="16" name="Picture 15" descr="A math equation with black text&#10;&#10;AI-generated content may be incorrect.">
            <a:extLst>
              <a:ext uri="{FF2B5EF4-FFF2-40B4-BE49-F238E27FC236}">
                <a16:creationId xmlns:a16="http://schemas.microsoft.com/office/drawing/2014/main" id="{3AE7510E-F150-B7DE-04B5-9E077C3F8236}"/>
              </a:ext>
            </a:extLst>
          </p:cNvPr>
          <p:cNvPicPr>
            <a:picLocks noChangeAspect="1"/>
          </p:cNvPicPr>
          <p:nvPr/>
        </p:nvPicPr>
        <p:blipFill>
          <a:blip r:embed="rId4"/>
          <a:stretch>
            <a:fillRect/>
          </a:stretch>
        </p:blipFill>
        <p:spPr>
          <a:xfrm>
            <a:off x="10435090" y="3425597"/>
            <a:ext cx="1670504" cy="572861"/>
          </a:xfrm>
          <a:prstGeom prst="rect">
            <a:avLst/>
          </a:prstGeom>
        </p:spPr>
      </p:pic>
    </p:spTree>
    <p:extLst>
      <p:ext uri="{BB962C8B-B14F-4D97-AF65-F5344CB8AC3E}">
        <p14:creationId xmlns:p14="http://schemas.microsoft.com/office/powerpoint/2010/main" val="893209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CD3D-E648-5513-9AAD-5C07DFCFDBA8}"/>
              </a:ext>
            </a:extLst>
          </p:cNvPr>
          <p:cNvSpPr>
            <a:spLocks noGrp="1"/>
          </p:cNvSpPr>
          <p:nvPr>
            <p:ph type="title"/>
          </p:nvPr>
        </p:nvSpPr>
        <p:spPr/>
        <p:txBody>
          <a:bodyPr/>
          <a:lstStyle/>
          <a:p>
            <a:r>
              <a:rPr lang="en-US" b="1">
                <a:cs typeface="Arial"/>
              </a:rPr>
              <a:t>INFERENCE PIPELINE</a:t>
            </a:r>
            <a:endParaRPr lang="en-US" b="1"/>
          </a:p>
        </p:txBody>
      </p:sp>
      <p:sp>
        <p:nvSpPr>
          <p:cNvPr id="4" name="Rectangle 3">
            <a:extLst>
              <a:ext uri="{FF2B5EF4-FFF2-40B4-BE49-F238E27FC236}">
                <a16:creationId xmlns:a16="http://schemas.microsoft.com/office/drawing/2014/main" id="{E50DB77C-8C32-C4A3-7B84-E33B24674A8D}"/>
              </a:ext>
            </a:extLst>
          </p:cNvPr>
          <p:cNvSpPr/>
          <p:nvPr/>
        </p:nvSpPr>
        <p:spPr>
          <a:xfrm>
            <a:off x="601997" y="2454645"/>
            <a:ext cx="1707221" cy="1246646"/>
          </a:xfrm>
          <a:prstGeom prst="rect">
            <a:avLst/>
          </a:prstGeom>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sz="1600" b="1">
                <a:solidFill>
                  <a:schemeClr val="tx1"/>
                </a:solidFill>
                <a:cs typeface="Arial"/>
              </a:rPr>
              <a:t> </a:t>
            </a:r>
            <a:r>
              <a:rPr lang="en-US" b="1">
                <a:solidFill>
                  <a:schemeClr val="tx1"/>
                </a:solidFill>
                <a:cs typeface="Arial"/>
              </a:rPr>
              <a:t>Gaussian Noise</a:t>
            </a:r>
          </a:p>
        </p:txBody>
      </p:sp>
      <p:sp>
        <p:nvSpPr>
          <p:cNvPr id="6" name="Rectangle 5">
            <a:extLst>
              <a:ext uri="{FF2B5EF4-FFF2-40B4-BE49-F238E27FC236}">
                <a16:creationId xmlns:a16="http://schemas.microsoft.com/office/drawing/2014/main" id="{1330A4D0-930E-E311-3316-47AD2788E869}"/>
              </a:ext>
            </a:extLst>
          </p:cNvPr>
          <p:cNvSpPr/>
          <p:nvPr/>
        </p:nvSpPr>
        <p:spPr>
          <a:xfrm>
            <a:off x="6901196" y="2396587"/>
            <a:ext cx="2113621" cy="126116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ea typeface="+mn-lt"/>
                <a:cs typeface="+mn-lt"/>
              </a:rPr>
              <a:t>Backward ODE Integration</a:t>
            </a:r>
          </a:p>
        </p:txBody>
      </p:sp>
      <p:sp>
        <p:nvSpPr>
          <p:cNvPr id="7" name="Rectangle 6">
            <a:extLst>
              <a:ext uri="{FF2B5EF4-FFF2-40B4-BE49-F238E27FC236}">
                <a16:creationId xmlns:a16="http://schemas.microsoft.com/office/drawing/2014/main" id="{A7130A33-B5F1-42CB-2176-559BC992D40D}"/>
              </a:ext>
            </a:extLst>
          </p:cNvPr>
          <p:cNvSpPr/>
          <p:nvPr/>
        </p:nvSpPr>
        <p:spPr>
          <a:xfrm>
            <a:off x="9462967" y="4268931"/>
            <a:ext cx="1866875" cy="883787"/>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cs typeface="Arial"/>
              </a:rPr>
              <a:t>VAE Decoder</a:t>
            </a:r>
            <a:endParaRPr lang="en-US" b="1">
              <a:cs typeface="Arial"/>
            </a:endParaRPr>
          </a:p>
        </p:txBody>
      </p:sp>
      <p:sp>
        <p:nvSpPr>
          <p:cNvPr id="8" name="Rectangle 7">
            <a:extLst>
              <a:ext uri="{FF2B5EF4-FFF2-40B4-BE49-F238E27FC236}">
                <a16:creationId xmlns:a16="http://schemas.microsoft.com/office/drawing/2014/main" id="{4BD1DA24-02A5-B25F-B36B-CAF533366ABA}"/>
              </a:ext>
            </a:extLst>
          </p:cNvPr>
          <p:cNvSpPr/>
          <p:nvPr/>
        </p:nvSpPr>
        <p:spPr>
          <a:xfrm>
            <a:off x="6981019" y="4268931"/>
            <a:ext cx="1982993" cy="891047"/>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cs typeface="Arial"/>
              </a:rPr>
              <a:t>Generated RIR</a:t>
            </a:r>
          </a:p>
        </p:txBody>
      </p:sp>
      <p:sp>
        <p:nvSpPr>
          <p:cNvPr id="9" name="Rectangle 8">
            <a:extLst>
              <a:ext uri="{FF2B5EF4-FFF2-40B4-BE49-F238E27FC236}">
                <a16:creationId xmlns:a16="http://schemas.microsoft.com/office/drawing/2014/main" id="{776C8D47-C4A9-6CDF-FD12-08C7EA1F0089}"/>
              </a:ext>
            </a:extLst>
          </p:cNvPr>
          <p:cNvSpPr/>
          <p:nvPr/>
        </p:nvSpPr>
        <p:spPr>
          <a:xfrm>
            <a:off x="9419423" y="2396588"/>
            <a:ext cx="1852363" cy="1261159"/>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cs typeface="Arial"/>
              </a:rPr>
              <a:t>Final Latent Representation</a:t>
            </a:r>
            <a:endParaRPr lang="en-US">
              <a:solidFill>
                <a:schemeClr val="tx1"/>
              </a:solidFill>
            </a:endParaRPr>
          </a:p>
        </p:txBody>
      </p:sp>
      <p:sp>
        <p:nvSpPr>
          <p:cNvPr id="10" name="Rectangle 9">
            <a:extLst>
              <a:ext uri="{FF2B5EF4-FFF2-40B4-BE49-F238E27FC236}">
                <a16:creationId xmlns:a16="http://schemas.microsoft.com/office/drawing/2014/main" id="{1927A4BB-4858-8506-7E0C-F8B306F7593F}"/>
              </a:ext>
            </a:extLst>
          </p:cNvPr>
          <p:cNvSpPr/>
          <p:nvPr/>
        </p:nvSpPr>
        <p:spPr>
          <a:xfrm>
            <a:off x="2597710" y="4283444"/>
            <a:ext cx="2128137" cy="941847"/>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cs typeface="Arial"/>
              </a:rPr>
              <a:t>Multimodal Conditioning</a:t>
            </a:r>
            <a:endParaRPr lang="en-US">
              <a:solidFill>
                <a:srgbClr val="000000"/>
              </a:solidFill>
              <a:cs typeface="Arial"/>
            </a:endParaRPr>
          </a:p>
        </p:txBody>
      </p:sp>
      <p:sp>
        <p:nvSpPr>
          <p:cNvPr id="11" name="Rectangle 10">
            <a:extLst>
              <a:ext uri="{FF2B5EF4-FFF2-40B4-BE49-F238E27FC236}">
                <a16:creationId xmlns:a16="http://schemas.microsoft.com/office/drawing/2014/main" id="{21C937FD-044D-5B3A-EC6F-E7ED97861EE2}"/>
              </a:ext>
            </a:extLst>
          </p:cNvPr>
          <p:cNvSpPr/>
          <p:nvPr/>
        </p:nvSpPr>
        <p:spPr>
          <a:xfrm>
            <a:off x="2684797" y="2454643"/>
            <a:ext cx="1721734" cy="1246647"/>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191919"/>
                </a:solidFill>
                <a:cs typeface="Arial"/>
              </a:rPr>
              <a:t>Diffusion Transformer</a:t>
            </a:r>
            <a:endParaRPr lang="en-US">
              <a:solidFill>
                <a:srgbClr val="000000"/>
              </a:solidFill>
              <a:cs typeface="Arial"/>
            </a:endParaRPr>
          </a:p>
        </p:txBody>
      </p:sp>
      <p:sp>
        <p:nvSpPr>
          <p:cNvPr id="12" name="Rectangle 11">
            <a:extLst>
              <a:ext uri="{FF2B5EF4-FFF2-40B4-BE49-F238E27FC236}">
                <a16:creationId xmlns:a16="http://schemas.microsoft.com/office/drawing/2014/main" id="{5EE1A8CD-F6EC-9FA8-29A4-B6F3B03D5C29}"/>
              </a:ext>
            </a:extLst>
          </p:cNvPr>
          <p:cNvSpPr/>
          <p:nvPr/>
        </p:nvSpPr>
        <p:spPr>
          <a:xfrm>
            <a:off x="4818395" y="2476418"/>
            <a:ext cx="1721734" cy="1253902"/>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cs typeface="Arial"/>
              </a:rPr>
              <a:t>Classifier Free Guidance</a:t>
            </a:r>
          </a:p>
        </p:txBody>
      </p:sp>
      <p:sp>
        <p:nvSpPr>
          <p:cNvPr id="13" name="Arrow: Right 12">
            <a:extLst>
              <a:ext uri="{FF2B5EF4-FFF2-40B4-BE49-F238E27FC236}">
                <a16:creationId xmlns:a16="http://schemas.microsoft.com/office/drawing/2014/main" id="{336376AC-7BA9-A253-ED38-8EEF4BD69DE2}"/>
              </a:ext>
            </a:extLst>
          </p:cNvPr>
          <p:cNvSpPr/>
          <p:nvPr/>
        </p:nvSpPr>
        <p:spPr>
          <a:xfrm flipV="1">
            <a:off x="2307150" y="2951278"/>
            <a:ext cx="376106" cy="156971"/>
          </a:xfrm>
          <a:prstGeom prst="rightArrow">
            <a:avLst/>
          </a:prstGeom>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B9B28A61-EDDA-7225-640B-049FA3D41C2F}"/>
              </a:ext>
            </a:extLst>
          </p:cNvPr>
          <p:cNvSpPr/>
          <p:nvPr/>
        </p:nvSpPr>
        <p:spPr>
          <a:xfrm>
            <a:off x="9035880" y="2857125"/>
            <a:ext cx="394065" cy="157015"/>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582F96A2-8F6D-983B-DF61-A7A77830E980}"/>
              </a:ext>
            </a:extLst>
          </p:cNvPr>
          <p:cNvSpPr/>
          <p:nvPr/>
        </p:nvSpPr>
        <p:spPr>
          <a:xfrm>
            <a:off x="6546680" y="2871638"/>
            <a:ext cx="357778" cy="161224"/>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DA122F08-CC05-C05C-AB54-EFD24BECAEDC}"/>
              </a:ext>
            </a:extLst>
          </p:cNvPr>
          <p:cNvCxnSpPr/>
          <p:nvPr/>
        </p:nvCxnSpPr>
        <p:spPr>
          <a:xfrm flipH="1" flipV="1">
            <a:off x="7738626" y="1665361"/>
            <a:ext cx="20752" cy="726803"/>
          </a:xfrm>
          <a:prstGeom prst="straightConnector1">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289153E-2A35-F554-C83D-EEA8B48E65DF}"/>
              </a:ext>
            </a:extLst>
          </p:cNvPr>
          <p:cNvCxnSpPr/>
          <p:nvPr/>
        </p:nvCxnSpPr>
        <p:spPr>
          <a:xfrm flipH="1">
            <a:off x="3502869" y="1709923"/>
            <a:ext cx="4245053" cy="30049"/>
          </a:xfrm>
          <a:prstGeom prst="straightConnector1">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CE7DA66-B793-8F20-7BC4-3EAB5E3ACCDA}"/>
              </a:ext>
            </a:extLst>
          </p:cNvPr>
          <p:cNvCxnSpPr/>
          <p:nvPr/>
        </p:nvCxnSpPr>
        <p:spPr>
          <a:xfrm flipH="1">
            <a:off x="3492551" y="1760213"/>
            <a:ext cx="16045" cy="695619"/>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Arrow: Right 18">
            <a:extLst>
              <a:ext uri="{FF2B5EF4-FFF2-40B4-BE49-F238E27FC236}">
                <a16:creationId xmlns:a16="http://schemas.microsoft.com/office/drawing/2014/main" id="{4FFD9E98-2E33-435B-F2C3-B5EB6D9F1250}"/>
              </a:ext>
            </a:extLst>
          </p:cNvPr>
          <p:cNvSpPr/>
          <p:nvPr/>
        </p:nvSpPr>
        <p:spPr>
          <a:xfrm>
            <a:off x="4442107" y="2842609"/>
            <a:ext cx="379551" cy="168481"/>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5063DE70-05E6-593E-0C87-D322428BE17D}"/>
              </a:ext>
            </a:extLst>
          </p:cNvPr>
          <p:cNvSpPr/>
          <p:nvPr/>
        </p:nvSpPr>
        <p:spPr>
          <a:xfrm>
            <a:off x="10232570" y="3702956"/>
            <a:ext cx="158761" cy="575130"/>
          </a:xfrm>
          <a:prstGeom prst="dow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Left 21">
            <a:extLst>
              <a:ext uri="{FF2B5EF4-FFF2-40B4-BE49-F238E27FC236}">
                <a16:creationId xmlns:a16="http://schemas.microsoft.com/office/drawing/2014/main" id="{40EB8ACE-EA73-2065-B8EA-8CD22B3FFC51}"/>
              </a:ext>
            </a:extLst>
          </p:cNvPr>
          <p:cNvSpPr/>
          <p:nvPr/>
        </p:nvSpPr>
        <p:spPr>
          <a:xfrm>
            <a:off x="8960756" y="4673597"/>
            <a:ext cx="506186" cy="163287"/>
          </a:xfrm>
          <a:prstGeom prst="lef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Up 19">
            <a:extLst>
              <a:ext uri="{FF2B5EF4-FFF2-40B4-BE49-F238E27FC236}">
                <a16:creationId xmlns:a16="http://schemas.microsoft.com/office/drawing/2014/main" id="{33FB22B8-C318-6B0E-AF15-30E0416D5E48}"/>
              </a:ext>
            </a:extLst>
          </p:cNvPr>
          <p:cNvSpPr/>
          <p:nvPr/>
        </p:nvSpPr>
        <p:spPr>
          <a:xfrm>
            <a:off x="3564215" y="3703945"/>
            <a:ext cx="186823" cy="575018"/>
          </a:xfrm>
          <a:prstGeom prst="up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Content Placeholder 2" descr="A black and white logo&#10;&#10;AI-generated content may be incorrect.">
            <a:extLst>
              <a:ext uri="{FF2B5EF4-FFF2-40B4-BE49-F238E27FC236}">
                <a16:creationId xmlns:a16="http://schemas.microsoft.com/office/drawing/2014/main" id="{590BCC9C-F4C9-0D5B-1A58-0938204BE2A1}"/>
              </a:ext>
            </a:extLst>
          </p:cNvPr>
          <p:cNvPicPr>
            <a:picLocks noGrp="1" noChangeAspect="1"/>
          </p:cNvPicPr>
          <p:nvPr>
            <p:ph idx="1"/>
          </p:nvPr>
        </p:nvPicPr>
        <p:blipFill>
          <a:blip r:embed="rId3"/>
          <a:srcRect t="22642" r="-1897" b="-1910"/>
          <a:stretch>
            <a:fillRect/>
          </a:stretch>
        </p:blipFill>
        <p:spPr bwMode="auto">
          <a:xfrm>
            <a:off x="10138079" y="3347812"/>
            <a:ext cx="411334" cy="303450"/>
          </a:xfrm>
          <a:prstGeom prst="rect">
            <a:avLst/>
          </a:prstGeom>
          <a:noFill/>
          <a:ln w="9525">
            <a:noFill/>
            <a:miter lim="800000"/>
            <a:headEnd/>
            <a:tailEnd/>
          </a:ln>
        </p:spPr>
      </p:pic>
    </p:spTree>
    <p:extLst>
      <p:ext uri="{BB962C8B-B14F-4D97-AF65-F5344CB8AC3E}">
        <p14:creationId xmlns:p14="http://schemas.microsoft.com/office/powerpoint/2010/main" val="4252932826"/>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277E-9954-8A66-AAE2-1089BEE14042}"/>
              </a:ext>
            </a:extLst>
          </p:cNvPr>
          <p:cNvSpPr>
            <a:spLocks noGrp="1"/>
          </p:cNvSpPr>
          <p:nvPr>
            <p:ph type="title"/>
          </p:nvPr>
        </p:nvSpPr>
        <p:spPr/>
        <p:txBody>
          <a:bodyPr/>
          <a:lstStyle/>
          <a:p>
            <a:r>
              <a:rPr lang="en-US" b="1">
                <a:cs typeface="Arial"/>
              </a:rPr>
              <a:t>AGREE</a:t>
            </a:r>
            <a:endParaRPr lang="en-US" b="1"/>
          </a:p>
        </p:txBody>
      </p:sp>
      <p:sp>
        <p:nvSpPr>
          <p:cNvPr id="9" name="TextBox 8">
            <a:extLst>
              <a:ext uri="{FF2B5EF4-FFF2-40B4-BE49-F238E27FC236}">
                <a16:creationId xmlns:a16="http://schemas.microsoft.com/office/drawing/2014/main" id="{191E8DF9-3E7C-C15F-8ED1-12EFB28882F2}"/>
              </a:ext>
            </a:extLst>
          </p:cNvPr>
          <p:cNvSpPr txBox="1"/>
          <p:nvPr/>
        </p:nvSpPr>
        <p:spPr>
          <a:xfrm>
            <a:off x="2259632" y="5491722"/>
            <a:ext cx="8480939" cy="357545"/>
          </a:xfrm>
          <a:prstGeom prst="roundRect">
            <a:avLst/>
          </a:prstGeom>
          <a:solidFill>
            <a:schemeClr val="bg2"/>
          </a:solidFill>
          <a:ln w="28575">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i="1">
                <a:latin typeface="Arial"/>
                <a:cs typeface="Arial"/>
              </a:rPr>
              <a:t>CLIP-style contrastive model. This introduces </a:t>
            </a:r>
            <a:r>
              <a:rPr lang="en-US" sz="1500">
                <a:latin typeface="Arial"/>
                <a:cs typeface="Arial"/>
              </a:rPr>
              <a:t>Geometry-aware evaluation.</a:t>
            </a:r>
          </a:p>
        </p:txBody>
      </p:sp>
      <p:sp>
        <p:nvSpPr>
          <p:cNvPr id="11" name="Content Placeholder 10">
            <a:extLst>
              <a:ext uri="{FF2B5EF4-FFF2-40B4-BE49-F238E27FC236}">
                <a16:creationId xmlns:a16="http://schemas.microsoft.com/office/drawing/2014/main" id="{6BFBD3EC-6AE9-E8A2-4312-0CCA4EF5280A}"/>
              </a:ext>
            </a:extLst>
          </p:cNvPr>
          <p:cNvSpPr>
            <a:spLocks noGrp="1"/>
          </p:cNvSpPr>
          <p:nvPr>
            <p:ph idx="1"/>
          </p:nvPr>
        </p:nvSpPr>
        <p:spPr/>
        <p:txBody>
          <a:bodyPr/>
          <a:lstStyle/>
          <a:p>
            <a:endParaRPr lang="en-US"/>
          </a:p>
          <a:p>
            <a:endParaRPr lang="en-US">
              <a:cs typeface="Arial"/>
            </a:endParaRPr>
          </a:p>
          <a:p>
            <a:endParaRPr lang="en-US">
              <a:cs typeface="Arial"/>
            </a:endParaRPr>
          </a:p>
          <a:p>
            <a:endParaRPr lang="en-US">
              <a:cs typeface="Arial"/>
            </a:endParaRPr>
          </a:p>
          <a:p>
            <a:endParaRPr lang="en-US">
              <a:cs typeface="Arial"/>
            </a:endParaRPr>
          </a:p>
          <a:p>
            <a:endParaRPr lang="en-US">
              <a:cs typeface="Arial"/>
            </a:endParaRPr>
          </a:p>
        </p:txBody>
      </p:sp>
      <p:sp>
        <p:nvSpPr>
          <p:cNvPr id="14" name="Content Placeholder 2">
            <a:extLst>
              <a:ext uri="{FF2B5EF4-FFF2-40B4-BE49-F238E27FC236}">
                <a16:creationId xmlns:a16="http://schemas.microsoft.com/office/drawing/2014/main" id="{1B35694E-0644-F6E6-984A-9A228D95469B}"/>
              </a:ext>
            </a:extLst>
          </p:cNvPr>
          <p:cNvSpPr>
            <a:spLocks noGrp="1"/>
          </p:cNvSpPr>
          <p:nvPr/>
        </p:nvSpPr>
        <p:spPr bwMode="auto">
          <a:xfrm>
            <a:off x="675520" y="2625271"/>
            <a:ext cx="11425767" cy="416469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69875" indent="-269875" algn="l" rtl="0" eaLnBrk="0" fontAlgn="base" hangingPunct="0">
              <a:lnSpc>
                <a:spcPct val="110000"/>
              </a:lnSpc>
              <a:spcBef>
                <a:spcPct val="20000"/>
              </a:spcBef>
              <a:spcAft>
                <a:spcPct val="0"/>
              </a:spcAft>
              <a:buClr>
                <a:srgbClr val="ED8C01"/>
              </a:buClr>
              <a:buFont typeface="Wingdings" pitchFamily="2" charset="2"/>
              <a:buChar char="§"/>
              <a:defRPr sz="2400">
                <a:solidFill>
                  <a:schemeClr val="tx1"/>
                </a:solidFill>
                <a:latin typeface="+mn-lt"/>
                <a:ea typeface="+mn-ea"/>
                <a:cs typeface="+mn-cs"/>
              </a:defRPr>
            </a:lvl1pPr>
            <a:lvl2pPr marL="720725" indent="-271463"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2pPr>
            <a:lvl3pPr marL="1163638" indent="-263525"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3pPr>
            <a:lvl4pPr marL="1614488" indent="-271463"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4pPr>
            <a:lvl5pPr marL="1974850" indent="-180975" algn="l" rtl="0" eaLnBrk="0" fontAlgn="base" hangingPunct="0">
              <a:lnSpc>
                <a:spcPct val="110000"/>
              </a:lnSpc>
              <a:spcBef>
                <a:spcPct val="20000"/>
              </a:spcBef>
              <a:spcAft>
                <a:spcPct val="0"/>
              </a:spcAft>
              <a:buClr>
                <a:srgbClr val="707070"/>
              </a:buClr>
              <a:buFont typeface="Wingdings" pitchFamily="2" charset="2"/>
              <a:buChar char="§"/>
              <a:defRPr sz="2000">
                <a:solidFill>
                  <a:schemeClr val="tx1"/>
                </a:solidFill>
                <a:latin typeface="+mn-lt"/>
              </a:defRPr>
            </a:lvl5pPr>
            <a:lvl6pPr marL="24320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6pPr>
            <a:lvl7pPr marL="28892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7pPr>
            <a:lvl8pPr marL="33464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8pPr>
            <a:lvl9pPr marL="3803650" indent="-133350" algn="l" rtl="0" fontAlgn="base">
              <a:spcBef>
                <a:spcPct val="20000"/>
              </a:spcBef>
              <a:spcAft>
                <a:spcPct val="0"/>
              </a:spcAft>
              <a:buClr>
                <a:srgbClr val="626262"/>
              </a:buClr>
              <a:buFont typeface="Wingdings" pitchFamily="2" charset="2"/>
              <a:buChar char="§"/>
              <a:defRPr sz="2000">
                <a:solidFill>
                  <a:schemeClr val="tx1"/>
                </a:solidFill>
                <a:latin typeface="+mn-lt"/>
              </a:defRPr>
            </a:lvl9pPr>
          </a:lstStyle>
          <a:p>
            <a:endParaRPr lang="en-US"/>
          </a:p>
          <a:p>
            <a:endParaRPr lang="en-US">
              <a:cs typeface="Arial"/>
            </a:endParaRPr>
          </a:p>
          <a:p>
            <a:endParaRPr lang="en-US">
              <a:cs typeface="Arial"/>
            </a:endParaRPr>
          </a:p>
          <a:p>
            <a:endParaRPr lang="en-US">
              <a:cs typeface="Arial"/>
            </a:endParaRPr>
          </a:p>
          <a:p>
            <a:endParaRPr lang="en-US">
              <a:cs typeface="Arial"/>
            </a:endParaRPr>
          </a:p>
        </p:txBody>
      </p:sp>
      <p:sp>
        <p:nvSpPr>
          <p:cNvPr id="15" name="Rounded Rectangle 7">
            <a:extLst>
              <a:ext uri="{FF2B5EF4-FFF2-40B4-BE49-F238E27FC236}">
                <a16:creationId xmlns:a16="http://schemas.microsoft.com/office/drawing/2014/main" id="{BEE4B045-7726-675D-7856-E8161736BC77}"/>
              </a:ext>
            </a:extLst>
          </p:cNvPr>
          <p:cNvSpPr/>
          <p:nvPr/>
        </p:nvSpPr>
        <p:spPr>
          <a:xfrm>
            <a:off x="179977" y="2965267"/>
            <a:ext cx="2377440" cy="1515292"/>
          </a:xfrm>
          <a:prstGeom prst="rect">
            <a:avLst/>
          </a:prstGeom>
          <a:solidFill>
            <a:srgbClr val="FFFFFF"/>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Acoustic </a:t>
            </a:r>
            <a:r>
              <a:rPr lang="en-US" b="1">
                <a:solidFill>
                  <a:srgbClr val="191919"/>
                </a:solidFill>
                <a:latin typeface="Arial"/>
              </a:rPr>
              <a:t>Branch</a:t>
            </a:r>
            <a:endParaRPr sz="1800" b="1">
              <a:solidFill>
                <a:srgbClr val="191919"/>
              </a:solidFill>
              <a:latin typeface="Arial"/>
            </a:endParaRPr>
          </a:p>
          <a:p>
            <a:r>
              <a:rPr sz="1400">
                <a:solidFill>
                  <a:srgbClr val="191919"/>
                </a:solidFill>
                <a:latin typeface="Arial"/>
              </a:rPr>
              <a:t>Input: RIR / generated acoustics</a:t>
            </a:r>
          </a:p>
          <a:p>
            <a:endParaRPr lang="en-US" sz="1400">
              <a:solidFill>
                <a:srgbClr val="191919"/>
              </a:solidFill>
              <a:latin typeface="Arial"/>
              <a:cs typeface="Arial"/>
            </a:endParaRPr>
          </a:p>
        </p:txBody>
      </p:sp>
      <p:sp>
        <p:nvSpPr>
          <p:cNvPr id="16" name="Rounded Rectangle 8">
            <a:extLst>
              <a:ext uri="{FF2B5EF4-FFF2-40B4-BE49-F238E27FC236}">
                <a16:creationId xmlns:a16="http://schemas.microsoft.com/office/drawing/2014/main" id="{EADF2FD5-5166-A1D7-663B-B54659831B0E}"/>
              </a:ext>
            </a:extLst>
          </p:cNvPr>
          <p:cNvSpPr/>
          <p:nvPr/>
        </p:nvSpPr>
        <p:spPr>
          <a:xfrm>
            <a:off x="9739086" y="2812867"/>
            <a:ext cx="2407921" cy="1544321"/>
          </a:xfrm>
          <a:prstGeom prst="rect">
            <a:avLst/>
          </a:prstGeom>
          <a:solidFill>
            <a:srgbClr val="FFFFFF"/>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b="1">
                <a:solidFill>
                  <a:srgbClr val="191919"/>
                </a:solidFill>
                <a:latin typeface="Arial"/>
              </a:rPr>
              <a:t>Geometry Branch</a:t>
            </a:r>
            <a:endParaRPr sz="1800" b="1">
              <a:solidFill>
                <a:srgbClr val="191919"/>
              </a:solidFill>
              <a:latin typeface="Arial"/>
            </a:endParaRPr>
          </a:p>
          <a:p>
            <a:r>
              <a:rPr sz="1400">
                <a:solidFill>
                  <a:srgbClr val="191919"/>
                </a:solidFill>
                <a:latin typeface="Arial"/>
              </a:rPr>
              <a:t>Input: room depth </a:t>
            </a:r>
          </a:p>
          <a:p>
            <a:endParaRPr sz="1400">
              <a:solidFill>
                <a:srgbClr val="191919"/>
              </a:solidFill>
              <a:latin typeface="Arial"/>
              <a:cs typeface="Arial"/>
            </a:endParaRPr>
          </a:p>
          <a:p>
            <a:endParaRPr lang="en-US" sz="1400">
              <a:solidFill>
                <a:srgbClr val="191919"/>
              </a:solidFill>
              <a:latin typeface="Arial"/>
              <a:cs typeface="Arial"/>
            </a:endParaRPr>
          </a:p>
        </p:txBody>
      </p:sp>
      <p:sp>
        <p:nvSpPr>
          <p:cNvPr id="17" name="Rounded Rectangle 9">
            <a:extLst>
              <a:ext uri="{FF2B5EF4-FFF2-40B4-BE49-F238E27FC236}">
                <a16:creationId xmlns:a16="http://schemas.microsoft.com/office/drawing/2014/main" id="{47B1B9DE-0F16-DCDD-FDE5-75CD59191DC8}"/>
              </a:ext>
            </a:extLst>
          </p:cNvPr>
          <p:cNvSpPr/>
          <p:nvPr/>
        </p:nvSpPr>
        <p:spPr>
          <a:xfrm>
            <a:off x="4566195" y="2335348"/>
            <a:ext cx="3011714" cy="2830286"/>
          </a:xfrm>
          <a:prstGeom prst="rect">
            <a:avLst/>
          </a:prstGeom>
          <a:solidFill>
            <a:schemeClr val="accent1">
              <a:lumMod val="20000"/>
              <a:lumOff val="80000"/>
            </a:schemeClr>
          </a:solidFill>
          <a:ln w="25400">
            <a:solidFill>
              <a:srgbClr val="ED8C0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800" b="1">
                <a:solidFill>
                  <a:srgbClr val="191919"/>
                </a:solidFill>
                <a:latin typeface="Arial"/>
              </a:rPr>
              <a:t>Shared embedding space</a:t>
            </a:r>
          </a:p>
          <a:p>
            <a:endParaRPr sz="1400" b="1">
              <a:solidFill>
                <a:srgbClr val="191919"/>
              </a:solidFill>
              <a:latin typeface="Arial"/>
              <a:cs typeface="Arial"/>
            </a:endParaRPr>
          </a:p>
          <a:p>
            <a:r>
              <a:rPr lang="en-US" sz="1400" b="1">
                <a:solidFill>
                  <a:srgbClr val="191919"/>
                </a:solidFill>
                <a:latin typeface="Arial"/>
              </a:rPr>
              <a:t>geometry-consistency</a:t>
            </a:r>
            <a:r>
              <a:rPr sz="1400" b="1">
                <a:solidFill>
                  <a:srgbClr val="191919"/>
                </a:solidFill>
                <a:latin typeface="Arial"/>
              </a:rPr>
              <a:t> evaluation</a:t>
            </a:r>
            <a:endParaRPr sz="1400" b="1">
              <a:solidFill>
                <a:srgbClr val="191919"/>
              </a:solidFill>
              <a:latin typeface="Arial"/>
              <a:cs typeface="Arial"/>
            </a:endParaRPr>
          </a:p>
          <a:p>
            <a:endParaRPr lang="en-US" sz="1400">
              <a:solidFill>
                <a:srgbClr val="191919"/>
              </a:solidFill>
              <a:latin typeface="Arial"/>
              <a:cs typeface="Arial"/>
            </a:endParaRPr>
          </a:p>
          <a:p>
            <a:endParaRPr lang="en-US" sz="1400">
              <a:solidFill>
                <a:srgbClr val="191919"/>
              </a:solidFill>
              <a:latin typeface="Arial"/>
              <a:cs typeface="Arial"/>
            </a:endParaRPr>
          </a:p>
          <a:p>
            <a:endParaRPr lang="en-US" sz="1400">
              <a:solidFill>
                <a:srgbClr val="191919"/>
              </a:solidFill>
              <a:latin typeface="Arial"/>
              <a:cs typeface="Arial"/>
            </a:endParaRPr>
          </a:p>
          <a:p>
            <a:endParaRPr lang="en-US" sz="1400">
              <a:solidFill>
                <a:srgbClr val="191919"/>
              </a:solidFill>
              <a:latin typeface="Arial"/>
              <a:cs typeface="Arial"/>
            </a:endParaRPr>
          </a:p>
          <a:p>
            <a:endParaRPr lang="en-US" sz="1400">
              <a:solidFill>
                <a:srgbClr val="191919"/>
              </a:solidFill>
              <a:latin typeface="Arial"/>
              <a:cs typeface="Arial"/>
            </a:endParaRPr>
          </a:p>
          <a:p>
            <a:endParaRPr lang="en-US" sz="1400">
              <a:solidFill>
                <a:srgbClr val="191919"/>
              </a:solidFill>
              <a:latin typeface="Arial"/>
              <a:cs typeface="Arial"/>
            </a:endParaRPr>
          </a:p>
          <a:p>
            <a:endParaRPr lang="en-US" sz="1400" b="1">
              <a:solidFill>
                <a:srgbClr val="191919"/>
              </a:solidFill>
              <a:latin typeface="Arial"/>
              <a:cs typeface="Arial"/>
            </a:endParaRPr>
          </a:p>
          <a:p>
            <a:r>
              <a:rPr lang="en-US" sz="1400" b="1">
                <a:solidFill>
                  <a:srgbClr val="191919"/>
                </a:solidFill>
                <a:latin typeface="Arial"/>
                <a:cs typeface="Arial"/>
              </a:rPr>
              <a:t>         Embeddings are aligned</a:t>
            </a:r>
          </a:p>
          <a:p>
            <a:endParaRPr lang="en-US" sz="1400">
              <a:solidFill>
                <a:srgbClr val="191919"/>
              </a:solidFill>
              <a:latin typeface="Arial"/>
              <a:cs typeface="Arial"/>
            </a:endParaRPr>
          </a:p>
        </p:txBody>
      </p:sp>
      <p:sp>
        <p:nvSpPr>
          <p:cNvPr id="3" name="Arrow: Right 2">
            <a:extLst>
              <a:ext uri="{FF2B5EF4-FFF2-40B4-BE49-F238E27FC236}">
                <a16:creationId xmlns:a16="http://schemas.microsoft.com/office/drawing/2014/main" id="{B79F6F70-9180-EDA2-2D20-F5651B8CD5FA}"/>
              </a:ext>
            </a:extLst>
          </p:cNvPr>
          <p:cNvSpPr/>
          <p:nvPr/>
        </p:nvSpPr>
        <p:spPr>
          <a:xfrm>
            <a:off x="3927929" y="3542014"/>
            <a:ext cx="639852" cy="160867"/>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8115AC81-C74B-A9B3-7AFB-90DB5E6F117B}"/>
              </a:ext>
            </a:extLst>
          </p:cNvPr>
          <p:cNvSpPr/>
          <p:nvPr/>
        </p:nvSpPr>
        <p:spPr>
          <a:xfrm rot="10800000">
            <a:off x="7614554" y="3505728"/>
            <a:ext cx="696459" cy="160867"/>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anual Operation 3">
            <a:extLst>
              <a:ext uri="{FF2B5EF4-FFF2-40B4-BE49-F238E27FC236}">
                <a16:creationId xmlns:a16="http://schemas.microsoft.com/office/drawing/2014/main" id="{619C7985-DAA4-1BF1-87AF-630552CC6586}"/>
              </a:ext>
            </a:extLst>
          </p:cNvPr>
          <p:cNvSpPr/>
          <p:nvPr/>
        </p:nvSpPr>
        <p:spPr>
          <a:xfrm rot="16200000">
            <a:off x="1844661" y="3092664"/>
            <a:ext cx="3388433" cy="780520"/>
          </a:xfrm>
          <a:prstGeom prst="flowChartManualOperation">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rgbClr val="191919"/>
                </a:solidFill>
                <a:cs typeface="Arial"/>
              </a:rPr>
              <a:t>Audio Encoder</a:t>
            </a:r>
            <a:endParaRPr lang="en-US" b="1">
              <a:solidFill>
                <a:srgbClr val="000000"/>
              </a:solidFill>
              <a:cs typeface="Arial"/>
            </a:endParaRPr>
          </a:p>
          <a:p>
            <a:pPr algn="ctr"/>
            <a:endParaRPr lang="en-US">
              <a:cs typeface="Arial"/>
            </a:endParaRPr>
          </a:p>
        </p:txBody>
      </p:sp>
      <p:sp>
        <p:nvSpPr>
          <p:cNvPr id="6" name="Flowchart: Manual Operation 5">
            <a:extLst>
              <a:ext uri="{FF2B5EF4-FFF2-40B4-BE49-F238E27FC236}">
                <a16:creationId xmlns:a16="http://schemas.microsoft.com/office/drawing/2014/main" id="{8B3BAA92-7032-437D-53AC-BDC1B71877FE}"/>
              </a:ext>
            </a:extLst>
          </p:cNvPr>
          <p:cNvSpPr/>
          <p:nvPr/>
        </p:nvSpPr>
        <p:spPr>
          <a:xfrm rot="5460000">
            <a:off x="6995902" y="3107052"/>
            <a:ext cx="3403600" cy="780520"/>
          </a:xfrm>
          <a:prstGeom prst="flowChartManualOperation">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rgbClr val="191919"/>
                </a:solidFill>
                <a:cs typeface="Arial"/>
              </a:rPr>
              <a:t>Geometry Encode</a:t>
            </a:r>
            <a:r>
              <a:rPr lang="en-US" sz="1400" b="1">
                <a:solidFill>
                  <a:srgbClr val="191919"/>
                </a:solidFill>
                <a:cs typeface="Arial"/>
              </a:rPr>
              <a:t>r</a:t>
            </a:r>
            <a:endParaRPr lang="en-US" b="1"/>
          </a:p>
        </p:txBody>
      </p:sp>
      <p:pic>
        <p:nvPicPr>
          <p:cNvPr id="7" name="Picture 6" descr="A blurry image of a building&#10;&#10;AI-generated content may be incorrect.">
            <a:extLst>
              <a:ext uri="{FF2B5EF4-FFF2-40B4-BE49-F238E27FC236}">
                <a16:creationId xmlns:a16="http://schemas.microsoft.com/office/drawing/2014/main" id="{81C30FCA-3DCA-F7C3-90A5-19FC68BFF946}"/>
              </a:ext>
            </a:extLst>
          </p:cNvPr>
          <p:cNvPicPr>
            <a:picLocks noChangeAspect="1"/>
          </p:cNvPicPr>
          <p:nvPr/>
        </p:nvPicPr>
        <p:blipFill>
          <a:blip r:embed="rId2"/>
          <a:stretch>
            <a:fillRect/>
          </a:stretch>
        </p:blipFill>
        <p:spPr>
          <a:xfrm>
            <a:off x="10734221" y="3624489"/>
            <a:ext cx="818243" cy="697593"/>
          </a:xfrm>
          <a:prstGeom prst="rect">
            <a:avLst/>
          </a:prstGeom>
        </p:spPr>
      </p:pic>
      <p:pic>
        <p:nvPicPr>
          <p:cNvPr id="8" name="Picture 7" descr="A red sound wave&#10;&#10;AI-generated content may be incorrect.">
            <a:extLst>
              <a:ext uri="{FF2B5EF4-FFF2-40B4-BE49-F238E27FC236}">
                <a16:creationId xmlns:a16="http://schemas.microsoft.com/office/drawing/2014/main" id="{4A7518DF-81BA-FF3E-D4FC-B4CE818ED30A}"/>
              </a:ext>
            </a:extLst>
          </p:cNvPr>
          <p:cNvPicPr>
            <a:picLocks noChangeAspect="1"/>
          </p:cNvPicPr>
          <p:nvPr/>
        </p:nvPicPr>
        <p:blipFill>
          <a:blip r:embed="rId3"/>
          <a:stretch>
            <a:fillRect/>
          </a:stretch>
        </p:blipFill>
        <p:spPr>
          <a:xfrm>
            <a:off x="1352096" y="3727449"/>
            <a:ext cx="909865" cy="629557"/>
          </a:xfrm>
          <a:prstGeom prst="rect">
            <a:avLst/>
          </a:prstGeom>
        </p:spPr>
      </p:pic>
      <p:pic>
        <p:nvPicPr>
          <p:cNvPr id="10" name="Picture 9" descr="A diagram of different colored triangles and circles&#10;&#10;AI-generated content may be incorrect.">
            <a:extLst>
              <a:ext uri="{FF2B5EF4-FFF2-40B4-BE49-F238E27FC236}">
                <a16:creationId xmlns:a16="http://schemas.microsoft.com/office/drawing/2014/main" id="{615B5EAF-9B69-402A-B88C-405D3B3EAE1F}"/>
              </a:ext>
            </a:extLst>
          </p:cNvPr>
          <p:cNvPicPr>
            <a:picLocks noChangeAspect="1"/>
          </p:cNvPicPr>
          <p:nvPr/>
        </p:nvPicPr>
        <p:blipFill>
          <a:blip r:embed="rId4"/>
          <a:stretch>
            <a:fillRect/>
          </a:stretch>
        </p:blipFill>
        <p:spPr>
          <a:xfrm>
            <a:off x="5186362" y="3343048"/>
            <a:ext cx="1724933" cy="112259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9" name="Arrow: Left 18">
            <a:extLst>
              <a:ext uri="{FF2B5EF4-FFF2-40B4-BE49-F238E27FC236}">
                <a16:creationId xmlns:a16="http://schemas.microsoft.com/office/drawing/2014/main" id="{2214DEB4-DC98-7764-973A-6E21E4E91B7D}"/>
              </a:ext>
            </a:extLst>
          </p:cNvPr>
          <p:cNvSpPr/>
          <p:nvPr/>
        </p:nvSpPr>
        <p:spPr>
          <a:xfrm>
            <a:off x="9115693" y="3498361"/>
            <a:ext cx="619465" cy="157691"/>
          </a:xfrm>
          <a:prstGeom prst="lef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F027EEB7-2E4D-890C-6E0D-E96913DDF2D2}"/>
              </a:ext>
            </a:extLst>
          </p:cNvPr>
          <p:cNvSpPr/>
          <p:nvPr/>
        </p:nvSpPr>
        <p:spPr>
          <a:xfrm>
            <a:off x="2558162" y="3533247"/>
            <a:ext cx="562107" cy="149130"/>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EEFA03F-919F-ABE9-E3FC-140BDF7B0330}"/>
              </a:ext>
            </a:extLst>
          </p:cNvPr>
          <p:cNvSpPr txBox="1"/>
          <p:nvPr/>
        </p:nvSpPr>
        <p:spPr>
          <a:xfrm>
            <a:off x="2995804" y="1015820"/>
            <a:ext cx="5705209" cy="408623"/>
          </a:xfrm>
          <a:prstGeom prst="roundRect">
            <a:avLst/>
          </a:prstGeom>
          <a:noFill/>
          <a:ln w="28575">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Does the generated RIR match the room geometry?</a:t>
            </a:r>
            <a:endParaRPr lang="en-US"/>
          </a:p>
        </p:txBody>
      </p:sp>
    </p:spTree>
    <p:extLst>
      <p:ext uri="{BB962C8B-B14F-4D97-AF65-F5344CB8AC3E}">
        <p14:creationId xmlns:p14="http://schemas.microsoft.com/office/powerpoint/2010/main" val="3197419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91113-7BDB-FA54-1B38-1DA056B97E42}"/>
              </a:ext>
            </a:extLst>
          </p:cNvPr>
          <p:cNvSpPr>
            <a:spLocks noGrp="1"/>
          </p:cNvSpPr>
          <p:nvPr>
            <p:ph type="title"/>
          </p:nvPr>
        </p:nvSpPr>
        <p:spPr/>
        <p:txBody>
          <a:bodyPr/>
          <a:lstStyle/>
          <a:p>
            <a:r>
              <a:rPr lang="en-US" b="1">
                <a:cs typeface="Arial"/>
              </a:rPr>
              <a:t>RESULTS</a:t>
            </a:r>
          </a:p>
        </p:txBody>
      </p:sp>
      <p:pic>
        <p:nvPicPr>
          <p:cNvPr id="4" name="Content Placeholder 3" descr="A screen shot of a chart&#10;&#10;AI-generated content may be incorrect.">
            <a:extLst>
              <a:ext uri="{FF2B5EF4-FFF2-40B4-BE49-F238E27FC236}">
                <a16:creationId xmlns:a16="http://schemas.microsoft.com/office/drawing/2014/main" id="{FD38B7E1-1C5C-FB66-D3C3-486BA742A23C}"/>
              </a:ext>
            </a:extLst>
          </p:cNvPr>
          <p:cNvPicPr>
            <a:picLocks noGrp="1" noChangeAspect="1"/>
          </p:cNvPicPr>
          <p:nvPr>
            <p:ph idx="1"/>
          </p:nvPr>
        </p:nvPicPr>
        <p:blipFill>
          <a:blip r:embed="rId2"/>
          <a:srcRect l="5000" t="8081" r="6897"/>
          <a:stretch>
            <a:fillRect/>
          </a:stretch>
        </p:blipFill>
        <p:spPr bwMode="auto">
          <a:xfrm>
            <a:off x="5887620" y="393247"/>
            <a:ext cx="5307799" cy="2735945"/>
          </a:xfrm>
          <a:prstGeom prst="rect">
            <a:avLst/>
          </a:prstGeom>
          <a:noFill/>
          <a:ln w="9525">
            <a:noFill/>
            <a:miter lim="800000"/>
            <a:headEnd/>
            <a:tailEnd/>
          </a:ln>
        </p:spPr>
      </p:pic>
      <p:sp>
        <p:nvSpPr>
          <p:cNvPr id="6" name="Rectangle: Rounded Corners 5">
            <a:extLst>
              <a:ext uri="{FF2B5EF4-FFF2-40B4-BE49-F238E27FC236}">
                <a16:creationId xmlns:a16="http://schemas.microsoft.com/office/drawing/2014/main" id="{4825AD3C-D96D-F1F2-173F-AB266EA7B6A1}"/>
              </a:ext>
            </a:extLst>
          </p:cNvPr>
          <p:cNvSpPr/>
          <p:nvPr/>
        </p:nvSpPr>
        <p:spPr>
          <a:xfrm>
            <a:off x="901877" y="1518999"/>
            <a:ext cx="3763487" cy="669771"/>
          </a:xfrm>
          <a:prstGeom prst="roundRect">
            <a:avLst/>
          </a:prstGeom>
          <a:solidFill>
            <a:schemeClr val="bg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solidFill>
                <a:srgbClr val="000000"/>
              </a:solidFill>
              <a:cs typeface="Arial"/>
            </a:endParaRPr>
          </a:p>
          <a:p>
            <a:endParaRPr lang="en-US">
              <a:solidFill>
                <a:srgbClr val="000000"/>
              </a:solidFill>
              <a:cs typeface="Arial"/>
            </a:endParaRPr>
          </a:p>
          <a:p>
            <a:pPr algn="ctr"/>
            <a:r>
              <a:rPr lang="en-US">
                <a:solidFill>
                  <a:schemeClr val="tx1"/>
                </a:solidFill>
                <a:cs typeface="Arial"/>
              </a:rPr>
              <a:t>t-SNE visualization of generated RIRs across unseen rooms</a:t>
            </a:r>
          </a:p>
          <a:p>
            <a:endParaRPr lang="en-US">
              <a:solidFill>
                <a:srgbClr val="000000"/>
              </a:solidFill>
              <a:cs typeface="Arial"/>
            </a:endParaRPr>
          </a:p>
          <a:p>
            <a:pPr algn="ctr"/>
            <a:endParaRPr lang="en-US">
              <a:cs typeface="Arial"/>
            </a:endParaRPr>
          </a:p>
        </p:txBody>
      </p:sp>
      <p:sp>
        <p:nvSpPr>
          <p:cNvPr id="8" name="Rectangle: Rounded Corners 7">
            <a:extLst>
              <a:ext uri="{FF2B5EF4-FFF2-40B4-BE49-F238E27FC236}">
                <a16:creationId xmlns:a16="http://schemas.microsoft.com/office/drawing/2014/main" id="{7BE94D1C-6022-A174-6A69-52B61091A3E7}"/>
              </a:ext>
            </a:extLst>
          </p:cNvPr>
          <p:cNvSpPr/>
          <p:nvPr/>
        </p:nvSpPr>
        <p:spPr>
          <a:xfrm>
            <a:off x="749234" y="3728421"/>
            <a:ext cx="3778611" cy="641230"/>
          </a:xfrm>
          <a:prstGeom prst="roundRect">
            <a:avLst/>
          </a:prstGeom>
          <a:solidFill>
            <a:schemeClr val="bg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ea typeface="+mn-lt"/>
                <a:cs typeface="+mn-lt"/>
              </a:rPr>
              <a:t>Performance on unseen </a:t>
            </a:r>
            <a:r>
              <a:rPr lang="en-US" err="1">
                <a:solidFill>
                  <a:schemeClr val="tx1"/>
                </a:solidFill>
                <a:ea typeface="+mn-lt"/>
                <a:cs typeface="+mn-lt"/>
              </a:rPr>
              <a:t>AcousticRooms</a:t>
            </a:r>
            <a:r>
              <a:rPr lang="en-US">
                <a:solidFill>
                  <a:schemeClr val="tx1"/>
                </a:solidFill>
                <a:ea typeface="+mn-lt"/>
                <a:cs typeface="+mn-lt"/>
              </a:rPr>
              <a:t> scenes</a:t>
            </a:r>
            <a:endParaRPr lang="en-US" err="1">
              <a:solidFill>
                <a:schemeClr val="tx1"/>
              </a:solidFill>
            </a:endParaRPr>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22A8B310-3F38-C5E7-185E-10B81A55F7CF}"/>
                  </a:ext>
                </a:extLst>
              </p14:cNvPr>
              <p14:cNvContentPartPr/>
              <p14:nvPr/>
            </p14:nvContentPartPr>
            <p14:xfrm flipV="1">
              <a:off x="5939084" y="5464091"/>
              <a:ext cx="221586" cy="17954"/>
            </p14:xfrm>
          </p:contentPart>
        </mc:Choice>
        <mc:Fallback xmlns="">
          <p:pic>
            <p:nvPicPr>
              <p:cNvPr id="9" name="Ink 8">
                <a:extLst>
                  <a:ext uri="{FF2B5EF4-FFF2-40B4-BE49-F238E27FC236}">
                    <a16:creationId xmlns:a16="http://schemas.microsoft.com/office/drawing/2014/main" id="{22A8B310-3F38-C5E7-185E-10B81A55F7CF}"/>
                  </a:ext>
                </a:extLst>
              </p:cNvPr>
              <p:cNvPicPr/>
              <p:nvPr/>
            </p:nvPicPr>
            <p:blipFill>
              <a:blip r:embed="rId4"/>
              <a:stretch>
                <a:fillRect/>
              </a:stretch>
            </p:blipFill>
            <p:spPr>
              <a:xfrm flipV="1">
                <a:off x="5921098" y="4566391"/>
                <a:ext cx="257198" cy="1795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182ABEDC-2A15-4E67-D9D0-71A96123B077}"/>
                  </a:ext>
                </a:extLst>
              </p14:cNvPr>
              <p14:cNvContentPartPr/>
              <p14:nvPr/>
            </p14:nvContentPartPr>
            <p14:xfrm flipH="1" flipV="1">
              <a:off x="5865378" y="5460631"/>
              <a:ext cx="230009" cy="17954"/>
            </p14:xfrm>
          </p:contentPart>
        </mc:Choice>
        <mc:Fallback xmlns="">
          <p:pic>
            <p:nvPicPr>
              <p:cNvPr id="10" name="Ink 9">
                <a:extLst>
                  <a:ext uri="{FF2B5EF4-FFF2-40B4-BE49-F238E27FC236}">
                    <a16:creationId xmlns:a16="http://schemas.microsoft.com/office/drawing/2014/main" id="{182ABEDC-2A15-4E67-D9D0-71A96123B077}"/>
                  </a:ext>
                </a:extLst>
              </p:cNvPr>
              <p:cNvPicPr/>
              <p:nvPr/>
            </p:nvPicPr>
            <p:blipFill>
              <a:blip r:embed="rId6"/>
              <a:stretch>
                <a:fillRect/>
              </a:stretch>
            </p:blipFill>
            <p:spPr>
              <a:xfrm flipH="1" flipV="1">
                <a:off x="5847380" y="4562931"/>
                <a:ext cx="265644" cy="1795400"/>
              </a:xfrm>
              <a:prstGeom prst="rect">
                <a:avLst/>
              </a:prstGeom>
            </p:spPr>
          </p:pic>
        </mc:Fallback>
      </mc:AlternateContent>
      <p:sp>
        <p:nvSpPr>
          <p:cNvPr id="3" name="TextBox 2">
            <a:extLst>
              <a:ext uri="{FF2B5EF4-FFF2-40B4-BE49-F238E27FC236}">
                <a16:creationId xmlns:a16="http://schemas.microsoft.com/office/drawing/2014/main" id="{03BB9BBE-8BD7-EB44-41B1-51967530E507}"/>
              </a:ext>
            </a:extLst>
          </p:cNvPr>
          <p:cNvSpPr txBox="1"/>
          <p:nvPr/>
        </p:nvSpPr>
        <p:spPr>
          <a:xfrm>
            <a:off x="751465" y="4437566"/>
            <a:ext cx="50517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FLAC with one reference RIR outperforms previous methods using eight reference RIRs</a:t>
            </a:r>
            <a:endParaRPr lang="en-US"/>
          </a:p>
        </p:txBody>
      </p:sp>
      <p:pic>
        <p:nvPicPr>
          <p:cNvPr id="5" name="Picture 4">
            <a:extLst>
              <a:ext uri="{FF2B5EF4-FFF2-40B4-BE49-F238E27FC236}">
                <a16:creationId xmlns:a16="http://schemas.microsoft.com/office/drawing/2014/main" id="{DCC3DBFD-76D1-265E-06D9-0695419E921D}"/>
              </a:ext>
            </a:extLst>
          </p:cNvPr>
          <p:cNvPicPr>
            <a:picLocks noChangeAspect="1"/>
          </p:cNvPicPr>
          <p:nvPr/>
        </p:nvPicPr>
        <p:blipFill>
          <a:blip r:embed="rId7"/>
          <a:stretch>
            <a:fillRect/>
          </a:stretch>
        </p:blipFill>
        <p:spPr>
          <a:xfrm>
            <a:off x="5667827" y="3431348"/>
            <a:ext cx="6524173" cy="2673190"/>
          </a:xfrm>
          <a:prstGeom prst="rect">
            <a:avLst/>
          </a:prstGeom>
        </p:spPr>
      </p:pic>
    </p:spTree>
    <p:extLst>
      <p:ext uri="{BB962C8B-B14F-4D97-AF65-F5344CB8AC3E}">
        <p14:creationId xmlns:p14="http://schemas.microsoft.com/office/powerpoint/2010/main" val="3046605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D981E-20F9-DA48-E6A6-3D6190E4F86C}"/>
              </a:ext>
            </a:extLst>
          </p:cNvPr>
          <p:cNvSpPr>
            <a:spLocks noGrp="1"/>
          </p:cNvSpPr>
          <p:nvPr>
            <p:ph type="title"/>
          </p:nvPr>
        </p:nvSpPr>
        <p:spPr/>
        <p:txBody>
          <a:bodyPr/>
          <a:lstStyle/>
          <a:p>
            <a:r>
              <a:rPr lang="en-US" b="1">
                <a:cs typeface="Arial"/>
              </a:rPr>
              <a:t>EVALUATION PIPELINE</a:t>
            </a:r>
          </a:p>
        </p:txBody>
      </p:sp>
      <p:sp>
        <p:nvSpPr>
          <p:cNvPr id="3" name="Content Placeholder 2">
            <a:extLst>
              <a:ext uri="{FF2B5EF4-FFF2-40B4-BE49-F238E27FC236}">
                <a16:creationId xmlns:a16="http://schemas.microsoft.com/office/drawing/2014/main" id="{D7FD0B31-6FA3-688D-B8E1-54F3B8890666}"/>
              </a:ext>
            </a:extLst>
          </p:cNvPr>
          <p:cNvSpPr>
            <a:spLocks noGrp="1"/>
          </p:cNvSpPr>
          <p:nvPr>
            <p:ph idx="1"/>
          </p:nvPr>
        </p:nvSpPr>
        <p:spPr>
          <a:xfrm>
            <a:off x="334434" y="1079500"/>
            <a:ext cx="11425767" cy="4883150"/>
          </a:xfrm>
          <a:solidFill>
            <a:schemeClr val="bg2"/>
          </a:solidFill>
          <a:ln w="28575"/>
        </p:spPr>
        <p:txBody>
          <a:bodyPr/>
          <a:lstStyle/>
          <a:p>
            <a:pPr marL="0" indent="0">
              <a:buNone/>
            </a:pPr>
            <a:endParaRPr lang="en-US">
              <a:cs typeface="Arial"/>
            </a:endParaRPr>
          </a:p>
        </p:txBody>
      </p:sp>
      <p:sp>
        <p:nvSpPr>
          <p:cNvPr id="9" name="Rectangle 8">
            <a:extLst>
              <a:ext uri="{FF2B5EF4-FFF2-40B4-BE49-F238E27FC236}">
                <a16:creationId xmlns:a16="http://schemas.microsoft.com/office/drawing/2014/main" id="{70C23541-C5BB-5352-2FB6-42D08CCB70F1}"/>
              </a:ext>
            </a:extLst>
          </p:cNvPr>
          <p:cNvSpPr/>
          <p:nvPr/>
        </p:nvSpPr>
        <p:spPr>
          <a:xfrm>
            <a:off x="3065873" y="2988769"/>
            <a:ext cx="1240971" cy="1161143"/>
          </a:xfrm>
          <a:prstGeom prst="rect">
            <a:avLst/>
          </a:prstGeom>
          <a:solidFill>
            <a:schemeClr val="bg2"/>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cs typeface="Arial"/>
              </a:rPr>
              <a:t>FLAC</a:t>
            </a:r>
            <a:endParaRPr lang="en-US" b="1">
              <a:solidFill>
                <a:schemeClr val="tx1"/>
              </a:solidFill>
            </a:endParaRPr>
          </a:p>
        </p:txBody>
      </p:sp>
      <p:sp>
        <p:nvSpPr>
          <p:cNvPr id="14" name="Rectangle 13">
            <a:extLst>
              <a:ext uri="{FF2B5EF4-FFF2-40B4-BE49-F238E27FC236}">
                <a16:creationId xmlns:a16="http://schemas.microsoft.com/office/drawing/2014/main" id="{3D74685A-5188-D950-8234-CBA37C9F9C36}"/>
              </a:ext>
            </a:extLst>
          </p:cNvPr>
          <p:cNvSpPr/>
          <p:nvPr/>
        </p:nvSpPr>
        <p:spPr>
          <a:xfrm>
            <a:off x="589417" y="2136699"/>
            <a:ext cx="1900689" cy="2882823"/>
          </a:xfrm>
          <a:prstGeom prst="rect">
            <a:avLst/>
          </a:prstGeom>
          <a:solidFill>
            <a:schemeClr val="accent1">
              <a:lumMod val="20000"/>
              <a:lumOff val="8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5BADA8-446D-AB6F-3581-E3F13FE093B6}"/>
              </a:ext>
            </a:extLst>
          </p:cNvPr>
          <p:cNvSpPr/>
          <p:nvPr/>
        </p:nvSpPr>
        <p:spPr>
          <a:xfrm>
            <a:off x="1041777" y="3079069"/>
            <a:ext cx="895123" cy="507774"/>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cs typeface="Arial"/>
              </a:rPr>
              <a:t>AR</a:t>
            </a:r>
            <a:r>
              <a:rPr lang="en-US">
                <a:solidFill>
                  <a:schemeClr val="tx1"/>
                </a:solidFill>
                <a:ea typeface="+mn-lt"/>
                <a:cs typeface="+mn-lt"/>
              </a:rPr>
              <a:t>🏠</a:t>
            </a:r>
            <a:endParaRPr lang="en-US" b="1" err="1">
              <a:solidFill>
                <a:schemeClr val="tx1"/>
              </a:solidFill>
            </a:endParaRPr>
          </a:p>
        </p:txBody>
      </p:sp>
      <p:sp>
        <p:nvSpPr>
          <p:cNvPr id="17" name="Rectangle 16">
            <a:extLst>
              <a:ext uri="{FF2B5EF4-FFF2-40B4-BE49-F238E27FC236}">
                <a16:creationId xmlns:a16="http://schemas.microsoft.com/office/drawing/2014/main" id="{C873BB95-6DAF-0A7B-740C-352D46BF8A4A}"/>
              </a:ext>
            </a:extLst>
          </p:cNvPr>
          <p:cNvSpPr/>
          <p:nvPr/>
        </p:nvSpPr>
        <p:spPr>
          <a:xfrm>
            <a:off x="1043896" y="4075188"/>
            <a:ext cx="911303" cy="512461"/>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cs typeface="Arial"/>
            </a:endParaRPr>
          </a:p>
          <a:p>
            <a:pPr algn="ctr"/>
            <a:r>
              <a:rPr lang="en-US" b="1">
                <a:solidFill>
                  <a:schemeClr val="tx1"/>
                </a:solidFill>
                <a:cs typeface="Arial"/>
              </a:rPr>
              <a:t>HAA</a:t>
            </a:r>
            <a:r>
              <a:rPr lang="en-US">
                <a:solidFill>
                  <a:schemeClr val="tx1"/>
                </a:solidFill>
                <a:cs typeface="Arial"/>
              </a:rPr>
              <a:t>🌍 </a:t>
            </a:r>
          </a:p>
          <a:p>
            <a:pPr algn="ctr"/>
            <a:endParaRPr lang="en-US" b="1">
              <a:solidFill>
                <a:schemeClr val="tx1"/>
              </a:solidFill>
              <a:cs typeface="Arial"/>
            </a:endParaRPr>
          </a:p>
        </p:txBody>
      </p:sp>
      <p:sp>
        <p:nvSpPr>
          <p:cNvPr id="18" name="Arrow: Right 17">
            <a:extLst>
              <a:ext uri="{FF2B5EF4-FFF2-40B4-BE49-F238E27FC236}">
                <a16:creationId xmlns:a16="http://schemas.microsoft.com/office/drawing/2014/main" id="{77483EAC-3CE7-8F70-E87F-AFECE207D32C}"/>
              </a:ext>
            </a:extLst>
          </p:cNvPr>
          <p:cNvSpPr/>
          <p:nvPr/>
        </p:nvSpPr>
        <p:spPr>
          <a:xfrm>
            <a:off x="2504924" y="3631519"/>
            <a:ext cx="539069" cy="74234"/>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CEE7027-65F2-BA10-E1F9-3FA0335C21FB}"/>
              </a:ext>
            </a:extLst>
          </p:cNvPr>
          <p:cNvSpPr/>
          <p:nvPr/>
        </p:nvSpPr>
        <p:spPr>
          <a:xfrm>
            <a:off x="921355" y="2259995"/>
            <a:ext cx="1232807" cy="372986"/>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cs typeface="Arial"/>
              </a:rPr>
              <a:t>Datasets</a:t>
            </a:r>
            <a:endParaRPr lang="en-US" b="1">
              <a:solidFill>
                <a:schemeClr val="tx1"/>
              </a:solidFill>
            </a:endParaRPr>
          </a:p>
        </p:txBody>
      </p:sp>
      <p:sp>
        <p:nvSpPr>
          <p:cNvPr id="20" name="Rectangle: Rounded Corners 19">
            <a:extLst>
              <a:ext uri="{FF2B5EF4-FFF2-40B4-BE49-F238E27FC236}">
                <a16:creationId xmlns:a16="http://schemas.microsoft.com/office/drawing/2014/main" id="{B9F33F4D-1A27-5D99-4D90-2D522499D2C3}"/>
              </a:ext>
            </a:extLst>
          </p:cNvPr>
          <p:cNvSpPr/>
          <p:nvPr/>
        </p:nvSpPr>
        <p:spPr>
          <a:xfrm>
            <a:off x="4836107" y="2128933"/>
            <a:ext cx="2894305" cy="2888342"/>
          </a:xfrm>
          <a:prstGeom prst="rect">
            <a:avLst/>
          </a:prstGeom>
          <a:solidFill>
            <a:schemeClr val="accent1">
              <a:lumMod val="20000"/>
              <a:lumOff val="8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4FF8B8-50F8-77F2-E1C5-2375107A44F6}"/>
              </a:ext>
            </a:extLst>
          </p:cNvPr>
          <p:cNvSpPr/>
          <p:nvPr/>
        </p:nvSpPr>
        <p:spPr>
          <a:xfrm>
            <a:off x="4948076" y="3085580"/>
            <a:ext cx="1144296" cy="74567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cs typeface="Arial"/>
              </a:rPr>
              <a:t>AcousticEncoder</a:t>
            </a:r>
            <a:endParaRPr lang="en-US" err="1"/>
          </a:p>
        </p:txBody>
      </p:sp>
      <p:sp>
        <p:nvSpPr>
          <p:cNvPr id="24" name="Rectangle 23">
            <a:extLst>
              <a:ext uri="{FF2B5EF4-FFF2-40B4-BE49-F238E27FC236}">
                <a16:creationId xmlns:a16="http://schemas.microsoft.com/office/drawing/2014/main" id="{EDA1C88F-B020-38AA-594E-EC36F827FB7A}"/>
              </a:ext>
            </a:extLst>
          </p:cNvPr>
          <p:cNvSpPr/>
          <p:nvPr/>
        </p:nvSpPr>
        <p:spPr>
          <a:xfrm>
            <a:off x="6276648" y="3056552"/>
            <a:ext cx="1283218" cy="775218"/>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solidFill>
                <a:cs typeface="Arial"/>
              </a:rPr>
              <a:t>GeometricEncoder</a:t>
            </a:r>
            <a:endParaRPr lang="en-US" err="1"/>
          </a:p>
        </p:txBody>
      </p:sp>
      <p:sp>
        <p:nvSpPr>
          <p:cNvPr id="25" name="Rectangle 24">
            <a:extLst>
              <a:ext uri="{FF2B5EF4-FFF2-40B4-BE49-F238E27FC236}">
                <a16:creationId xmlns:a16="http://schemas.microsoft.com/office/drawing/2014/main" id="{4B433CA2-99C9-BC73-A60D-73B9BC71BAE7}"/>
              </a:ext>
            </a:extLst>
          </p:cNvPr>
          <p:cNvSpPr/>
          <p:nvPr/>
        </p:nvSpPr>
        <p:spPr>
          <a:xfrm>
            <a:off x="5232659" y="4312816"/>
            <a:ext cx="2088762" cy="53651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cs typeface="Arial"/>
            </a:endParaRPr>
          </a:p>
          <a:p>
            <a:pPr algn="ctr"/>
            <a:r>
              <a:rPr lang="en-US">
                <a:solidFill>
                  <a:schemeClr val="tx1"/>
                </a:solidFill>
                <a:cs typeface="Arial"/>
              </a:rPr>
              <a:t>Embedding space</a:t>
            </a:r>
          </a:p>
          <a:p>
            <a:pPr algn="ctr"/>
            <a:endParaRPr lang="en-US">
              <a:cs typeface="Arial"/>
            </a:endParaRPr>
          </a:p>
        </p:txBody>
      </p:sp>
      <p:sp>
        <p:nvSpPr>
          <p:cNvPr id="26" name="Rectangle 25">
            <a:extLst>
              <a:ext uri="{FF2B5EF4-FFF2-40B4-BE49-F238E27FC236}">
                <a16:creationId xmlns:a16="http://schemas.microsoft.com/office/drawing/2014/main" id="{07877768-6C7E-11EF-4894-8EB5F5C5C744}"/>
              </a:ext>
            </a:extLst>
          </p:cNvPr>
          <p:cNvSpPr/>
          <p:nvPr/>
        </p:nvSpPr>
        <p:spPr>
          <a:xfrm>
            <a:off x="5467312" y="2256936"/>
            <a:ext cx="1617594" cy="407640"/>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cs typeface="Arial"/>
              </a:rPr>
              <a:t>AGREE</a:t>
            </a:r>
            <a:endParaRPr lang="en-US" b="1">
              <a:solidFill>
                <a:schemeClr val="tx1"/>
              </a:solidFill>
            </a:endParaRPr>
          </a:p>
        </p:txBody>
      </p:sp>
      <p:sp>
        <p:nvSpPr>
          <p:cNvPr id="27" name="Arrow: Right 26">
            <a:extLst>
              <a:ext uri="{FF2B5EF4-FFF2-40B4-BE49-F238E27FC236}">
                <a16:creationId xmlns:a16="http://schemas.microsoft.com/office/drawing/2014/main" id="{16F94603-37BD-379A-0D90-67C83FAC504A}"/>
              </a:ext>
            </a:extLst>
          </p:cNvPr>
          <p:cNvSpPr/>
          <p:nvPr/>
        </p:nvSpPr>
        <p:spPr>
          <a:xfrm>
            <a:off x="4322311" y="3616352"/>
            <a:ext cx="520714" cy="76810"/>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CF14FAA1-CD5D-260B-CDDE-A3B97D7D2AA1}"/>
              </a:ext>
            </a:extLst>
          </p:cNvPr>
          <p:cNvSpPr/>
          <p:nvPr/>
        </p:nvSpPr>
        <p:spPr>
          <a:xfrm>
            <a:off x="5531790" y="3843472"/>
            <a:ext cx="106494" cy="473362"/>
          </a:xfrm>
          <a:prstGeom prst="dow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5D27118-4869-9459-950C-0177B0D50840}"/>
              </a:ext>
            </a:extLst>
          </p:cNvPr>
          <p:cNvSpPr/>
          <p:nvPr/>
        </p:nvSpPr>
        <p:spPr>
          <a:xfrm>
            <a:off x="8334479" y="2127458"/>
            <a:ext cx="3246174" cy="2897484"/>
          </a:xfrm>
          <a:prstGeom prst="rect">
            <a:avLst/>
          </a:prstGeom>
          <a:solidFill>
            <a:schemeClr val="accent1">
              <a:lumMod val="20000"/>
              <a:lumOff val="80000"/>
            </a:schemeClr>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0CCE68A4-BD03-D599-4FBA-4C334EC3303D}"/>
              </a:ext>
            </a:extLst>
          </p:cNvPr>
          <p:cNvSpPr/>
          <p:nvPr/>
        </p:nvSpPr>
        <p:spPr>
          <a:xfrm>
            <a:off x="6822147" y="3857986"/>
            <a:ext cx="109163" cy="458848"/>
          </a:xfrm>
          <a:prstGeom prst="dow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DCFC0C1-1A99-398C-C23B-25628B44D796}"/>
              </a:ext>
            </a:extLst>
          </p:cNvPr>
          <p:cNvSpPr/>
          <p:nvPr/>
        </p:nvSpPr>
        <p:spPr>
          <a:xfrm>
            <a:off x="1478378" y="5382087"/>
            <a:ext cx="9550627" cy="580483"/>
          </a:xfrm>
          <a:prstGeom prst="roundRect">
            <a:avLst/>
          </a:prstGeom>
          <a:solidFill>
            <a:schemeClr val="bg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ea typeface="+mn-lt"/>
                <a:cs typeface="+mn-lt"/>
              </a:rPr>
              <a:t>FLAC generates RIRs → AGREE evaluates geometry consistency → Final performance</a:t>
            </a:r>
            <a:endParaRPr lang="en-US">
              <a:solidFill>
                <a:schemeClr val="bg2"/>
              </a:solidFill>
              <a:cs typeface="Arial"/>
            </a:endParaRPr>
          </a:p>
        </p:txBody>
      </p:sp>
      <p:sp>
        <p:nvSpPr>
          <p:cNvPr id="38" name="Rectangle 37">
            <a:extLst>
              <a:ext uri="{FF2B5EF4-FFF2-40B4-BE49-F238E27FC236}">
                <a16:creationId xmlns:a16="http://schemas.microsoft.com/office/drawing/2014/main" id="{2072F4A3-891F-E738-6D65-31216F9F1B4A}"/>
              </a:ext>
            </a:extLst>
          </p:cNvPr>
          <p:cNvSpPr/>
          <p:nvPr/>
        </p:nvSpPr>
        <p:spPr>
          <a:xfrm>
            <a:off x="8488205" y="3204098"/>
            <a:ext cx="2766296" cy="446522"/>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tx1"/>
              </a:solidFill>
              <a:cs typeface="Arial"/>
            </a:endParaRPr>
          </a:p>
          <a:p>
            <a:pPr algn="ctr"/>
            <a:r>
              <a:rPr lang="en-US">
                <a:solidFill>
                  <a:schemeClr val="tx1"/>
                </a:solidFill>
                <a:cs typeface="Arial"/>
              </a:rPr>
              <a:t>Perceptual Metrics</a:t>
            </a:r>
          </a:p>
          <a:p>
            <a:pPr algn="ctr"/>
            <a:endParaRPr lang="en-US">
              <a:cs typeface="Arial"/>
            </a:endParaRPr>
          </a:p>
        </p:txBody>
      </p:sp>
      <p:sp>
        <p:nvSpPr>
          <p:cNvPr id="39" name="Rectangle 38">
            <a:extLst>
              <a:ext uri="{FF2B5EF4-FFF2-40B4-BE49-F238E27FC236}">
                <a16:creationId xmlns:a16="http://schemas.microsoft.com/office/drawing/2014/main" id="{D724E760-D27F-E71A-AD70-4924C655BD70}"/>
              </a:ext>
            </a:extLst>
          </p:cNvPr>
          <p:cNvSpPr/>
          <p:nvPr/>
        </p:nvSpPr>
        <p:spPr>
          <a:xfrm>
            <a:off x="8495461" y="3842727"/>
            <a:ext cx="2766297" cy="482808"/>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tx1"/>
              </a:solidFill>
              <a:cs typeface="Arial"/>
            </a:endParaRPr>
          </a:p>
          <a:p>
            <a:pPr algn="ctr"/>
            <a:r>
              <a:rPr lang="en-US">
                <a:solidFill>
                  <a:schemeClr val="tx1"/>
                </a:solidFill>
                <a:cs typeface="Arial"/>
              </a:rPr>
              <a:t>Scene Consistency Metrics</a:t>
            </a:r>
          </a:p>
          <a:p>
            <a:pPr algn="ctr"/>
            <a:endParaRPr lang="en-US">
              <a:cs typeface="Arial"/>
            </a:endParaRPr>
          </a:p>
        </p:txBody>
      </p:sp>
      <p:sp>
        <p:nvSpPr>
          <p:cNvPr id="40" name="Rectangle 39">
            <a:extLst>
              <a:ext uri="{FF2B5EF4-FFF2-40B4-BE49-F238E27FC236}">
                <a16:creationId xmlns:a16="http://schemas.microsoft.com/office/drawing/2014/main" id="{0C93A281-E3A3-2131-51B6-1775DBA9A2C7}"/>
              </a:ext>
            </a:extLst>
          </p:cNvPr>
          <p:cNvSpPr/>
          <p:nvPr/>
        </p:nvSpPr>
        <p:spPr>
          <a:xfrm>
            <a:off x="8495462" y="4459585"/>
            <a:ext cx="2766293" cy="410237"/>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cs typeface="Arial"/>
              </a:rPr>
              <a:t>Robustness Analysis</a:t>
            </a:r>
            <a:endParaRPr lang="en-US"/>
          </a:p>
        </p:txBody>
      </p:sp>
      <p:sp>
        <p:nvSpPr>
          <p:cNvPr id="41" name="Rectangle 40">
            <a:extLst>
              <a:ext uri="{FF2B5EF4-FFF2-40B4-BE49-F238E27FC236}">
                <a16:creationId xmlns:a16="http://schemas.microsoft.com/office/drawing/2014/main" id="{41456814-C750-2ADC-8F42-36800871EA03}"/>
              </a:ext>
            </a:extLst>
          </p:cNvPr>
          <p:cNvSpPr/>
          <p:nvPr/>
        </p:nvSpPr>
        <p:spPr>
          <a:xfrm>
            <a:off x="8659306" y="2253970"/>
            <a:ext cx="2420534" cy="457688"/>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cs typeface="Arial"/>
              </a:rPr>
              <a:t>Evaluation Metrics</a:t>
            </a:r>
            <a:endParaRPr lang="en-US" b="1">
              <a:solidFill>
                <a:schemeClr val="tx1"/>
              </a:solidFill>
            </a:endParaRPr>
          </a:p>
        </p:txBody>
      </p:sp>
      <p:sp>
        <p:nvSpPr>
          <p:cNvPr id="42" name="Arrow: Right 41">
            <a:extLst>
              <a:ext uri="{FF2B5EF4-FFF2-40B4-BE49-F238E27FC236}">
                <a16:creationId xmlns:a16="http://schemas.microsoft.com/office/drawing/2014/main" id="{1BF32B05-B7DD-6334-4BB6-6EF7EEAF3E4B}"/>
              </a:ext>
            </a:extLst>
          </p:cNvPr>
          <p:cNvSpPr/>
          <p:nvPr/>
        </p:nvSpPr>
        <p:spPr>
          <a:xfrm>
            <a:off x="7734858" y="3631780"/>
            <a:ext cx="593410" cy="88830"/>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6790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8456-AC62-2B70-E779-B03C08F45E38}"/>
              </a:ext>
            </a:extLst>
          </p:cNvPr>
          <p:cNvSpPr>
            <a:spLocks noGrp="1"/>
          </p:cNvSpPr>
          <p:nvPr>
            <p:ph type="title"/>
          </p:nvPr>
        </p:nvSpPr>
        <p:spPr/>
        <p:txBody>
          <a:bodyPr/>
          <a:lstStyle/>
          <a:p>
            <a:r>
              <a:rPr lang="en-US" b="1">
                <a:cs typeface="Arial"/>
              </a:rPr>
              <a:t>HAA Datasets</a:t>
            </a:r>
          </a:p>
        </p:txBody>
      </p:sp>
      <p:pic>
        <p:nvPicPr>
          <p:cNvPr id="4" name="Content Placeholder 3" descr="A screenshot of a graph&#10;&#10;AI-generated content may be incorrect.">
            <a:extLst>
              <a:ext uri="{FF2B5EF4-FFF2-40B4-BE49-F238E27FC236}">
                <a16:creationId xmlns:a16="http://schemas.microsoft.com/office/drawing/2014/main" id="{AA955052-5193-DB88-C97D-5E5C0D289C09}"/>
              </a:ext>
            </a:extLst>
          </p:cNvPr>
          <p:cNvPicPr>
            <a:picLocks noGrp="1" noChangeAspect="1"/>
          </p:cNvPicPr>
          <p:nvPr>
            <p:ph idx="1"/>
          </p:nvPr>
        </p:nvPicPr>
        <p:blipFill>
          <a:blip r:embed="rId2"/>
          <a:stretch>
            <a:fillRect/>
          </a:stretch>
        </p:blipFill>
        <p:spPr bwMode="auto">
          <a:xfrm>
            <a:off x="5246959" y="240847"/>
            <a:ext cx="5991289" cy="5689599"/>
          </a:xfrm>
          <a:prstGeom prst="rect">
            <a:avLst/>
          </a:prstGeom>
          <a:noFill/>
          <a:ln w="9525">
            <a:noFill/>
            <a:miter lim="800000"/>
            <a:headEnd/>
            <a:tailEnd/>
          </a:ln>
        </p:spPr>
      </p:pic>
      <p:sp>
        <p:nvSpPr>
          <p:cNvPr id="6" name="TextBox 5">
            <a:extLst>
              <a:ext uri="{FF2B5EF4-FFF2-40B4-BE49-F238E27FC236}">
                <a16:creationId xmlns:a16="http://schemas.microsoft.com/office/drawing/2014/main" id="{0FB4AADF-501E-069D-D4AB-C633A988839C}"/>
              </a:ext>
            </a:extLst>
          </p:cNvPr>
          <p:cNvSpPr txBox="1"/>
          <p:nvPr/>
        </p:nvSpPr>
        <p:spPr>
          <a:xfrm>
            <a:off x="675056" y="1542986"/>
            <a:ext cx="424294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Qualitative comparison of predicted RIR waveforms on the  real world </a:t>
            </a:r>
            <a:r>
              <a:rPr lang="en-US" b="1">
                <a:latin typeface="Arial"/>
                <a:cs typeface="Arial"/>
              </a:rPr>
              <a:t>HAA dataset</a:t>
            </a:r>
            <a:endParaRPr lang="en-US" b="1">
              <a:latin typeface="Arial"/>
              <a:cs typeface="Arial" charset="0"/>
            </a:endParaRPr>
          </a:p>
          <a:p>
            <a:endParaRPr lang="en-US">
              <a:latin typeface="Arial"/>
              <a:cs typeface="Arial"/>
            </a:endParaRPr>
          </a:p>
          <a:p>
            <a:r>
              <a:rPr lang="en-US">
                <a:latin typeface="Arial"/>
                <a:cs typeface="Arial"/>
              </a:rPr>
              <a:t> We compare </a:t>
            </a:r>
            <a:r>
              <a:rPr lang="en-US" err="1">
                <a:latin typeface="Arial"/>
                <a:cs typeface="Arial"/>
              </a:rPr>
              <a:t>xRIR</a:t>
            </a:r>
            <a:r>
              <a:rPr lang="en-US">
                <a:latin typeface="Arial"/>
                <a:cs typeface="Arial"/>
              </a:rPr>
              <a:t> (orange), FLAC (red), and FLAC with K = 1(purple) against the ground truth (green).</a:t>
            </a:r>
            <a:endParaRPr lang="en-US"/>
          </a:p>
        </p:txBody>
      </p:sp>
    </p:spTree>
    <p:extLst>
      <p:ext uri="{BB962C8B-B14F-4D97-AF65-F5344CB8AC3E}">
        <p14:creationId xmlns:p14="http://schemas.microsoft.com/office/powerpoint/2010/main" val="3685683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9A9F7-E345-6D3F-D113-4BA50586624C}"/>
              </a:ext>
            </a:extLst>
          </p:cNvPr>
          <p:cNvSpPr>
            <a:spLocks noGrp="1"/>
          </p:cNvSpPr>
          <p:nvPr>
            <p:ph type="title"/>
          </p:nvPr>
        </p:nvSpPr>
        <p:spPr>
          <a:xfrm>
            <a:off x="334434" y="226786"/>
            <a:ext cx="4618567" cy="1157514"/>
          </a:xfrm>
        </p:spPr>
        <p:txBody>
          <a:bodyPr/>
          <a:lstStyle/>
          <a:p>
            <a:r>
              <a:rPr lang="en-US" b="1" err="1">
                <a:cs typeface="Arial"/>
              </a:rPr>
              <a:t>AcousticRoom</a:t>
            </a:r>
            <a:r>
              <a:rPr lang="en-US" b="1">
                <a:cs typeface="Arial"/>
              </a:rPr>
              <a:t> Dataset</a:t>
            </a:r>
          </a:p>
        </p:txBody>
      </p:sp>
      <p:sp>
        <p:nvSpPr>
          <p:cNvPr id="3" name="Content Placeholder 2">
            <a:extLst>
              <a:ext uri="{FF2B5EF4-FFF2-40B4-BE49-F238E27FC236}">
                <a16:creationId xmlns:a16="http://schemas.microsoft.com/office/drawing/2014/main" id="{1B32C56A-190B-153E-A118-86CB70790F4E}"/>
              </a:ext>
            </a:extLst>
          </p:cNvPr>
          <p:cNvSpPr>
            <a:spLocks noGrp="1"/>
          </p:cNvSpPr>
          <p:nvPr>
            <p:ph idx="1"/>
          </p:nvPr>
        </p:nvSpPr>
        <p:spPr>
          <a:xfrm>
            <a:off x="334434" y="1384301"/>
            <a:ext cx="4974168" cy="4556578"/>
          </a:xfrm>
        </p:spPr>
        <p:txBody>
          <a:bodyPr/>
          <a:lstStyle/>
          <a:p>
            <a:pPr marL="0" indent="0">
              <a:buNone/>
            </a:pPr>
            <a:r>
              <a:rPr lang="en-US" sz="1800">
                <a:ea typeface="+mn-lt"/>
                <a:cs typeface="+mn-lt"/>
              </a:rPr>
              <a:t>Qualitative comparison of predicted RIR waveforms on the </a:t>
            </a:r>
            <a:r>
              <a:rPr lang="en-US" sz="1800" b="1">
                <a:ea typeface="+mn-lt"/>
                <a:cs typeface="+mn-lt"/>
              </a:rPr>
              <a:t>unseen </a:t>
            </a:r>
            <a:r>
              <a:rPr lang="en-US" sz="1800">
                <a:ea typeface="+mn-lt"/>
                <a:cs typeface="+mn-lt"/>
              </a:rPr>
              <a:t>set of the </a:t>
            </a:r>
            <a:r>
              <a:rPr lang="en-US" sz="1800" b="1" err="1">
                <a:ea typeface="+mn-lt"/>
                <a:cs typeface="+mn-lt"/>
              </a:rPr>
              <a:t>AcousticRooms</a:t>
            </a:r>
            <a:r>
              <a:rPr lang="en-US" sz="1800" b="1">
                <a:ea typeface="+mn-lt"/>
                <a:cs typeface="+mn-lt"/>
              </a:rPr>
              <a:t> dataset</a:t>
            </a:r>
            <a:r>
              <a:rPr lang="en-US" sz="1800">
                <a:ea typeface="+mn-lt"/>
                <a:cs typeface="+mn-lt"/>
              </a:rPr>
              <a:t>:</a:t>
            </a:r>
            <a:endParaRPr lang="en-US" sz="1800">
              <a:cs typeface="Arial"/>
            </a:endParaRPr>
          </a:p>
          <a:p>
            <a:pPr marL="0" indent="0">
              <a:buNone/>
            </a:pPr>
            <a:endParaRPr lang="en-US" sz="1800">
              <a:ea typeface="+mn-lt"/>
              <a:cs typeface="+mn-lt"/>
            </a:endParaRPr>
          </a:p>
          <a:p>
            <a:pPr marL="0" indent="0">
              <a:buNone/>
            </a:pPr>
            <a:r>
              <a:rPr lang="en-US" sz="1800">
                <a:ea typeface="+mn-lt"/>
                <a:cs typeface="+mn-lt"/>
              </a:rPr>
              <a:t> We compare </a:t>
            </a:r>
            <a:r>
              <a:rPr lang="en-US" sz="1800" err="1">
                <a:ea typeface="+mn-lt"/>
                <a:cs typeface="+mn-lt"/>
              </a:rPr>
              <a:t>xRIR</a:t>
            </a:r>
            <a:r>
              <a:rPr lang="en-US" sz="1800">
                <a:ea typeface="+mn-lt"/>
                <a:cs typeface="+mn-lt"/>
              </a:rPr>
              <a:t> (orange), FLAC (red), and FLAC with K = 1 (purple) against the ground truth (green).</a:t>
            </a:r>
            <a:endParaRPr lang="en-US" sz="1800">
              <a:cs typeface="Arial"/>
            </a:endParaRPr>
          </a:p>
        </p:txBody>
      </p:sp>
      <p:pic>
        <p:nvPicPr>
          <p:cNvPr id="4" name="Picture 3" descr="A group of graphs showing different types of data&#10;&#10;AI-generated content may be incorrect.">
            <a:extLst>
              <a:ext uri="{FF2B5EF4-FFF2-40B4-BE49-F238E27FC236}">
                <a16:creationId xmlns:a16="http://schemas.microsoft.com/office/drawing/2014/main" id="{8E9B72A7-0DCC-6291-7978-F8AEFEE61422}"/>
              </a:ext>
            </a:extLst>
          </p:cNvPr>
          <p:cNvPicPr>
            <a:picLocks noChangeAspect="1"/>
          </p:cNvPicPr>
          <p:nvPr/>
        </p:nvPicPr>
        <p:blipFill>
          <a:blip r:embed="rId2"/>
          <a:stretch>
            <a:fillRect/>
          </a:stretch>
        </p:blipFill>
        <p:spPr>
          <a:xfrm>
            <a:off x="5137142" y="224970"/>
            <a:ext cx="5364858" cy="5921830"/>
          </a:xfrm>
          <a:prstGeom prst="rect">
            <a:avLst/>
          </a:prstGeom>
        </p:spPr>
      </p:pic>
    </p:spTree>
    <p:extLst>
      <p:ext uri="{BB962C8B-B14F-4D97-AF65-F5344CB8AC3E}">
        <p14:creationId xmlns:p14="http://schemas.microsoft.com/office/powerpoint/2010/main" val="2827848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5EB54-9002-E506-8DD9-DBD31F9AAC04}"/>
              </a:ext>
            </a:extLst>
          </p:cNvPr>
          <p:cNvSpPr>
            <a:spLocks noGrp="1"/>
          </p:cNvSpPr>
          <p:nvPr>
            <p:ph type="title"/>
          </p:nvPr>
        </p:nvSpPr>
        <p:spPr>
          <a:xfrm>
            <a:off x="639234" y="342899"/>
            <a:ext cx="7347253" cy="794658"/>
          </a:xfrm>
        </p:spPr>
        <p:txBody>
          <a:bodyPr/>
          <a:lstStyle/>
          <a:p>
            <a:r>
              <a:rPr lang="en-US" b="1">
                <a:solidFill>
                  <a:schemeClr val="accent1"/>
                </a:solidFill>
                <a:cs typeface="Arial"/>
              </a:rPr>
              <a:t>Results Comparison</a:t>
            </a:r>
            <a:endParaRPr lang="en-US">
              <a:solidFill>
                <a:schemeClr val="accent1"/>
              </a:solidFill>
            </a:endParaRPr>
          </a:p>
        </p:txBody>
      </p:sp>
      <p:sp>
        <p:nvSpPr>
          <p:cNvPr id="3" name="Content Placeholder 2">
            <a:extLst>
              <a:ext uri="{FF2B5EF4-FFF2-40B4-BE49-F238E27FC236}">
                <a16:creationId xmlns:a16="http://schemas.microsoft.com/office/drawing/2014/main" id="{628D5CB2-C28E-3D66-8BCB-0335EB88346F}"/>
              </a:ext>
            </a:extLst>
          </p:cNvPr>
          <p:cNvSpPr>
            <a:spLocks noGrp="1"/>
          </p:cNvSpPr>
          <p:nvPr>
            <p:ph idx="1"/>
          </p:nvPr>
        </p:nvSpPr>
        <p:spPr>
          <a:xfrm>
            <a:off x="523120" y="1159329"/>
            <a:ext cx="11425767" cy="4527550"/>
          </a:xfrm>
        </p:spPr>
        <p:txBody>
          <a:bodyPr/>
          <a:lstStyle/>
          <a:p>
            <a:pPr marL="445770" lvl="1" indent="-266700">
              <a:buNone/>
            </a:pPr>
            <a:endParaRPr lang="de-DE">
              <a:solidFill>
                <a:srgbClr val="000000"/>
              </a:solidFill>
              <a:cs typeface="Arial"/>
            </a:endParaRPr>
          </a:p>
          <a:p>
            <a:pPr marL="446088" lvl="1" indent="-266700">
              <a:buNone/>
            </a:pPr>
            <a:endParaRPr lang="de-DE"/>
          </a:p>
          <a:p>
            <a:endParaRPr lang="en-DE"/>
          </a:p>
        </p:txBody>
      </p:sp>
      <p:sp>
        <p:nvSpPr>
          <p:cNvPr id="7" name="Rectangle 6">
            <a:extLst>
              <a:ext uri="{FF2B5EF4-FFF2-40B4-BE49-F238E27FC236}">
                <a16:creationId xmlns:a16="http://schemas.microsoft.com/office/drawing/2014/main" id="{56127974-70A0-41DB-6BF8-BA90A6EF410A}"/>
              </a:ext>
            </a:extLst>
          </p:cNvPr>
          <p:cNvSpPr/>
          <p:nvPr/>
        </p:nvSpPr>
        <p:spPr>
          <a:xfrm>
            <a:off x="828766" y="1371600"/>
            <a:ext cx="1920240" cy="685800"/>
          </a:xfrm>
          <a:prstGeom prst="rect">
            <a:avLst/>
          </a:prstGeom>
          <a:solidFill>
            <a:schemeClr val="tx2"/>
          </a:solidFill>
          <a:ln>
            <a:solidFill>
              <a:schemeClr val="bg2"/>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500" b="1">
                <a:solidFill>
                  <a:schemeClr val="tx1"/>
                </a:solidFill>
                <a:latin typeface="Arial"/>
              </a:rPr>
              <a:t>CRITERION</a:t>
            </a:r>
            <a:endParaRPr sz="1500" b="1">
              <a:solidFill>
                <a:schemeClr val="tx1"/>
              </a:solidFill>
              <a:latin typeface="Arial"/>
            </a:endParaRPr>
          </a:p>
        </p:txBody>
      </p:sp>
      <p:sp>
        <p:nvSpPr>
          <p:cNvPr id="8" name="Rectangle 7">
            <a:extLst>
              <a:ext uri="{FF2B5EF4-FFF2-40B4-BE49-F238E27FC236}">
                <a16:creationId xmlns:a16="http://schemas.microsoft.com/office/drawing/2014/main" id="{8ECACA92-9E5A-CF31-9CFE-5F4163FC3484}"/>
              </a:ext>
            </a:extLst>
          </p:cNvPr>
          <p:cNvSpPr/>
          <p:nvPr/>
        </p:nvSpPr>
        <p:spPr>
          <a:xfrm>
            <a:off x="2756263" y="1371600"/>
            <a:ext cx="3749039" cy="685800"/>
          </a:xfrm>
          <a:prstGeom prst="rect">
            <a:avLst/>
          </a:prstGeom>
          <a:solidFill>
            <a:schemeClr val="tx2"/>
          </a:solidFill>
          <a:ln>
            <a:solidFill>
              <a:schemeClr val="bg2"/>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500" b="1">
                <a:solidFill>
                  <a:schemeClr val="tx1"/>
                </a:solidFill>
                <a:latin typeface="Arial"/>
              </a:rPr>
              <a:t>PRIOR APPROACHES</a:t>
            </a:r>
            <a:endParaRPr sz="1500" b="1">
              <a:solidFill>
                <a:schemeClr val="tx1"/>
              </a:solidFill>
              <a:latin typeface="Arial"/>
            </a:endParaRPr>
          </a:p>
        </p:txBody>
      </p:sp>
      <p:sp>
        <p:nvSpPr>
          <p:cNvPr id="9" name="Rectangle 8">
            <a:extLst>
              <a:ext uri="{FF2B5EF4-FFF2-40B4-BE49-F238E27FC236}">
                <a16:creationId xmlns:a16="http://schemas.microsoft.com/office/drawing/2014/main" id="{76905104-1CE6-6E8C-E1DF-EF10E86C9906}"/>
              </a:ext>
            </a:extLst>
          </p:cNvPr>
          <p:cNvSpPr/>
          <p:nvPr/>
        </p:nvSpPr>
        <p:spPr>
          <a:xfrm>
            <a:off x="6490788" y="1371600"/>
            <a:ext cx="3840480" cy="685800"/>
          </a:xfrm>
          <a:prstGeom prst="rect">
            <a:avLst/>
          </a:prstGeom>
          <a:solidFill>
            <a:schemeClr val="tx2"/>
          </a:solidFill>
          <a:ln>
            <a:solidFill>
              <a:schemeClr val="bg2"/>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500" b="1">
                <a:solidFill>
                  <a:schemeClr val="tx1"/>
                </a:solidFill>
                <a:latin typeface="Arial"/>
              </a:rPr>
              <a:t>FLAC</a:t>
            </a:r>
          </a:p>
        </p:txBody>
      </p:sp>
      <p:sp>
        <p:nvSpPr>
          <p:cNvPr id="10" name="Rectangle 9">
            <a:extLst>
              <a:ext uri="{FF2B5EF4-FFF2-40B4-BE49-F238E27FC236}">
                <a16:creationId xmlns:a16="http://schemas.microsoft.com/office/drawing/2014/main" id="{1F3CAE3F-6F63-08DB-D96B-CF53955B390D}"/>
              </a:ext>
            </a:extLst>
          </p:cNvPr>
          <p:cNvSpPr/>
          <p:nvPr/>
        </p:nvSpPr>
        <p:spPr>
          <a:xfrm>
            <a:off x="828766" y="2246086"/>
            <a:ext cx="1920240" cy="685800"/>
          </a:xfrm>
          <a:prstGeom prst="rect">
            <a:avLst/>
          </a:prstGeom>
          <a:solidFill>
            <a:srgbClr val="FFFFFF"/>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400">
                <a:solidFill>
                  <a:srgbClr val="191919"/>
                </a:solidFill>
                <a:latin typeface="Arial"/>
              </a:rPr>
              <a:t>Data efficiency</a:t>
            </a:r>
            <a:endParaRPr lang="en-US" sz="1400">
              <a:solidFill>
                <a:srgbClr val="191919"/>
              </a:solidFill>
              <a:latin typeface="Arial"/>
              <a:cs typeface="Arial"/>
            </a:endParaRPr>
          </a:p>
        </p:txBody>
      </p:sp>
      <p:sp>
        <p:nvSpPr>
          <p:cNvPr id="11" name="Rectangle 10">
            <a:extLst>
              <a:ext uri="{FF2B5EF4-FFF2-40B4-BE49-F238E27FC236}">
                <a16:creationId xmlns:a16="http://schemas.microsoft.com/office/drawing/2014/main" id="{856DEA3A-1581-785D-AEA8-0AFC8F97FFF5}"/>
              </a:ext>
            </a:extLst>
          </p:cNvPr>
          <p:cNvSpPr/>
          <p:nvPr/>
        </p:nvSpPr>
        <p:spPr>
          <a:xfrm>
            <a:off x="2749006" y="2238829"/>
            <a:ext cx="3749039" cy="685800"/>
          </a:xfrm>
          <a:prstGeom prst="rect">
            <a:avLst/>
          </a:prstGeom>
          <a:solidFill>
            <a:srgbClr val="FFFFFF"/>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400">
                <a:solidFill>
                  <a:srgbClr val="191919"/>
                </a:solidFill>
                <a:latin typeface="Arial"/>
              </a:rPr>
              <a:t>Often need dense recordings or several shots</a:t>
            </a:r>
          </a:p>
        </p:txBody>
      </p:sp>
      <p:sp>
        <p:nvSpPr>
          <p:cNvPr id="12" name="Rectangle 11">
            <a:extLst>
              <a:ext uri="{FF2B5EF4-FFF2-40B4-BE49-F238E27FC236}">
                <a16:creationId xmlns:a16="http://schemas.microsoft.com/office/drawing/2014/main" id="{14FE9CDF-D9EC-96A6-ACFB-96449FD3152F}"/>
              </a:ext>
            </a:extLst>
          </p:cNvPr>
          <p:cNvSpPr/>
          <p:nvPr/>
        </p:nvSpPr>
        <p:spPr>
          <a:xfrm>
            <a:off x="6490788" y="2238829"/>
            <a:ext cx="3840480" cy="685800"/>
          </a:xfrm>
          <a:prstGeom prst="rect">
            <a:avLst/>
          </a:prstGeom>
          <a:solidFill>
            <a:srgbClr val="FFFFFF"/>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400">
                <a:solidFill>
                  <a:srgbClr val="191919"/>
                </a:solidFill>
                <a:latin typeface="Arial"/>
              </a:rPr>
              <a:t>Strong few-shot performance;</a:t>
            </a:r>
            <a:r>
              <a:rPr lang="en-US" sz="1400">
                <a:solidFill>
                  <a:srgbClr val="191919"/>
                </a:solidFill>
                <a:latin typeface="Arial"/>
              </a:rPr>
              <a:t> remains</a:t>
            </a:r>
            <a:r>
              <a:rPr sz="1400">
                <a:solidFill>
                  <a:srgbClr val="191919"/>
                </a:solidFill>
                <a:latin typeface="Arial"/>
              </a:rPr>
              <a:t> effective with sparse references</a:t>
            </a:r>
          </a:p>
        </p:txBody>
      </p:sp>
      <p:sp>
        <p:nvSpPr>
          <p:cNvPr id="13" name="Rectangle 12">
            <a:extLst>
              <a:ext uri="{FF2B5EF4-FFF2-40B4-BE49-F238E27FC236}">
                <a16:creationId xmlns:a16="http://schemas.microsoft.com/office/drawing/2014/main" id="{4F7B7191-5294-7529-3A71-51FD9D317D9E}"/>
              </a:ext>
            </a:extLst>
          </p:cNvPr>
          <p:cNvSpPr/>
          <p:nvPr/>
        </p:nvSpPr>
        <p:spPr>
          <a:xfrm>
            <a:off x="828766" y="2924629"/>
            <a:ext cx="1920240" cy="685800"/>
          </a:xfrm>
          <a:prstGeom prst="rect">
            <a:avLst/>
          </a:prstGeom>
          <a:solidFill>
            <a:srgbClr val="F7F7F7"/>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Uncertainty modeling</a:t>
            </a:r>
          </a:p>
        </p:txBody>
      </p:sp>
      <p:sp>
        <p:nvSpPr>
          <p:cNvPr id="14" name="Rectangle 13">
            <a:extLst>
              <a:ext uri="{FF2B5EF4-FFF2-40B4-BE49-F238E27FC236}">
                <a16:creationId xmlns:a16="http://schemas.microsoft.com/office/drawing/2014/main" id="{02D82524-B6EB-F622-C72E-18BFE8213BFB}"/>
              </a:ext>
            </a:extLst>
          </p:cNvPr>
          <p:cNvSpPr/>
          <p:nvPr/>
        </p:nvSpPr>
        <p:spPr>
          <a:xfrm>
            <a:off x="2749006" y="2924629"/>
            <a:ext cx="3749039" cy="685800"/>
          </a:xfrm>
          <a:prstGeom prst="rect">
            <a:avLst/>
          </a:prstGeom>
          <a:solidFill>
            <a:srgbClr val="F7F7F7"/>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Typically produce one deterministic output</a:t>
            </a:r>
          </a:p>
        </p:txBody>
      </p:sp>
      <p:sp>
        <p:nvSpPr>
          <p:cNvPr id="15" name="Rectangle 14">
            <a:extLst>
              <a:ext uri="{FF2B5EF4-FFF2-40B4-BE49-F238E27FC236}">
                <a16:creationId xmlns:a16="http://schemas.microsoft.com/office/drawing/2014/main" id="{F129B095-331D-0CAC-022F-4903A465D232}"/>
              </a:ext>
            </a:extLst>
          </p:cNvPr>
          <p:cNvSpPr/>
          <p:nvPr/>
        </p:nvSpPr>
        <p:spPr>
          <a:xfrm>
            <a:off x="6498045" y="2924629"/>
            <a:ext cx="3840480" cy="685800"/>
          </a:xfrm>
          <a:prstGeom prst="rect">
            <a:avLst/>
          </a:prstGeom>
          <a:solidFill>
            <a:srgbClr val="F7F7F7"/>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400">
                <a:solidFill>
                  <a:srgbClr val="191919"/>
                </a:solidFill>
                <a:latin typeface="Arial"/>
              </a:rPr>
              <a:t>Probabilistic generation of multiple plausible RIRs</a:t>
            </a:r>
          </a:p>
        </p:txBody>
      </p:sp>
      <p:sp>
        <p:nvSpPr>
          <p:cNvPr id="16" name="Rectangle 15">
            <a:extLst>
              <a:ext uri="{FF2B5EF4-FFF2-40B4-BE49-F238E27FC236}">
                <a16:creationId xmlns:a16="http://schemas.microsoft.com/office/drawing/2014/main" id="{D1CCD643-DD5E-8758-0481-CC917A87794E}"/>
              </a:ext>
            </a:extLst>
          </p:cNvPr>
          <p:cNvSpPr/>
          <p:nvPr/>
        </p:nvSpPr>
        <p:spPr>
          <a:xfrm>
            <a:off x="828766" y="3610429"/>
            <a:ext cx="1920240" cy="685800"/>
          </a:xfrm>
          <a:prstGeom prst="rect">
            <a:avLst/>
          </a:prstGeom>
          <a:solidFill>
            <a:srgbClr val="FFFFFF"/>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Generalization to unseen rooms</a:t>
            </a:r>
          </a:p>
        </p:txBody>
      </p:sp>
      <p:sp>
        <p:nvSpPr>
          <p:cNvPr id="17" name="Rectangle 16">
            <a:extLst>
              <a:ext uri="{FF2B5EF4-FFF2-40B4-BE49-F238E27FC236}">
                <a16:creationId xmlns:a16="http://schemas.microsoft.com/office/drawing/2014/main" id="{733D0118-8675-80C1-BD07-12B3043C115A}"/>
              </a:ext>
            </a:extLst>
          </p:cNvPr>
          <p:cNvSpPr/>
          <p:nvPr/>
        </p:nvSpPr>
        <p:spPr>
          <a:xfrm>
            <a:off x="2749006" y="3610429"/>
            <a:ext cx="3749039" cy="685800"/>
          </a:xfrm>
          <a:prstGeom prst="rect">
            <a:avLst/>
          </a:prstGeom>
          <a:solidFill>
            <a:srgbClr val="FFFFFF"/>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Often weaker or needs retraining</a:t>
            </a:r>
          </a:p>
        </p:txBody>
      </p:sp>
      <p:sp>
        <p:nvSpPr>
          <p:cNvPr id="18" name="Rectangle 17">
            <a:extLst>
              <a:ext uri="{FF2B5EF4-FFF2-40B4-BE49-F238E27FC236}">
                <a16:creationId xmlns:a16="http://schemas.microsoft.com/office/drawing/2014/main" id="{D3E39C83-F5C2-A217-9653-410C21C3DA9B}"/>
              </a:ext>
            </a:extLst>
          </p:cNvPr>
          <p:cNvSpPr/>
          <p:nvPr/>
        </p:nvSpPr>
        <p:spPr>
          <a:xfrm>
            <a:off x="6498045" y="3610429"/>
            <a:ext cx="3840480" cy="685800"/>
          </a:xfrm>
          <a:prstGeom prst="rect">
            <a:avLst/>
          </a:prstGeom>
          <a:solidFill>
            <a:srgbClr val="FFFFFF"/>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Designed to synthesize acoustics in unseen environments</a:t>
            </a:r>
          </a:p>
        </p:txBody>
      </p:sp>
      <p:sp>
        <p:nvSpPr>
          <p:cNvPr id="19" name="Rectangle 18">
            <a:extLst>
              <a:ext uri="{FF2B5EF4-FFF2-40B4-BE49-F238E27FC236}">
                <a16:creationId xmlns:a16="http://schemas.microsoft.com/office/drawing/2014/main" id="{FC12CC3B-3C9E-0115-3745-6DF6BA646290}"/>
              </a:ext>
            </a:extLst>
          </p:cNvPr>
          <p:cNvSpPr/>
          <p:nvPr/>
        </p:nvSpPr>
        <p:spPr>
          <a:xfrm>
            <a:off x="828766" y="4296229"/>
            <a:ext cx="1920240" cy="685800"/>
          </a:xfrm>
          <a:prstGeom prst="rect">
            <a:avLst/>
          </a:prstGeom>
          <a:solidFill>
            <a:srgbClr val="F7F7F7"/>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Geometry consistency</a:t>
            </a:r>
          </a:p>
        </p:txBody>
      </p:sp>
      <p:sp>
        <p:nvSpPr>
          <p:cNvPr id="20" name="Rectangle 19">
            <a:extLst>
              <a:ext uri="{FF2B5EF4-FFF2-40B4-BE49-F238E27FC236}">
                <a16:creationId xmlns:a16="http://schemas.microsoft.com/office/drawing/2014/main" id="{07ACDE6F-72AF-F7F8-8552-2A48A7D4DE2D}"/>
              </a:ext>
            </a:extLst>
          </p:cNvPr>
          <p:cNvSpPr/>
          <p:nvPr/>
        </p:nvSpPr>
        <p:spPr>
          <a:xfrm>
            <a:off x="2749006" y="4296229"/>
            <a:ext cx="3749039" cy="685800"/>
          </a:xfrm>
          <a:prstGeom prst="rect">
            <a:avLst/>
          </a:prstGeom>
          <a:solidFill>
            <a:srgbClr val="F7F7F7"/>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Not always explicitly enforced</a:t>
            </a:r>
          </a:p>
        </p:txBody>
      </p:sp>
      <p:sp>
        <p:nvSpPr>
          <p:cNvPr id="21" name="Rectangle 20">
            <a:extLst>
              <a:ext uri="{FF2B5EF4-FFF2-40B4-BE49-F238E27FC236}">
                <a16:creationId xmlns:a16="http://schemas.microsoft.com/office/drawing/2014/main" id="{187EC345-6873-B534-91E5-914781D297DD}"/>
              </a:ext>
            </a:extLst>
          </p:cNvPr>
          <p:cNvSpPr/>
          <p:nvPr/>
        </p:nvSpPr>
        <p:spPr>
          <a:xfrm>
            <a:off x="6498045" y="4296229"/>
            <a:ext cx="3840480" cy="685800"/>
          </a:xfrm>
          <a:prstGeom prst="rect">
            <a:avLst/>
          </a:prstGeom>
          <a:solidFill>
            <a:srgbClr val="F7F7F7"/>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400">
                <a:solidFill>
                  <a:srgbClr val="191919"/>
                </a:solidFill>
                <a:latin typeface="Arial"/>
              </a:rPr>
              <a:t>AGREE provides geometry-aware consistency evaluation</a:t>
            </a:r>
          </a:p>
        </p:txBody>
      </p:sp>
      <p:sp>
        <p:nvSpPr>
          <p:cNvPr id="22" name="Rectangle 21">
            <a:extLst>
              <a:ext uri="{FF2B5EF4-FFF2-40B4-BE49-F238E27FC236}">
                <a16:creationId xmlns:a16="http://schemas.microsoft.com/office/drawing/2014/main" id="{FE4DCA72-3BAD-3D36-90BB-21D73B314C16}"/>
              </a:ext>
            </a:extLst>
          </p:cNvPr>
          <p:cNvSpPr/>
          <p:nvPr/>
        </p:nvSpPr>
        <p:spPr>
          <a:xfrm>
            <a:off x="828766" y="4982029"/>
            <a:ext cx="1920240" cy="685800"/>
          </a:xfrm>
          <a:prstGeom prst="rect">
            <a:avLst/>
          </a:prstGeom>
          <a:solidFill>
            <a:srgbClr val="FFFFFF"/>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Overall takeaway</a:t>
            </a:r>
          </a:p>
        </p:txBody>
      </p:sp>
      <p:sp>
        <p:nvSpPr>
          <p:cNvPr id="23" name="Rectangle 22">
            <a:extLst>
              <a:ext uri="{FF2B5EF4-FFF2-40B4-BE49-F238E27FC236}">
                <a16:creationId xmlns:a16="http://schemas.microsoft.com/office/drawing/2014/main" id="{B1A4F005-3C08-B2C4-D9F1-A05AE79C264A}"/>
              </a:ext>
            </a:extLst>
          </p:cNvPr>
          <p:cNvSpPr/>
          <p:nvPr/>
        </p:nvSpPr>
        <p:spPr>
          <a:xfrm>
            <a:off x="2749006" y="4982029"/>
            <a:ext cx="3749039" cy="685800"/>
          </a:xfrm>
          <a:prstGeom prst="rect">
            <a:avLst/>
          </a:prstGeom>
          <a:solidFill>
            <a:srgbClr val="FFFFFF"/>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Useful but limited under sparse ambiguous settings</a:t>
            </a:r>
          </a:p>
        </p:txBody>
      </p:sp>
      <p:sp>
        <p:nvSpPr>
          <p:cNvPr id="24" name="Rectangle 23">
            <a:extLst>
              <a:ext uri="{FF2B5EF4-FFF2-40B4-BE49-F238E27FC236}">
                <a16:creationId xmlns:a16="http://schemas.microsoft.com/office/drawing/2014/main" id="{04761B97-78BA-54CE-C63E-2A461980F23A}"/>
              </a:ext>
            </a:extLst>
          </p:cNvPr>
          <p:cNvSpPr/>
          <p:nvPr/>
        </p:nvSpPr>
        <p:spPr>
          <a:xfrm>
            <a:off x="6498045" y="4982029"/>
            <a:ext cx="3840480" cy="685800"/>
          </a:xfrm>
          <a:prstGeom prst="rect">
            <a:avLst/>
          </a:prstGeom>
          <a:solidFill>
            <a:srgbClr val="FFFFFF"/>
          </a:solidFill>
          <a:ln>
            <a:solidFill>
              <a:srgbClr val="707070"/>
            </a:solid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sz="1300">
                <a:solidFill>
                  <a:srgbClr val="191919"/>
                </a:solidFill>
                <a:latin typeface="Arial"/>
              </a:rPr>
              <a:t>Better aligned with the real sparse-observation problem</a:t>
            </a:r>
          </a:p>
        </p:txBody>
      </p:sp>
    </p:spTree>
    <p:extLst>
      <p:ext uri="{BB962C8B-B14F-4D97-AF65-F5344CB8AC3E}">
        <p14:creationId xmlns:p14="http://schemas.microsoft.com/office/powerpoint/2010/main" val="3959362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t>REFERENCES</a:t>
            </a:r>
            <a:br>
              <a:rPr lang="en-US"/>
            </a:br>
            <a:endParaRPr lang="en-US">
              <a:solidFill>
                <a:srgbClr val="626262"/>
              </a:solidFill>
              <a:cs typeface="Arial"/>
            </a:endParaRPr>
          </a:p>
        </p:txBody>
      </p:sp>
      <p:sp>
        <p:nvSpPr>
          <p:cNvPr id="31747" name="Rectangle 3"/>
          <p:cNvSpPr>
            <a:spLocks noGrp="1" noChangeArrowheads="1"/>
          </p:cNvSpPr>
          <p:nvPr>
            <p:ph idx="1"/>
          </p:nvPr>
        </p:nvSpPr>
        <p:spPr>
          <a:xfrm>
            <a:off x="334434" y="1391557"/>
            <a:ext cx="11425767" cy="4382407"/>
          </a:xfrm>
        </p:spPr>
        <p:txBody>
          <a:bodyPr/>
          <a:lstStyle/>
          <a:p>
            <a:pPr marL="0" indent="0">
              <a:lnSpc>
                <a:spcPct val="100000"/>
              </a:lnSpc>
              <a:spcBef>
                <a:spcPct val="0"/>
              </a:spcBef>
              <a:spcAft>
                <a:spcPts val="1000"/>
              </a:spcAft>
              <a:buNone/>
            </a:pPr>
            <a:endParaRPr lang="en-US" sz="2000">
              <a:solidFill>
                <a:srgbClr val="191919"/>
              </a:solidFill>
              <a:ea typeface="+mn-lt"/>
              <a:cs typeface="+mn-lt"/>
            </a:endParaRPr>
          </a:p>
          <a:p>
            <a:pPr>
              <a:lnSpc>
                <a:spcPct val="100000"/>
              </a:lnSpc>
              <a:spcBef>
                <a:spcPct val="0"/>
              </a:spcBef>
              <a:spcAft>
                <a:spcPts val="1000"/>
              </a:spcAft>
            </a:pPr>
            <a:r>
              <a:rPr lang="en-US" sz="2000">
                <a:solidFill>
                  <a:srgbClr val="191919"/>
                </a:solidFill>
                <a:ea typeface="+mn-lt"/>
                <a:cs typeface="+mn-lt"/>
              </a:rPr>
              <a:t>Yaron Lipman, Ricky TQ Chen, Heli Ben-Hamu, Maximilian Nickel, and Matthew Le, “Flow matching for generative modeling,” in International Conference on Learning Representations (ICLR), 2023. </a:t>
            </a:r>
          </a:p>
          <a:p>
            <a:pPr>
              <a:lnSpc>
                <a:spcPct val="100000"/>
              </a:lnSpc>
              <a:spcBef>
                <a:spcPct val="0"/>
              </a:spcBef>
              <a:spcAft>
                <a:spcPts val="1000"/>
              </a:spcAft>
            </a:pPr>
            <a:r>
              <a:rPr lang="en-US" sz="2000">
                <a:solidFill>
                  <a:srgbClr val="191919"/>
                </a:solidFill>
                <a:ea typeface="+mn-lt"/>
                <a:cs typeface="+mn-lt"/>
              </a:rPr>
              <a:t>Sagnik Majumder, Changan Chen, Ziad Al-Halah, and Kristen Grauman, “Few-shot audio-visual learning of environment acoustics,” in Advances in Neural Information Processing Systems (</a:t>
            </a:r>
            <a:r>
              <a:rPr lang="en-US" sz="2000" err="1">
                <a:solidFill>
                  <a:srgbClr val="191919"/>
                </a:solidFill>
                <a:ea typeface="+mn-lt"/>
                <a:cs typeface="+mn-lt"/>
              </a:rPr>
              <a:t>NeurIPS</a:t>
            </a:r>
            <a:r>
              <a:rPr lang="en-US" sz="2000">
                <a:solidFill>
                  <a:srgbClr val="191919"/>
                </a:solidFill>
                <a:ea typeface="+mn-lt"/>
                <a:cs typeface="+mn-lt"/>
              </a:rPr>
              <a:t>), 2022. </a:t>
            </a:r>
          </a:p>
          <a:p>
            <a:pPr>
              <a:lnSpc>
                <a:spcPct val="100000"/>
              </a:lnSpc>
              <a:spcBef>
                <a:spcPct val="0"/>
              </a:spcBef>
              <a:spcAft>
                <a:spcPts val="1000"/>
              </a:spcAft>
            </a:pPr>
            <a:r>
              <a:rPr lang="en-US" sz="2000">
                <a:solidFill>
                  <a:srgbClr val="191919"/>
                </a:solidFill>
                <a:ea typeface="+mn-lt"/>
                <a:cs typeface="+mn-lt"/>
              </a:rPr>
              <a:t>Xiulong Liu, Anurag Kumar, et al., “Hearing anywhere in any environment,” in IEEE/CVF Conference on Computer Vision and Pattern Recognition (CVPR), 2025</a:t>
            </a:r>
          </a:p>
          <a:p>
            <a:pPr>
              <a:lnSpc>
                <a:spcPct val="100000"/>
              </a:lnSpc>
              <a:spcBef>
                <a:spcPct val="0"/>
              </a:spcBef>
              <a:spcAft>
                <a:spcPts val="1000"/>
              </a:spcAft>
            </a:pPr>
            <a:r>
              <a:rPr lang="en-US" sz="2000">
                <a:solidFill>
                  <a:srgbClr val="191919"/>
                </a:solidFill>
                <a:ea typeface="+mn-lt"/>
                <a:cs typeface="+mn-lt"/>
              </a:rPr>
              <a:t>Mason Long Wang, Ryosuke Sawata, Samuel Clarke, Ruohan Gao, </a:t>
            </a:r>
            <a:r>
              <a:rPr lang="en-US" sz="2000" err="1">
                <a:solidFill>
                  <a:srgbClr val="191919"/>
                </a:solidFill>
                <a:ea typeface="+mn-lt"/>
                <a:cs typeface="+mn-lt"/>
              </a:rPr>
              <a:t>Shangzhe</a:t>
            </a:r>
            <a:r>
              <a:rPr lang="en-US" sz="2000">
                <a:solidFill>
                  <a:srgbClr val="191919"/>
                </a:solidFill>
                <a:ea typeface="+mn-lt"/>
                <a:cs typeface="+mn-lt"/>
              </a:rPr>
              <a:t> Wu, and Jiajun Wu, “Hearing anything anywhere,” in IEEE/CVF Conference on Computer Vision and Pattern Recognition (CVPR), 2024.</a:t>
            </a:r>
            <a:endParaRPr lang="en-US" sz="2000">
              <a:solidFill>
                <a:srgbClr val="191919"/>
              </a:solidFill>
              <a:cs typeface="Arial"/>
            </a:endParaRPr>
          </a:p>
        </p:txBody>
      </p:sp>
    </p:spTree>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897AA-3F58-3EED-794E-EE9BF500482E}"/>
              </a:ext>
            </a:extLst>
          </p:cNvPr>
          <p:cNvSpPr>
            <a:spLocks noGrp="1"/>
          </p:cNvSpPr>
          <p:nvPr>
            <p:ph type="title"/>
          </p:nvPr>
        </p:nvSpPr>
        <p:spPr/>
        <p:txBody>
          <a:bodyPr/>
          <a:lstStyle/>
          <a:p>
            <a:r>
              <a:rPr lang="en-US">
                <a:cs typeface="Arial"/>
              </a:rPr>
              <a:t>Additional Slides for info in case someone asks</a:t>
            </a:r>
            <a:endParaRPr lang="en-US"/>
          </a:p>
        </p:txBody>
      </p:sp>
      <p:sp>
        <p:nvSpPr>
          <p:cNvPr id="3" name="Content Placeholder 2">
            <a:extLst>
              <a:ext uri="{FF2B5EF4-FFF2-40B4-BE49-F238E27FC236}">
                <a16:creationId xmlns:a16="http://schemas.microsoft.com/office/drawing/2014/main" id="{FA05031F-CEB2-459B-C0C1-0D4B52568D0E}"/>
              </a:ext>
            </a:extLst>
          </p:cNvPr>
          <p:cNvSpPr>
            <a:spLocks noGrp="1"/>
          </p:cNvSpPr>
          <p:nvPr>
            <p:ph idx="1"/>
          </p:nvPr>
        </p:nvSpPr>
        <p:spPr/>
        <p:txBody>
          <a:bodyPr/>
          <a:lstStyle/>
          <a:p>
            <a:pPr marL="0" indent="0">
              <a:buNone/>
            </a:pPr>
            <a:endParaRPr lang="en-US"/>
          </a:p>
          <a:p>
            <a:r>
              <a:rPr lang="en-US">
                <a:cs typeface="Arial"/>
              </a:rPr>
              <a:t>Dit internal structure</a:t>
            </a:r>
            <a:endParaRPr lang="en-US"/>
          </a:p>
          <a:p>
            <a:r>
              <a:rPr lang="en-US" dirty="0" err="1">
                <a:cs typeface="Arial"/>
              </a:rPr>
              <a:t>AdamW</a:t>
            </a:r>
            <a:r>
              <a:rPr lang="en-US" dirty="0">
                <a:cs typeface="Arial"/>
              </a:rPr>
              <a:t> optimizer</a:t>
            </a:r>
          </a:p>
        </p:txBody>
      </p:sp>
    </p:spTree>
    <p:extLst>
      <p:ext uri="{BB962C8B-B14F-4D97-AF65-F5344CB8AC3E}">
        <p14:creationId xmlns:p14="http://schemas.microsoft.com/office/powerpoint/2010/main" val="3746415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0A9CF-45F8-4C80-295E-CBEA09E53627}"/>
              </a:ext>
            </a:extLst>
          </p:cNvPr>
          <p:cNvSpPr>
            <a:spLocks noGrp="1"/>
          </p:cNvSpPr>
          <p:nvPr>
            <p:ph type="title"/>
          </p:nvPr>
        </p:nvSpPr>
        <p:spPr/>
        <p:txBody>
          <a:bodyPr/>
          <a:lstStyle/>
          <a:p>
            <a:r>
              <a:rPr lang="en-US" err="1">
                <a:cs typeface="Arial"/>
              </a:rPr>
              <a:t>DiT</a:t>
            </a:r>
            <a:r>
              <a:rPr lang="en-US">
                <a:cs typeface="Arial"/>
              </a:rPr>
              <a:t> Internal Structure</a:t>
            </a:r>
            <a:endParaRPr lang="en-US"/>
          </a:p>
        </p:txBody>
      </p:sp>
      <p:sp>
        <p:nvSpPr>
          <p:cNvPr id="5" name="TextBox 4">
            <a:extLst>
              <a:ext uri="{FF2B5EF4-FFF2-40B4-BE49-F238E27FC236}">
                <a16:creationId xmlns:a16="http://schemas.microsoft.com/office/drawing/2014/main" id="{7878B4B3-2768-73B6-E2CF-AE0CCF564CAC}"/>
              </a:ext>
            </a:extLst>
          </p:cNvPr>
          <p:cNvSpPr txBox="1"/>
          <p:nvPr/>
        </p:nvSpPr>
        <p:spPr>
          <a:xfrm>
            <a:off x="98410" y="1711236"/>
            <a:ext cx="516331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cs typeface="Arial"/>
              </a:rPr>
              <a:t>Self-attention for </a:t>
            </a:r>
            <a:r>
              <a:rPr lang="en-US" dirty="0" err="1">
                <a:latin typeface="Arial"/>
                <a:cs typeface="Arial"/>
              </a:rPr>
              <a:t>Latents</a:t>
            </a:r>
            <a:endParaRPr lang="en-US" dirty="0" err="1">
              <a:cs typeface="Arial" charset="0"/>
            </a:endParaRPr>
          </a:p>
          <a:p>
            <a:r>
              <a:rPr lang="en-US">
                <a:latin typeface="Arial"/>
                <a:cs typeface="Arial"/>
              </a:rPr>
              <a:t>Cross-attention for multimodal conditioning</a:t>
            </a:r>
          </a:p>
          <a:p>
            <a:endParaRPr lang="en-US" dirty="0">
              <a:latin typeface="Arial"/>
              <a:cs typeface="Arial"/>
            </a:endParaRPr>
          </a:p>
          <a:p>
            <a:endParaRPr lang="en-US" dirty="0">
              <a:latin typeface="Arial"/>
              <a:cs typeface="Arial"/>
            </a:endParaRPr>
          </a:p>
          <a:p>
            <a:r>
              <a:rPr lang="en-US" dirty="0" err="1">
                <a:latin typeface="Arial"/>
                <a:cs typeface="Arial"/>
              </a:rPr>
              <a:t>AdaLN</a:t>
            </a:r>
            <a:r>
              <a:rPr lang="en-US" dirty="0">
                <a:latin typeface="Arial"/>
                <a:cs typeface="Arial"/>
              </a:rPr>
              <a:t> normalization as they shift and scale according to the conditioning information</a:t>
            </a:r>
          </a:p>
          <a:p>
            <a:r>
              <a:rPr lang="en-US" dirty="0" err="1">
                <a:latin typeface="Arial"/>
                <a:cs typeface="Arial"/>
              </a:rPr>
              <a:t>AdaLN</a:t>
            </a:r>
            <a:r>
              <a:rPr lang="en-US" dirty="0">
                <a:latin typeface="Arial"/>
                <a:cs typeface="Arial"/>
              </a:rPr>
              <a:t> makes the Transformer </a:t>
            </a:r>
            <a:r>
              <a:rPr lang="en-US" b="1" dirty="0">
                <a:latin typeface="Arial"/>
                <a:cs typeface="Arial"/>
              </a:rPr>
              <a:t>adaptive</a:t>
            </a:r>
            <a:r>
              <a:rPr lang="en-US" dirty="0">
                <a:latin typeface="Arial"/>
                <a:cs typeface="Arial"/>
              </a:rPr>
              <a:t> rather than static.</a:t>
            </a:r>
            <a:endParaRPr lang="en-US" dirty="0"/>
          </a:p>
          <a:p>
            <a:endParaRPr lang="en-US" dirty="0">
              <a:latin typeface="Arial"/>
              <a:cs typeface="Arial"/>
            </a:endParaRPr>
          </a:p>
          <a:p>
            <a:endParaRPr lang="en-US" dirty="0">
              <a:latin typeface="Arial"/>
              <a:cs typeface="Arial"/>
            </a:endParaRPr>
          </a:p>
          <a:p>
            <a:r>
              <a:rPr lang="en-US" dirty="0" err="1">
                <a:latin typeface="Arial"/>
                <a:cs typeface="Arial"/>
              </a:rPr>
              <a:t>ADAMw</a:t>
            </a:r>
            <a:r>
              <a:rPr lang="en-US" dirty="0">
                <a:latin typeface="Arial"/>
                <a:cs typeface="Arial"/>
              </a:rPr>
              <a:t> optimizer has adaptive learning rates to reduce loss.</a:t>
            </a:r>
            <a:endParaRPr lang="en-US" dirty="0">
              <a:cs typeface="Arial"/>
            </a:endParaRPr>
          </a:p>
          <a:p>
            <a:r>
              <a:rPr lang="en-US">
                <a:latin typeface="Arial"/>
                <a:cs typeface="Arial"/>
              </a:rPr>
              <a:t>Has two steps:</a:t>
            </a:r>
          </a:p>
          <a:p>
            <a:r>
              <a:rPr lang="en-US">
                <a:cs typeface="Arial"/>
              </a:rPr>
              <a:t>Gradient update +weight decay</a:t>
            </a:r>
          </a:p>
          <a:p>
            <a:endParaRPr lang="en-US" dirty="0">
              <a:cs typeface="Arial"/>
            </a:endParaRPr>
          </a:p>
          <a:p>
            <a:endParaRPr lang="en-US" dirty="0">
              <a:latin typeface="Arial"/>
              <a:cs typeface="Arial"/>
            </a:endParaRPr>
          </a:p>
        </p:txBody>
      </p:sp>
      <p:pic>
        <p:nvPicPr>
          <p:cNvPr id="8" name="Content Placeholder 7" descr="A diagram of a computer&#10;&#10;AI-generated content may be incorrect.">
            <a:extLst>
              <a:ext uri="{FF2B5EF4-FFF2-40B4-BE49-F238E27FC236}">
                <a16:creationId xmlns:a16="http://schemas.microsoft.com/office/drawing/2014/main" id="{9A4C6EC9-0903-E101-8611-406A0D759680}"/>
              </a:ext>
            </a:extLst>
          </p:cNvPr>
          <p:cNvPicPr>
            <a:picLocks noGrp="1" noChangeAspect="1"/>
          </p:cNvPicPr>
          <p:nvPr>
            <p:ph idx="1"/>
          </p:nvPr>
        </p:nvPicPr>
        <p:blipFill>
          <a:blip r:embed="rId2"/>
          <a:stretch>
            <a:fillRect/>
          </a:stretch>
        </p:blipFill>
        <p:spPr bwMode="auto">
          <a:xfrm>
            <a:off x="5703004" y="233590"/>
            <a:ext cx="5862971" cy="5682342"/>
          </a:xfrm>
          <a:prstGeom prst="rect">
            <a:avLst/>
          </a:prstGeom>
          <a:noFill/>
          <a:ln w="9525">
            <a:noFill/>
            <a:miter lim="800000"/>
            <a:headEnd/>
            <a:tailEnd/>
          </a:ln>
        </p:spPr>
      </p:pic>
    </p:spTree>
    <p:extLst>
      <p:ext uri="{BB962C8B-B14F-4D97-AF65-F5344CB8AC3E}">
        <p14:creationId xmlns:p14="http://schemas.microsoft.com/office/powerpoint/2010/main" val="2758186471"/>
      </p:ext>
    </p:extLst>
  </p:cSld>
  <p:clrMapOvr>
    <a:masterClrMapping/>
  </p:clrMapOvr>
</p:sld>
</file>

<file path=ppt/theme/theme1.xml><?xml version="1.0" encoding="utf-8"?>
<a:theme xmlns:a="http://schemas.openxmlformats.org/drawingml/2006/main" name="Title_Master">
  <a:themeElements>
    <a:clrScheme name="ALabs">
      <a:dk1>
        <a:srgbClr val="000000"/>
      </a:dk1>
      <a:lt1>
        <a:srgbClr val="FFFFFF"/>
      </a:lt1>
      <a:dk2>
        <a:srgbClr val="707070"/>
      </a:dk2>
      <a:lt2>
        <a:srgbClr val="FFFFFF"/>
      </a:lt2>
      <a:accent1>
        <a:srgbClr val="ED8C01"/>
      </a:accent1>
      <a:accent2>
        <a:srgbClr val="D255FF"/>
      </a:accent2>
      <a:accent3>
        <a:srgbClr val="2BAE5B"/>
      </a:accent3>
      <a:accent4>
        <a:srgbClr val="0097A4"/>
      </a:accent4>
      <a:accent5>
        <a:srgbClr val="6FD900"/>
      </a:accent5>
      <a:accent6>
        <a:srgbClr val="179C7D"/>
      </a:accent6>
      <a:hlink>
        <a:srgbClr val="ED8C01"/>
      </a:hlink>
      <a:folHlink>
        <a:srgbClr val="ED8C01"/>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tandarddesign">
  <a:themeElements>
    <a:clrScheme name="ALabs">
      <a:dk1>
        <a:srgbClr val="000000"/>
      </a:dk1>
      <a:lt1>
        <a:srgbClr val="FFFFFF"/>
      </a:lt1>
      <a:dk2>
        <a:srgbClr val="707070"/>
      </a:dk2>
      <a:lt2>
        <a:srgbClr val="FFFFFF"/>
      </a:lt2>
      <a:accent1>
        <a:srgbClr val="ED8C01"/>
      </a:accent1>
      <a:accent2>
        <a:srgbClr val="D255FF"/>
      </a:accent2>
      <a:accent3>
        <a:srgbClr val="2BAE5B"/>
      </a:accent3>
      <a:accent4>
        <a:srgbClr val="0097A4"/>
      </a:accent4>
      <a:accent5>
        <a:srgbClr val="6FD900"/>
      </a:accent5>
      <a:accent6>
        <a:srgbClr val="179C7D"/>
      </a:accent6>
      <a:hlink>
        <a:srgbClr val="ED8C01"/>
      </a:hlink>
      <a:folHlink>
        <a:srgbClr val="ED8C01"/>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20</Slides>
  <Notes>3</Notes>
  <HiddenSlides>0</HiddenSlides>
  <ScaleCrop>false</ScaleCrop>
  <HeadingPairs>
    <vt:vector size="4" baseType="variant">
      <vt:variant>
        <vt:lpstr>Theme</vt:lpstr>
      </vt:variant>
      <vt:variant>
        <vt:i4>2</vt:i4>
      </vt:variant>
      <vt:variant>
        <vt:lpstr>Slide Titles</vt:lpstr>
      </vt:variant>
      <vt:variant>
        <vt:i4>20</vt:i4>
      </vt:variant>
    </vt:vector>
  </HeadingPairs>
  <TitlesOfParts>
    <vt:vector size="22" baseType="lpstr">
      <vt:lpstr>Title_Master</vt:lpstr>
      <vt:lpstr>Standarddesign</vt:lpstr>
      <vt:lpstr>Few-Shot Acoustic Synthesis with Multimodal Flow Matching (FLAC)</vt:lpstr>
      <vt:lpstr>CONTENTS</vt:lpstr>
      <vt:lpstr>ROOM IMPULSE RESPONSE</vt:lpstr>
      <vt:lpstr>MOTIVATION</vt:lpstr>
      <vt:lpstr>FLAC PIPELINE</vt:lpstr>
      <vt:lpstr>VARIATIONAL AUTOENCODER (VAE)</vt:lpstr>
      <vt:lpstr>More detailed picture  (VAE)</vt:lpstr>
      <vt:lpstr>DIFFUSION TRANSFORMER</vt:lpstr>
      <vt:lpstr>FLOW MATCHING</vt:lpstr>
      <vt:lpstr>FLOW MATCHING</vt:lpstr>
      <vt:lpstr>INFERENCE PIPELINE</vt:lpstr>
      <vt:lpstr>AGREE</vt:lpstr>
      <vt:lpstr>RESULTS</vt:lpstr>
      <vt:lpstr>EVALUATION PIPELINE</vt:lpstr>
      <vt:lpstr>HAA Datasets</vt:lpstr>
      <vt:lpstr>AcousticRoom Dataset</vt:lpstr>
      <vt:lpstr>Results Comparison</vt:lpstr>
      <vt:lpstr>REFERENCES </vt:lpstr>
      <vt:lpstr>Additional Slides for info in case someone asks</vt:lpstr>
      <vt:lpstr>DiT Internal Structure</vt:lpstr>
    </vt:vector>
  </TitlesOfParts>
  <Company>Fraunhofer IIS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tro</dc:creator>
  <cp:revision>34</cp:revision>
  <cp:lastPrinted>2014-01-16T14:37:49Z</cp:lastPrinted>
  <dcterms:created xsi:type="dcterms:W3CDTF">2013-07-10T07:58:44Z</dcterms:created>
  <dcterms:modified xsi:type="dcterms:W3CDTF">2026-07-08T10:18:33Z</dcterms:modified>
</cp:coreProperties>
</file>